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 id="{cb3f2adf-e1b4-edea-f2ad-7a4473098a89}">
          <p14:sldIdLst>
            <p14:sldId id="256"/>
          </p14:sldIdLst>
        </p14:section>
        <p14:section name="Problem" id="{23a240cd-898b-16d8-bb22-d974353f0479}">
          <p14:sldIdLst>
            <p14:sldId id="257"/>
          </p14:sldIdLst>
        </p14:section>
        <p14:section name="Customers" id="{2cd4077c-fc7b-719c-d787-9f60d0b081bc}">
          <p14:sldIdLst>
            <p14:sldId id="258"/>
          </p14:sldIdLst>
        </p14:section>
        <p14:section name="Market" id="{3b3c79dd-4fae-960a-528e-f8a660805129}">
          <p14:sldIdLst>
            <p14:sldId id="259"/>
          </p14:sldIdLst>
        </p14:section>
        <p14:section name="Model" id="{c13a0096-786d-24fc-1f01-4c51a23d4b0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SAY FIRST: 'A fresh, baked protein snack made from real food (egg, quark and oats) for athletes who train hard and can't always cook. Baked to order and delivered to squads.' I'm Ewan: Durham Business Management graduate; I train MMA, play football and lift. It came from my own training. After two MMA classes back to back I'd eat a full meal and still be after more. Going from MMA straight to football, I'm in a rush and need something quick but proper. On a same-day weigh-in I'm depleted after making weight and have a short window to refuel before I compete. Every time, the choice is a lab-made protein bar full of powders and sweeteners, or nothing. So I made this: about 15 g protein per 50 g from egg, quark and oats, no powders or sweeteners. The format (soft-baked bar, bites or slice) is decided by taste test.  (Note for weigh-in days: fibre before competing can upset the gut, so a lower-fibre version may suit that use. Worth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isn't just me. A survey of Canadian university athletes found 80% say their schedule limits their ability to cook. A review of 21 studies found team-sport athletes hit their protein but fall short on carbs, which is exactly what you need to refuel. Given the choice, athletes prefer whole-food products (405 athletes), and they rate everyday food as tastier, cheaper and safer. Sports foods only win on convenience. So athletes are stuck between real food they can't always make and convenient bars built on powders, sweeteners and sugar alcohols, or 'natural' bars full of sugar. Sources: Morassutti 2024 (York University); Jenner 2019; Carey 2023; Forsyth &amp; Mantzioris 2023; NDNS fibre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I've spoken to 10 athletes and gym-goers, including a pro footballer, a rugby player and an aspiring bodybuilder, plus the Team Durham S&amp;C coach and a nutrition professor. I've got more interviews lined up [say who]. 7 of 10 liked the idea. They want high protein and real food. The problems with what's out there: price, taste, and ingredients they don't trust. The S&amp;C coach watched students fail to finish boxes of Grenade bars. Why it's a migraine: after training they need protein and carbs. Chicken-and-rice meal prep works when they manage it, but it means cooking ahead and carrying a tub. The quick options fall short: fruit has no protein, lab bars are full of powders and sweeteners, 'natural' bars are mostly sugar. So they compromise or go without, after almost every session, which for someone training 5-6 days a week is 5-6 times a week. My persona is Jack: trains once a day, plays a sport, is trying to eat well and trusts his coach. My early adopters are the sharpest slice of Jack: coached athletes, starting with Team Durham squads and my MMA club. Why them: they train hardest, their coach tells them to eat whole food, and one coach means about 25 athletes and one delivery, which suits a fresh bar. Honestly: nobody has committed yet; that's what the squad trial is for. Interview notes are paraphrased, not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I scored 25 UK protein snacks on four tests: at least 10 g protein, protein from real food rather than powders, no sweeteners, and low sugar. 20 have the protein, 11 are low in sugar, only 4 use real-food protein, and none pass all four. The high-protein, low-sugar bars all use powders, mostly with sweeteners. The real-food bars carry 13 to 20 g of sugar. Why? Shops need months of shelf life, and real food lasts days. We design around that: bake to order, sell direct to squads. Our numbers are calculated, not yet lab-tested. OLD NOTES (competitor detail): These are the bars athletes see: Myprotein's Re-Fuel, Amacx, HIGH5, Styrkr, Huel. The ones with 20 g protein get it from protein powder, and most rely on syrups or sugar alcohols. Re-Fuel's first ingredient is maltitol. The 'real food' bars like Veloforte have lots of sugar and only 12 g protein. Across 32+ UK bars I checked, none gets its protein from real food with low sugar. Ours does: two 50 g bars give about 29 g protein and 28 g carbs from egg, quark and oats, with a little honey or banana and no sweeteners. Our numbers are calculated from the ingredients and will be lab-checked.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I'm testing three formats with the same ingredients: a soft-baked bar, bites and a slice; the taste test decides. About 15 g protein per 50 g, calculated. Because it's real food, it's fresh and chilled, not shelf-stable, so I'm using the Simmer Eats model. Simmer cooks fresh meals that last up to 5 days in the fridge and can be frozen on arrival. People order weekly (and squads order through their coach), I bake to order, deliver chilled around Durham to start, and they eat it within 3 days or freeze it. 'Baked this week, not 12 months ago.' Next: my gym poster and a landing page go live on Monday. Both send people to a short survey and a waitlist, so I can count real sign-ups. Then a blind taste test against Barebells, aiming for 7 out of 9, then a free squad trial. What I need: kitchen access and coach introductions. SAY LAST: 'A fresh, baked protein snack made from real food (egg, quark and oats) for athletes who train hard and can't always cook. Baked to order and delivered to squads.'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11887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Durham Venture School · Ewan Hetherington</a:t>
            </a:r>
            <a:endParaRPr lang="en-US" sz="10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Durham Venture School · Ewan Hetherington</a:t>
            </a:r>
            <a:endParaRPr lang="en-US" sz="10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1188720"/>
          </a:xfrm>
          <a:prstGeom prst="rect">
            <a:avLst/>
          </a:prstGeom>
          <a:noFill/>
          <a:ln/>
        </p:spPr>
        <p:txBody>
          <a:bodyPr wrap="square" lIns="0" tIns="0" rIns="0" bIns="0" rtlCol="0" anchor="t"/>
          <a:lstStyle/>
          <a:p>
            <a:pPr algn="l" indent="0" marL="0">
              <a:buNone/>
            </a:pPr>
            <a:r>
              <a:rPr lang="en-US" sz="3600" b="1" dirty="0">
                <a:solidFill>
                  <a:schemeClr val="bg1"/>
                </a:solidFill>
              </a:rPr>
              <a:t>A </a:t>
            </a:r>
            <a:pPr algn="l" indent="0" marL="0">
              <a:buNone/>
            </a:pPr>
            <a:r>
              <a:rPr lang="en-US" sz="3600" b="1" dirty="0">
                <a:solidFill>
                  <a:schemeClr val="accent1"/>
                </a:solidFill>
              </a:rPr>
              <a:t>real-food</a:t>
            </a:r>
            <a:pPr algn="l" indent="0" marL="0">
              <a:buNone/>
            </a:pPr>
            <a:r>
              <a:rPr lang="en-US" sz="3600" b="1" dirty="0">
                <a:solidFill>
                  <a:schemeClr val="bg1"/>
                </a:solidFill>
              </a:rPr>
              <a:t> protein snack for people who train hard</a:t>
            </a:r>
            <a:endParaRPr lang="en-US" sz="3600" dirty="0"/>
          </a:p>
        </p:txBody>
      </p:sp>
      <p:sp>
        <p:nvSpPr>
          <p:cNvPr id="3" name="Subtitle"/>
          <p:cNvSpPr txBox="1"/>
          <p:nvPr/>
        </p:nvSpPr>
        <p:spPr>
          <a:xfrm>
            <a:off x="548640" y="1572768"/>
            <a:ext cx="11064240" cy="777240"/>
          </a:xfrm>
          <a:prstGeom prst="rect">
            <a:avLst/>
          </a:prstGeom>
          <a:noFill/>
          <a:ln/>
        </p:spPr>
        <p:txBody>
          <a:bodyPr wrap="square" lIns="0" tIns="0" rIns="0" bIns="0" rtlCol="0" anchor="ctr"/>
          <a:lstStyle/>
          <a:p>
            <a:pPr indent="0" marL="0">
              <a:buNone/>
            </a:pPr>
            <a:r>
              <a:rPr lang="en-US" sz="1700" dirty="0">
                <a:solidFill>
                  <a:schemeClr val="bg1"/>
                </a:solidFill>
              </a:rPr>
              <a:t>A fresh, baked protein snack made from real food (egg, quark and oats) for athletes who train hard and can't always cook. Baked to order and delivered to squads.</a:t>
            </a:r>
            <a:endParaRPr lang="en-US" sz="1700" dirty="0"/>
          </a:p>
        </p:txBody>
      </p:sp>
      <p:sp>
        <p:nvSpPr>
          <p:cNvPr id="4" name="Story heading"/>
          <p:cNvSpPr txBox="1"/>
          <p:nvPr/>
        </p:nvSpPr>
        <p:spPr>
          <a:xfrm>
            <a:off x="548640" y="2423160"/>
            <a:ext cx="11064240" cy="365760"/>
          </a:xfrm>
          <a:prstGeom prst="rect">
            <a:avLst/>
          </a:prstGeom>
          <a:noFill/>
          <a:ln/>
        </p:spPr>
        <p:txBody>
          <a:bodyPr wrap="square" lIns="0" tIns="0" rIns="0" bIns="0" rtlCol="0" anchor="ctr"/>
          <a:lstStyle/>
          <a:p>
            <a:pPr indent="0" marL="0">
              <a:buNone/>
            </a:pPr>
            <a:r>
              <a:rPr lang="en-US" sz="1600" b="1" dirty="0">
                <a:solidFill>
                  <a:schemeClr val="accent1"/>
                </a:solidFill>
              </a:rPr>
              <a:t>Where it came from: my own training</a:t>
            </a:r>
            <a:endParaRPr lang="en-US" sz="1600" dirty="0"/>
          </a:p>
        </p:txBody>
      </p:sp>
      <p:sp>
        <p:nvSpPr>
          <p:cNvPr id="5" name="Moment 1 card"/>
          <p:cNvSpPr/>
          <p:nvPr/>
        </p:nvSpPr>
        <p:spPr>
          <a:xfrm>
            <a:off x="548640" y="2926080"/>
            <a:ext cx="3474720" cy="2651760"/>
          </a:xfrm>
          <a:prstGeom prst="roundRect">
            <a:avLst>
              <a:gd name="adj" fmla="val 4138"/>
            </a:avLst>
          </a:prstGeom>
          <a:solidFill>
            <a:schemeClr val="tx2"/>
          </a:solidFill>
          <a:ln/>
        </p:spPr>
      </p:sp>
      <p:sp>
        <p:nvSpPr>
          <p:cNvPr id="6" name="Moment 1 circle"/>
          <p:cNvSpPr/>
          <p:nvPr/>
        </p:nvSpPr>
        <p:spPr>
          <a:xfrm>
            <a:off x="822960" y="3154680"/>
            <a:ext cx="685800" cy="685800"/>
          </a:xfrm>
          <a:prstGeom prst="ellipse">
            <a:avLst/>
          </a:prstGeom>
          <a:solidFill>
            <a:schemeClr val="accent1"/>
          </a:solidFill>
          <a:ln/>
        </p:spPr>
      </p:sp>
      <p:pic>
        <p:nvPicPr>
          <p:cNvPr id="7" name="Moment 1 icon" descr="Moment 1">    </p:cNvPr>
          <p:cNvPicPr>
            <a:picLocks noChangeAspect="1"/>
          </p:cNvPicPr>
          <p:nvPr/>
        </p:nvPicPr>
        <p:blipFill>
          <a:blip r:embed="rId1"/>
          <a:stretch>
            <a:fillRect/>
          </a:stretch>
        </p:blipFill>
        <p:spPr>
          <a:xfrm>
            <a:off x="994410" y="3326130"/>
            <a:ext cx="342900" cy="342900"/>
          </a:xfrm>
          <a:prstGeom prst="rect">
            <a:avLst/>
          </a:prstGeom>
        </p:spPr>
      </p:pic>
      <p:sp>
        <p:nvSpPr>
          <p:cNvPr id="8" name="Moment 1 title"/>
          <p:cNvSpPr txBox="1"/>
          <p:nvPr/>
        </p:nvSpPr>
        <p:spPr>
          <a:xfrm>
            <a:off x="822960" y="3977640"/>
            <a:ext cx="2926080" cy="548640"/>
          </a:xfrm>
          <a:prstGeom prst="rect">
            <a:avLst/>
          </a:prstGeom>
          <a:noFill/>
          <a:ln/>
        </p:spPr>
        <p:txBody>
          <a:bodyPr wrap="square" lIns="0" tIns="0" rIns="0" bIns="0" rtlCol="0" anchor="t"/>
          <a:lstStyle/>
          <a:p>
            <a:pPr indent="0" marL="0">
              <a:buNone/>
            </a:pPr>
            <a:r>
              <a:rPr lang="en-US" sz="1700" b="1" dirty="0">
                <a:solidFill>
                  <a:schemeClr val="bg1"/>
                </a:solidFill>
              </a:rPr>
              <a:t>Two MMA classes back to back</a:t>
            </a:r>
            <a:endParaRPr lang="en-US" sz="1700" dirty="0"/>
          </a:p>
        </p:txBody>
      </p:sp>
      <p:sp>
        <p:nvSpPr>
          <p:cNvPr id="9" name="Moment 1 text"/>
          <p:cNvSpPr txBox="1"/>
          <p:nvPr/>
        </p:nvSpPr>
        <p:spPr>
          <a:xfrm>
            <a:off x="822960" y="4526280"/>
            <a:ext cx="2926080" cy="960120"/>
          </a:xfrm>
          <a:prstGeom prst="rect">
            <a:avLst/>
          </a:prstGeom>
          <a:noFill/>
          <a:ln/>
        </p:spPr>
        <p:txBody>
          <a:bodyPr wrap="square" lIns="0" tIns="0" rIns="0" bIns="0" rtlCol="0" anchor="t"/>
          <a:lstStyle/>
          <a:p>
            <a:pPr indent="0" marL="0">
              <a:buNone/>
            </a:pPr>
            <a:r>
              <a:rPr lang="en-US" sz="1400" dirty="0">
                <a:solidFill>
                  <a:schemeClr val="bg1"/>
                </a:solidFill>
              </a:rPr>
              <a:t>Ate a full meal afterwards and was still after more. A meal alone wasn't enough to refuel.</a:t>
            </a:r>
            <a:endParaRPr lang="en-US" sz="1400" dirty="0"/>
          </a:p>
        </p:txBody>
      </p:sp>
      <p:sp>
        <p:nvSpPr>
          <p:cNvPr id="10" name="Moment 2 card"/>
          <p:cNvSpPr/>
          <p:nvPr/>
        </p:nvSpPr>
        <p:spPr>
          <a:xfrm>
            <a:off x="4297680" y="2926080"/>
            <a:ext cx="3474720" cy="2651760"/>
          </a:xfrm>
          <a:prstGeom prst="roundRect">
            <a:avLst>
              <a:gd name="adj" fmla="val 4138"/>
            </a:avLst>
          </a:prstGeom>
          <a:solidFill>
            <a:schemeClr val="tx2"/>
          </a:solidFill>
          <a:ln/>
        </p:spPr>
      </p:sp>
      <p:sp>
        <p:nvSpPr>
          <p:cNvPr id="11" name="Moment 2 circle"/>
          <p:cNvSpPr/>
          <p:nvPr/>
        </p:nvSpPr>
        <p:spPr>
          <a:xfrm>
            <a:off x="4572000" y="3154680"/>
            <a:ext cx="685800" cy="685800"/>
          </a:xfrm>
          <a:prstGeom prst="ellipse">
            <a:avLst/>
          </a:prstGeom>
          <a:solidFill>
            <a:schemeClr val="accent1"/>
          </a:solidFill>
          <a:ln/>
        </p:spPr>
      </p:sp>
      <p:pic>
        <p:nvPicPr>
          <p:cNvPr id="12" name="Moment 2 icon" descr="Moment 2">    </p:cNvPr>
          <p:cNvPicPr>
            <a:picLocks noChangeAspect="1"/>
          </p:cNvPicPr>
          <p:nvPr/>
        </p:nvPicPr>
        <p:blipFill>
          <a:blip r:embed="rId2"/>
          <a:stretch>
            <a:fillRect/>
          </a:stretch>
        </p:blipFill>
        <p:spPr>
          <a:xfrm>
            <a:off x="4743450" y="3326130"/>
            <a:ext cx="342900" cy="342900"/>
          </a:xfrm>
          <a:prstGeom prst="rect">
            <a:avLst/>
          </a:prstGeom>
        </p:spPr>
      </p:pic>
      <p:sp>
        <p:nvSpPr>
          <p:cNvPr id="13" name="Moment 2 title"/>
          <p:cNvSpPr txBox="1"/>
          <p:nvPr/>
        </p:nvSpPr>
        <p:spPr>
          <a:xfrm>
            <a:off x="4572000" y="3977640"/>
            <a:ext cx="2926080" cy="548640"/>
          </a:xfrm>
          <a:prstGeom prst="rect">
            <a:avLst/>
          </a:prstGeom>
          <a:noFill/>
          <a:ln/>
        </p:spPr>
        <p:txBody>
          <a:bodyPr wrap="square" lIns="0" tIns="0" rIns="0" bIns="0" rtlCol="0" anchor="t"/>
          <a:lstStyle/>
          <a:p>
            <a:pPr indent="0" marL="0">
              <a:buNone/>
            </a:pPr>
            <a:r>
              <a:rPr lang="en-US" sz="1700" b="1" dirty="0">
                <a:solidFill>
                  <a:schemeClr val="bg1"/>
                </a:solidFill>
              </a:rPr>
              <a:t>MMA, then straight to football</a:t>
            </a:r>
            <a:endParaRPr lang="en-US" sz="1700" dirty="0"/>
          </a:p>
        </p:txBody>
      </p:sp>
      <p:sp>
        <p:nvSpPr>
          <p:cNvPr id="14" name="Moment 2 text"/>
          <p:cNvSpPr txBox="1"/>
          <p:nvPr/>
        </p:nvSpPr>
        <p:spPr>
          <a:xfrm>
            <a:off x="4572000" y="4526280"/>
            <a:ext cx="2926080" cy="960120"/>
          </a:xfrm>
          <a:prstGeom prst="rect">
            <a:avLst/>
          </a:prstGeom>
          <a:noFill/>
          <a:ln/>
        </p:spPr>
        <p:txBody>
          <a:bodyPr wrap="square" lIns="0" tIns="0" rIns="0" bIns="0" rtlCol="0" anchor="t"/>
          <a:lstStyle/>
          <a:p>
            <a:pPr indent="0" marL="0">
              <a:buNone/>
            </a:pPr>
            <a:r>
              <a:rPr lang="en-US" sz="1400" dirty="0">
                <a:solidFill>
                  <a:schemeClr val="bg1"/>
                </a:solidFill>
              </a:rPr>
              <a:t>In a rush between sessions, with no time to cook and needing something quick and proper.</a:t>
            </a:r>
            <a:endParaRPr lang="en-US" sz="1400" dirty="0"/>
          </a:p>
        </p:txBody>
      </p:sp>
      <p:sp>
        <p:nvSpPr>
          <p:cNvPr id="15" name="Moment 3 card"/>
          <p:cNvSpPr/>
          <p:nvPr/>
        </p:nvSpPr>
        <p:spPr>
          <a:xfrm>
            <a:off x="8046720" y="2926080"/>
            <a:ext cx="3474720" cy="2651760"/>
          </a:xfrm>
          <a:prstGeom prst="roundRect">
            <a:avLst>
              <a:gd name="adj" fmla="val 4138"/>
            </a:avLst>
          </a:prstGeom>
          <a:solidFill>
            <a:schemeClr val="tx2"/>
          </a:solidFill>
          <a:ln/>
        </p:spPr>
      </p:sp>
      <p:sp>
        <p:nvSpPr>
          <p:cNvPr id="16" name="Moment 3 circle"/>
          <p:cNvSpPr/>
          <p:nvPr/>
        </p:nvSpPr>
        <p:spPr>
          <a:xfrm>
            <a:off x="8321040" y="3154680"/>
            <a:ext cx="685800" cy="685800"/>
          </a:xfrm>
          <a:prstGeom prst="ellipse">
            <a:avLst/>
          </a:prstGeom>
          <a:solidFill>
            <a:schemeClr val="accent1"/>
          </a:solidFill>
          <a:ln/>
        </p:spPr>
      </p:sp>
      <p:pic>
        <p:nvPicPr>
          <p:cNvPr id="17" name="Moment 3 icon" descr="Moment 3">    </p:cNvPr>
          <p:cNvPicPr>
            <a:picLocks noChangeAspect="1"/>
          </p:cNvPicPr>
          <p:nvPr/>
        </p:nvPicPr>
        <p:blipFill>
          <a:blip r:embed="rId3"/>
          <a:stretch>
            <a:fillRect/>
          </a:stretch>
        </p:blipFill>
        <p:spPr>
          <a:xfrm>
            <a:off x="8492490" y="3326130"/>
            <a:ext cx="342900" cy="342900"/>
          </a:xfrm>
          <a:prstGeom prst="rect">
            <a:avLst/>
          </a:prstGeom>
        </p:spPr>
      </p:pic>
      <p:sp>
        <p:nvSpPr>
          <p:cNvPr id="18" name="Moment 3 title"/>
          <p:cNvSpPr txBox="1"/>
          <p:nvPr/>
        </p:nvSpPr>
        <p:spPr>
          <a:xfrm>
            <a:off x="8321040" y="3977640"/>
            <a:ext cx="2926080" cy="548640"/>
          </a:xfrm>
          <a:prstGeom prst="rect">
            <a:avLst/>
          </a:prstGeom>
          <a:noFill/>
          <a:ln/>
        </p:spPr>
        <p:txBody>
          <a:bodyPr wrap="square" lIns="0" tIns="0" rIns="0" bIns="0" rtlCol="0" anchor="t"/>
          <a:lstStyle/>
          <a:p>
            <a:pPr indent="0" marL="0">
              <a:buNone/>
            </a:pPr>
            <a:r>
              <a:rPr lang="en-US" sz="1700" b="1" dirty="0">
                <a:solidFill>
                  <a:schemeClr val="bg1"/>
                </a:solidFill>
              </a:rPr>
              <a:t>Same-day weigh-in</a:t>
            </a:r>
            <a:endParaRPr lang="en-US" sz="1700" dirty="0"/>
          </a:p>
        </p:txBody>
      </p:sp>
      <p:sp>
        <p:nvSpPr>
          <p:cNvPr id="19" name="Moment 3 text"/>
          <p:cNvSpPr txBox="1"/>
          <p:nvPr/>
        </p:nvSpPr>
        <p:spPr>
          <a:xfrm>
            <a:off x="8321040" y="4526280"/>
            <a:ext cx="2926080" cy="960120"/>
          </a:xfrm>
          <a:prstGeom prst="rect">
            <a:avLst/>
          </a:prstGeom>
          <a:noFill/>
          <a:ln/>
        </p:spPr>
        <p:txBody>
          <a:bodyPr wrap="square" lIns="0" tIns="0" rIns="0" bIns="0" rtlCol="0" anchor="t"/>
          <a:lstStyle/>
          <a:p>
            <a:pPr indent="0" marL="0">
              <a:buNone/>
            </a:pPr>
            <a:r>
              <a:rPr lang="en-US" sz="1400" dirty="0">
                <a:solidFill>
                  <a:schemeClr val="bg1"/>
                </a:solidFill>
              </a:rPr>
              <a:t>Depleted after making weight, with a short window to refuel before competing.</a:t>
            </a:r>
            <a:endParaRPr lang="en-US" sz="1400" dirty="0"/>
          </a:p>
        </p:txBody>
      </p:sp>
      <p:sp>
        <p:nvSpPr>
          <p:cNvPr id="20" name="Branding note"/>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400" i="1" dirty="0">
                <a:solidFill>
                  <a:schemeClr val="accent3"/>
                </a:solidFill>
              </a:rPr>
              <a:t>Ewan Hetherington · Durham Business Management graduate · MMA, football, gym</a:t>
            </a:r>
            <a:endParaRPr lang="en-US" sz="14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problem: told to eat real food, no time to make it</a:t>
            </a:r>
            <a:endParaRPr lang="en-US" sz="3200" dirty="0"/>
          </a:p>
        </p:txBody>
      </p:sp>
      <p:sp>
        <p:nvSpPr>
          <p:cNvPr id="3" name="Stat 1 card"/>
          <p:cNvSpPr/>
          <p:nvPr/>
        </p:nvSpPr>
        <p:spPr>
          <a:xfrm>
            <a:off x="548640" y="1371600"/>
            <a:ext cx="2606040" cy="2926080"/>
          </a:xfrm>
          <a:prstGeom prst="roundRect">
            <a:avLst>
              <a:gd name="adj" fmla="val 4211"/>
            </a:avLst>
          </a:prstGeom>
          <a:solidFill>
            <a:schemeClr val="bg2"/>
          </a:solidFill>
          <a:ln/>
        </p:spPr>
      </p:sp>
      <p:sp>
        <p:nvSpPr>
          <p:cNvPr id="4" name="Stat 1 number"/>
          <p:cNvSpPr txBox="1"/>
          <p:nvPr/>
        </p:nvSpPr>
        <p:spPr>
          <a:xfrm>
            <a:off x="777240" y="1554480"/>
            <a:ext cx="21945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80%</a:t>
            </a:r>
            <a:endParaRPr lang="en-US" sz="4800" dirty="0"/>
          </a:p>
        </p:txBody>
      </p:sp>
      <p:sp>
        <p:nvSpPr>
          <p:cNvPr id="5" name="Stat 1 text"/>
          <p:cNvSpPr txBox="1"/>
          <p:nvPr/>
        </p:nvSpPr>
        <p:spPr>
          <a:xfrm>
            <a:off x="777240" y="2514600"/>
            <a:ext cx="2194560" cy="1280160"/>
          </a:xfrm>
          <a:prstGeom prst="rect">
            <a:avLst/>
          </a:prstGeom>
          <a:noFill/>
          <a:ln/>
        </p:spPr>
        <p:txBody>
          <a:bodyPr wrap="square" lIns="0" tIns="0" rIns="0" bIns="0" rtlCol="0" anchor="t"/>
          <a:lstStyle/>
          <a:p>
            <a:pPr indent="0" marL="0">
              <a:buNone/>
            </a:pPr>
            <a:r>
              <a:rPr lang="en-US" sz="1400" dirty="0">
                <a:solidFill>
                  <a:schemeClr val="tx1"/>
                </a:solidFill>
              </a:rPr>
              <a:t>of Canadian university athletes say their schedule limits their ability to cook and prepare meals</a:t>
            </a:r>
            <a:endParaRPr lang="en-US" sz="1400" dirty="0"/>
          </a:p>
        </p:txBody>
      </p:sp>
      <p:sp>
        <p:nvSpPr>
          <p:cNvPr id="6" name="Stat 1 source"/>
          <p:cNvSpPr txBox="1"/>
          <p:nvPr/>
        </p:nvSpPr>
        <p:spPr>
          <a:xfrm>
            <a:off x="777240" y="3840480"/>
            <a:ext cx="2194560" cy="320040"/>
          </a:xfrm>
          <a:prstGeom prst="rect">
            <a:avLst/>
          </a:prstGeom>
          <a:noFill/>
          <a:ln/>
        </p:spPr>
        <p:txBody>
          <a:bodyPr wrap="square" lIns="0" tIns="0" rIns="0" bIns="0" rtlCol="0" anchor="ctr"/>
          <a:lstStyle/>
          <a:p>
            <a:pPr indent="0" marL="0">
              <a:buNone/>
            </a:pPr>
            <a:r>
              <a:rPr lang="en-US" sz="1000" i="1" dirty="0">
                <a:solidFill>
                  <a:schemeClr val="accent3"/>
                </a:solidFill>
              </a:rPr>
              <a:t>Morassutti 2024, U Sports survey</a:t>
            </a:r>
            <a:endParaRPr lang="en-US" sz="1000" dirty="0"/>
          </a:p>
        </p:txBody>
      </p:sp>
      <p:sp>
        <p:nvSpPr>
          <p:cNvPr id="7" name="Stat 2 card"/>
          <p:cNvSpPr/>
          <p:nvPr/>
        </p:nvSpPr>
        <p:spPr>
          <a:xfrm>
            <a:off x="3360420" y="1371600"/>
            <a:ext cx="2606040" cy="2926080"/>
          </a:xfrm>
          <a:prstGeom prst="roundRect">
            <a:avLst>
              <a:gd name="adj" fmla="val 4211"/>
            </a:avLst>
          </a:prstGeom>
          <a:solidFill>
            <a:schemeClr val="bg2"/>
          </a:solidFill>
          <a:ln/>
        </p:spPr>
      </p:sp>
      <p:sp>
        <p:nvSpPr>
          <p:cNvPr id="8" name="Stat 2 number"/>
          <p:cNvSpPr txBox="1"/>
          <p:nvPr/>
        </p:nvSpPr>
        <p:spPr>
          <a:xfrm>
            <a:off x="3589020" y="1554480"/>
            <a:ext cx="21945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Carbs</a:t>
            </a:r>
            <a:endParaRPr lang="en-US" sz="4800" dirty="0"/>
          </a:p>
        </p:txBody>
      </p:sp>
      <p:sp>
        <p:nvSpPr>
          <p:cNvPr id="9" name="Stat 2 text"/>
          <p:cNvSpPr txBox="1"/>
          <p:nvPr/>
        </p:nvSpPr>
        <p:spPr>
          <a:xfrm>
            <a:off x="3589020" y="2514600"/>
            <a:ext cx="2194560" cy="1280160"/>
          </a:xfrm>
          <a:prstGeom prst="rect">
            <a:avLst/>
          </a:prstGeom>
          <a:noFill/>
          <a:ln/>
        </p:spPr>
        <p:txBody>
          <a:bodyPr wrap="square" lIns="0" tIns="0" rIns="0" bIns="0" rtlCol="0" anchor="t"/>
          <a:lstStyle/>
          <a:p>
            <a:pPr indent="0" marL="0">
              <a:buNone/>
            </a:pPr>
            <a:r>
              <a:rPr lang="en-US" sz="1400" dirty="0">
                <a:solidFill>
                  <a:schemeClr val="tx1"/>
                </a:solidFill>
              </a:rPr>
              <a:t>are what athletes miss: team-sport athletes meet protein targets but fall short on carbohydrate and energy</a:t>
            </a:r>
            <a:endParaRPr lang="en-US" sz="1400" dirty="0"/>
          </a:p>
        </p:txBody>
      </p:sp>
      <p:sp>
        <p:nvSpPr>
          <p:cNvPr id="10" name="Stat 2 source"/>
          <p:cNvSpPr txBox="1"/>
          <p:nvPr/>
        </p:nvSpPr>
        <p:spPr>
          <a:xfrm>
            <a:off x="3589020" y="3840480"/>
            <a:ext cx="2194560" cy="320040"/>
          </a:xfrm>
          <a:prstGeom prst="rect">
            <a:avLst/>
          </a:prstGeom>
          <a:noFill/>
          <a:ln/>
        </p:spPr>
        <p:txBody>
          <a:bodyPr wrap="square" lIns="0" tIns="0" rIns="0" bIns="0" rtlCol="0" anchor="ctr"/>
          <a:lstStyle/>
          <a:p>
            <a:pPr indent="0" marL="0">
              <a:buNone/>
            </a:pPr>
            <a:r>
              <a:rPr lang="en-US" sz="1000" i="1" dirty="0">
                <a:solidFill>
                  <a:schemeClr val="accent3"/>
                </a:solidFill>
              </a:rPr>
              <a:t>Jenner et al. 2019, 21 studies</a:t>
            </a:r>
            <a:endParaRPr lang="en-US" sz="1000" dirty="0"/>
          </a:p>
        </p:txBody>
      </p:sp>
      <p:sp>
        <p:nvSpPr>
          <p:cNvPr id="11" name="Stat 3 card"/>
          <p:cNvSpPr/>
          <p:nvPr/>
        </p:nvSpPr>
        <p:spPr>
          <a:xfrm>
            <a:off x="6172200" y="1371600"/>
            <a:ext cx="2606040" cy="2926080"/>
          </a:xfrm>
          <a:prstGeom prst="roundRect">
            <a:avLst>
              <a:gd name="adj" fmla="val 4211"/>
            </a:avLst>
          </a:prstGeom>
          <a:solidFill>
            <a:schemeClr val="bg2"/>
          </a:solidFill>
          <a:ln/>
        </p:spPr>
      </p:sp>
      <p:sp>
        <p:nvSpPr>
          <p:cNvPr id="12" name="Stat 3 number"/>
          <p:cNvSpPr txBox="1"/>
          <p:nvPr/>
        </p:nvSpPr>
        <p:spPr>
          <a:xfrm>
            <a:off x="6400800" y="1554480"/>
            <a:ext cx="21945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a:t>
            </a:r>
            <a:endParaRPr lang="en-US" sz="4800" dirty="0"/>
          </a:p>
        </p:txBody>
      </p:sp>
      <p:sp>
        <p:nvSpPr>
          <p:cNvPr id="13" name="Stat 3 text"/>
          <p:cNvSpPr txBox="1"/>
          <p:nvPr/>
        </p:nvSpPr>
        <p:spPr>
          <a:xfrm>
            <a:off x="6400800" y="2514600"/>
            <a:ext cx="2194560" cy="1280160"/>
          </a:xfrm>
          <a:prstGeom prst="rect">
            <a:avLst/>
          </a:prstGeom>
          <a:noFill/>
          <a:ln/>
        </p:spPr>
        <p:txBody>
          <a:bodyPr wrap="square" lIns="0" tIns="0" rIns="0" bIns="0" rtlCol="0" anchor="t"/>
          <a:lstStyle/>
          <a:p>
            <a:pPr indent="0" marL="0">
              <a:buNone/>
            </a:pPr>
            <a:r>
              <a:rPr lang="en-US" sz="1400" dirty="0">
                <a:solidFill>
                  <a:schemeClr val="tx1"/>
                </a:solidFill>
              </a:rPr>
              <a:t>Whole-food products were the most preferred choice among 405 athletes</a:t>
            </a:r>
            <a:endParaRPr lang="en-US" sz="1400" dirty="0"/>
          </a:p>
        </p:txBody>
      </p:sp>
      <p:sp>
        <p:nvSpPr>
          <p:cNvPr id="14" name="Stat 3 source"/>
          <p:cNvSpPr txBox="1"/>
          <p:nvPr/>
        </p:nvSpPr>
        <p:spPr>
          <a:xfrm>
            <a:off x="6400800" y="3840480"/>
            <a:ext cx="2194560" cy="320040"/>
          </a:xfrm>
          <a:prstGeom prst="rect">
            <a:avLst/>
          </a:prstGeom>
          <a:noFill/>
          <a:ln/>
        </p:spPr>
        <p:txBody>
          <a:bodyPr wrap="square" lIns="0" tIns="0" rIns="0" bIns="0" rtlCol="0" anchor="ctr"/>
          <a:lstStyle/>
          <a:p>
            <a:pPr indent="0" marL="0">
              <a:buNone/>
            </a:pPr>
            <a:r>
              <a:rPr lang="en-US" sz="1000" i="1" dirty="0">
                <a:solidFill>
                  <a:schemeClr val="accent3"/>
                </a:solidFill>
              </a:rPr>
              <a:t>Carey et al. 2023</a:t>
            </a:r>
            <a:endParaRPr lang="en-US" sz="1000" dirty="0"/>
          </a:p>
        </p:txBody>
      </p:sp>
      <p:sp>
        <p:nvSpPr>
          <p:cNvPr id="15" name="Stat 4 card"/>
          <p:cNvSpPr/>
          <p:nvPr/>
        </p:nvSpPr>
        <p:spPr>
          <a:xfrm>
            <a:off x="8983980" y="1371600"/>
            <a:ext cx="2606040" cy="2926080"/>
          </a:xfrm>
          <a:prstGeom prst="roundRect">
            <a:avLst>
              <a:gd name="adj" fmla="val 4211"/>
            </a:avLst>
          </a:prstGeom>
          <a:solidFill>
            <a:schemeClr val="bg2"/>
          </a:solidFill>
          <a:ln/>
        </p:spPr>
      </p:sp>
      <p:sp>
        <p:nvSpPr>
          <p:cNvPr id="16" name="Stat 4 number"/>
          <p:cNvSpPr txBox="1"/>
          <p:nvPr/>
        </p:nvSpPr>
        <p:spPr>
          <a:xfrm>
            <a:off x="9212580" y="1554480"/>
            <a:ext cx="21945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Tastier</a:t>
            </a:r>
            <a:endParaRPr lang="en-US" sz="4800" dirty="0"/>
          </a:p>
        </p:txBody>
      </p:sp>
      <p:sp>
        <p:nvSpPr>
          <p:cNvPr id="17" name="Stat 4 text"/>
          <p:cNvSpPr txBox="1"/>
          <p:nvPr/>
        </p:nvSpPr>
        <p:spPr>
          <a:xfrm>
            <a:off x="9212580" y="2514600"/>
            <a:ext cx="2194560" cy="1280160"/>
          </a:xfrm>
          <a:prstGeom prst="rect">
            <a:avLst/>
          </a:prstGeom>
          <a:noFill/>
          <a:ln/>
        </p:spPr>
        <p:txBody>
          <a:bodyPr wrap="square" lIns="0" tIns="0" rIns="0" bIns="0" rtlCol="0" anchor="t"/>
          <a:lstStyle/>
          <a:p>
            <a:pPr indent="0" marL="0">
              <a:buNone/>
            </a:pPr>
            <a:r>
              <a:rPr lang="en-US" sz="1400" dirty="0">
                <a:solidFill>
                  <a:schemeClr val="tx1"/>
                </a:solidFill>
              </a:rPr>
              <a:t>Athletes rate everyday food tastier, cheaper and safer. Sports foods win only on convenience</a:t>
            </a:r>
            <a:endParaRPr lang="en-US" sz="1400" dirty="0"/>
          </a:p>
        </p:txBody>
      </p:sp>
      <p:sp>
        <p:nvSpPr>
          <p:cNvPr id="18" name="Stat 4 source"/>
          <p:cNvSpPr txBox="1"/>
          <p:nvPr/>
        </p:nvSpPr>
        <p:spPr>
          <a:xfrm>
            <a:off x="9212580" y="3840480"/>
            <a:ext cx="2194560" cy="320040"/>
          </a:xfrm>
          <a:prstGeom prst="rect">
            <a:avLst/>
          </a:prstGeom>
          <a:noFill/>
          <a:ln/>
        </p:spPr>
        <p:txBody>
          <a:bodyPr wrap="square" lIns="0" tIns="0" rIns="0" bIns="0" rtlCol="0" anchor="ctr"/>
          <a:lstStyle/>
          <a:p>
            <a:pPr indent="0" marL="0">
              <a:buNone/>
            </a:pPr>
            <a:r>
              <a:rPr lang="en-US" sz="1000" i="1" dirty="0">
                <a:solidFill>
                  <a:schemeClr val="accent3"/>
                </a:solidFill>
              </a:rPr>
              <a:t>Forsyth &amp; Mantzioris 2023</a:t>
            </a:r>
            <a:endParaRPr lang="en-US" sz="1000" dirty="0"/>
          </a:p>
        </p:txBody>
      </p:sp>
      <p:sp>
        <p:nvSpPr>
          <p:cNvPr id="19" name="Gap box"/>
          <p:cNvSpPr/>
          <p:nvPr/>
        </p:nvSpPr>
        <p:spPr>
          <a:xfrm>
            <a:off x="548640" y="4572000"/>
            <a:ext cx="11064240" cy="1143000"/>
          </a:xfrm>
          <a:prstGeom prst="roundRect">
            <a:avLst>
              <a:gd name="adj" fmla="val 9600"/>
            </a:avLst>
          </a:prstGeom>
          <a:solidFill>
            <a:schemeClr val="accent4"/>
          </a:solidFill>
          <a:ln/>
        </p:spPr>
      </p:sp>
      <p:sp>
        <p:nvSpPr>
          <p:cNvPr id="20" name="Gap circle"/>
          <p:cNvSpPr/>
          <p:nvPr/>
        </p:nvSpPr>
        <p:spPr>
          <a:xfrm>
            <a:off x="777240" y="4800600"/>
            <a:ext cx="685800" cy="685800"/>
          </a:xfrm>
          <a:prstGeom prst="ellipse">
            <a:avLst/>
          </a:prstGeom>
          <a:solidFill>
            <a:schemeClr val="accent1"/>
          </a:solidFill>
          <a:ln/>
        </p:spPr>
      </p:sp>
      <p:pic>
        <p:nvPicPr>
          <p:cNvPr id="21" name="Gap icon" descr="Gap">    </p:cNvPr>
          <p:cNvPicPr>
            <a:picLocks noChangeAspect="1"/>
          </p:cNvPicPr>
          <p:nvPr/>
        </p:nvPicPr>
        <p:blipFill>
          <a:blip r:embed="rId1"/>
          <a:stretch>
            <a:fillRect/>
          </a:stretch>
        </p:blipFill>
        <p:spPr>
          <a:xfrm>
            <a:off x="948690" y="4972050"/>
            <a:ext cx="342900" cy="342900"/>
          </a:xfrm>
          <a:prstGeom prst="rect">
            <a:avLst/>
          </a:prstGeom>
        </p:spPr>
      </p:pic>
      <p:sp>
        <p:nvSpPr>
          <p:cNvPr id="22" name="Gap text"/>
          <p:cNvSpPr txBox="1"/>
          <p:nvPr/>
        </p:nvSpPr>
        <p:spPr>
          <a:xfrm>
            <a:off x="1645920" y="4663440"/>
            <a:ext cx="9784080" cy="960120"/>
          </a:xfrm>
          <a:prstGeom prst="rect">
            <a:avLst/>
          </a:prstGeom>
          <a:noFill/>
          <a:ln/>
        </p:spPr>
        <p:txBody>
          <a:bodyPr wrap="square" lIns="0" tIns="0" rIns="0" bIns="0" rtlCol="0" anchor="ctr"/>
          <a:lstStyle/>
          <a:p>
            <a:pPr indent="0" marL="0">
              <a:buNone/>
            </a:pPr>
            <a:r>
              <a:rPr lang="en-US" sz="1500" b="1" dirty="0">
                <a:solidFill>
                  <a:schemeClr val="tx1"/>
                </a:solidFill>
              </a:rPr>
              <a:t>Why this needs to happen: </a:t>
            </a:r>
            <a:pPr indent="0" marL="0">
              <a:buNone/>
            </a:pPr>
            <a:r>
              <a:rPr lang="en-US" sz="1500" dirty="0">
                <a:solidFill>
                  <a:schemeClr val="tx1"/>
                </a:solidFill>
              </a:rPr>
              <a:t>the quick options are lab bars (powders, sweeteners, sugar alcohols) or sugary "natural" bars. Over half of UK adults' energy already comes from ultra-processed food, and 71% are trying to avoid it.</a:t>
            </a:r>
            <a:endParaRPr lang="en-US" sz="15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Who it's for: Jack, and the squads who'll try it first</a:t>
            </a:r>
            <a:endParaRPr lang="en-US" sz="3200" dirty="0"/>
          </a:p>
        </p:txBody>
      </p:sp>
      <p:sp>
        <p:nvSpPr>
          <p:cNvPr id="3" name="Spoken to card"/>
          <p:cNvSpPr/>
          <p:nvPr/>
        </p:nvSpPr>
        <p:spPr>
          <a:xfrm>
            <a:off x="548640" y="1325880"/>
            <a:ext cx="3931920" cy="2331720"/>
          </a:xfrm>
          <a:prstGeom prst="roundRect">
            <a:avLst>
              <a:gd name="adj" fmla="val 4706"/>
            </a:avLst>
          </a:prstGeom>
          <a:solidFill>
            <a:schemeClr val="bg2"/>
          </a:solidFill>
          <a:ln/>
        </p:spPr>
      </p:sp>
      <p:sp>
        <p:nvSpPr>
          <p:cNvPr id="4" name="Spoken to circle"/>
          <p:cNvSpPr/>
          <p:nvPr/>
        </p:nvSpPr>
        <p:spPr>
          <a:xfrm>
            <a:off x="777240" y="1508760"/>
            <a:ext cx="548640" cy="548640"/>
          </a:xfrm>
          <a:prstGeom prst="ellipse">
            <a:avLst/>
          </a:prstGeom>
          <a:solidFill>
            <a:schemeClr val="accent1"/>
          </a:solidFill>
          <a:ln/>
        </p:spPr>
      </p:sp>
      <p:pic>
        <p:nvPicPr>
          <p:cNvPr id="5" name="Spoken to icon" descr="Spoken to">    </p:cNvPr>
          <p:cNvPicPr>
            <a:picLocks noChangeAspect="1"/>
          </p:cNvPicPr>
          <p:nvPr/>
        </p:nvPicPr>
        <p:blipFill>
          <a:blip r:embed="rId1"/>
          <a:stretch>
            <a:fillRect/>
          </a:stretch>
        </p:blipFill>
        <p:spPr>
          <a:xfrm>
            <a:off x="914400" y="1645920"/>
            <a:ext cx="274320" cy="274320"/>
          </a:xfrm>
          <a:prstGeom prst="rect">
            <a:avLst/>
          </a:prstGeom>
        </p:spPr>
      </p:pic>
      <p:sp>
        <p:nvSpPr>
          <p:cNvPr id="6" name="Spoken to title"/>
          <p:cNvSpPr txBox="1"/>
          <p:nvPr/>
        </p:nvSpPr>
        <p:spPr>
          <a:xfrm>
            <a:off x="1463040" y="1508760"/>
            <a:ext cx="2834640" cy="548640"/>
          </a:xfrm>
          <a:prstGeom prst="rect">
            <a:avLst/>
          </a:prstGeom>
          <a:noFill/>
          <a:ln/>
        </p:spPr>
        <p:txBody>
          <a:bodyPr wrap="square" lIns="0" tIns="0" rIns="0" bIns="0" rtlCol="0" anchor="ctr"/>
          <a:lstStyle/>
          <a:p>
            <a:pPr indent="0" marL="0">
              <a:buNone/>
            </a:pPr>
            <a:r>
              <a:rPr lang="en-US" sz="1700" b="1" dirty="0">
                <a:solidFill>
                  <a:schemeClr val="tx1"/>
                </a:solidFill>
              </a:rPr>
              <a:t>Who I've spoken to</a:t>
            </a:r>
            <a:endParaRPr lang="en-US" sz="1700" dirty="0"/>
          </a:p>
        </p:txBody>
      </p:sp>
      <p:sp>
        <p:nvSpPr>
          <p:cNvPr id="7" name="Spoken to list"/>
          <p:cNvSpPr txBox="1"/>
          <p:nvPr/>
        </p:nvSpPr>
        <p:spPr>
          <a:xfrm>
            <a:off x="777240" y="2148840"/>
            <a:ext cx="356616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10 athletes &amp; gym-goers: pro footballer, rugby player, bodybuilder, gym/football/padel</a:t>
            </a:r>
            <a:endParaRPr lang="en-US" sz="1400" dirty="0"/>
          </a:p>
          <a:p>
            <a:pPr marL="342900" indent="-342900">
              <a:spcAft>
                <a:spcPts val="400"/>
              </a:spcAft>
              <a:buSzPct val="100000"/>
              <a:buChar char="•"/>
            </a:pPr>
            <a:r>
              <a:rPr lang="en-US" sz="1400" dirty="0">
                <a:solidFill>
                  <a:schemeClr val="tx1"/>
                </a:solidFill>
              </a:rPr>
              <a:t>Team Durham S&amp;C coach + nutrition professor</a:t>
            </a:r>
            <a:endParaRPr lang="en-US" sz="1400" dirty="0"/>
          </a:p>
          <a:p>
            <a:pPr marL="342900" indent="-342900">
              <a:spcAft>
                <a:spcPts val="400"/>
              </a:spcAft>
              <a:buSzPct val="100000"/>
              <a:buChar char="•"/>
            </a:pPr>
            <a:r>
              <a:rPr lang="en-US" sz="1400" b="1" dirty="0">
                <a:solidFill>
                  <a:schemeClr val="accent1"/>
                </a:solidFill>
              </a:rPr>
              <a:t>Next: 3–5 Mom Test interviews + poster survey (live Monday)</a:t>
            </a:r>
            <a:endParaRPr lang="en-US" sz="1400" dirty="0"/>
          </a:p>
        </p:txBody>
      </p:sp>
      <p:sp>
        <p:nvSpPr>
          <p:cNvPr id="8" name="Persona card"/>
          <p:cNvSpPr/>
          <p:nvPr/>
        </p:nvSpPr>
        <p:spPr>
          <a:xfrm>
            <a:off x="548640" y="3840480"/>
            <a:ext cx="3931920" cy="2377440"/>
          </a:xfrm>
          <a:prstGeom prst="roundRect">
            <a:avLst>
              <a:gd name="adj" fmla="val 4615"/>
            </a:avLst>
          </a:prstGeom>
          <a:solidFill>
            <a:schemeClr val="tx1"/>
          </a:solidFill>
          <a:ln/>
        </p:spPr>
      </p:sp>
      <p:sp>
        <p:nvSpPr>
          <p:cNvPr id="9" name="Persona circle"/>
          <p:cNvSpPr/>
          <p:nvPr/>
        </p:nvSpPr>
        <p:spPr>
          <a:xfrm>
            <a:off x="777240" y="4023360"/>
            <a:ext cx="548640" cy="548640"/>
          </a:xfrm>
          <a:prstGeom prst="ellipse">
            <a:avLst/>
          </a:prstGeom>
          <a:solidFill>
            <a:schemeClr val="accent1"/>
          </a:solidFill>
          <a:ln/>
        </p:spPr>
      </p:sp>
      <p:pic>
        <p:nvPicPr>
          <p:cNvPr id="10" name="Persona icon" descr="Persona">    </p:cNvPr>
          <p:cNvPicPr>
            <a:picLocks noChangeAspect="1"/>
          </p:cNvPicPr>
          <p:nvPr/>
        </p:nvPicPr>
        <p:blipFill>
          <a:blip r:embed="rId2"/>
          <a:stretch>
            <a:fillRect/>
          </a:stretch>
        </p:blipFill>
        <p:spPr>
          <a:xfrm>
            <a:off x="914400" y="4160520"/>
            <a:ext cx="274320" cy="274320"/>
          </a:xfrm>
          <a:prstGeom prst="rect">
            <a:avLst/>
          </a:prstGeom>
        </p:spPr>
      </p:pic>
      <p:sp>
        <p:nvSpPr>
          <p:cNvPr id="11" name="Persona title"/>
          <p:cNvSpPr txBox="1"/>
          <p:nvPr/>
        </p:nvSpPr>
        <p:spPr>
          <a:xfrm>
            <a:off x="1463040" y="4023360"/>
            <a:ext cx="2834640" cy="548640"/>
          </a:xfrm>
          <a:prstGeom prst="rect">
            <a:avLst/>
          </a:prstGeom>
          <a:noFill/>
          <a:ln/>
        </p:spPr>
        <p:txBody>
          <a:bodyPr wrap="square" lIns="0" tIns="0" rIns="0" bIns="0" rtlCol="0" anchor="ctr"/>
          <a:lstStyle/>
          <a:p>
            <a:pPr indent="0" marL="0">
              <a:buNone/>
            </a:pPr>
            <a:r>
              <a:rPr lang="en-US" sz="1700" b="1" dirty="0">
                <a:solidFill>
                  <a:schemeClr val="bg1"/>
                </a:solidFill>
              </a:rPr>
              <a:t>Early persona: Jack</a:t>
            </a:r>
            <a:endParaRPr lang="en-US" sz="1700" dirty="0"/>
          </a:p>
        </p:txBody>
      </p:sp>
      <p:sp>
        <p:nvSpPr>
          <p:cNvPr id="12" name="Persona list"/>
          <p:cNvSpPr txBox="1"/>
          <p:nvPr/>
        </p:nvSpPr>
        <p:spPr>
          <a:xfrm>
            <a:off x="777240" y="4663440"/>
            <a:ext cx="356616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Trains once a day: gym (8/10) + a sport (4/10)</a:t>
            </a:r>
            <a:endParaRPr lang="en-US" sz="1400" dirty="0"/>
          </a:p>
          <a:p>
            <a:pPr marL="342900" indent="-342900">
              <a:spcAft>
                <a:spcPts val="400"/>
              </a:spcAft>
              <a:buSzPct val="100000"/>
              <a:buChar char="•"/>
            </a:pPr>
            <a:r>
              <a:rPr lang="en-US" sz="1400" dirty="0">
                <a:solidFill>
                  <a:schemeClr val="bg1"/>
                </a:solidFill>
              </a:rPr>
              <a:t>Trying to eat well (8/10); trusts his coach</a:t>
            </a:r>
            <a:endParaRPr lang="en-US" sz="1400" dirty="0"/>
          </a:p>
          <a:p>
            <a:pPr marL="342900" indent="-342900">
              <a:spcAft>
                <a:spcPts val="400"/>
              </a:spcAft>
              <a:buSzPct val="100000"/>
              <a:buChar char="•"/>
            </a:pPr>
            <a:r>
              <a:rPr lang="en-US" sz="1400" dirty="0">
                <a:solidFill>
                  <a:schemeClr val="bg1"/>
                </a:solidFill>
              </a:rPr>
              <a:t>Often can't cook after training; worries about taste &amp; price</a:t>
            </a:r>
            <a:endParaRPr lang="en-US" sz="1400" dirty="0"/>
          </a:p>
        </p:txBody>
      </p:sp>
      <p:sp>
        <p:nvSpPr>
          <p:cNvPr id="13" name="What they said circle"/>
          <p:cNvSpPr/>
          <p:nvPr/>
        </p:nvSpPr>
        <p:spPr>
          <a:xfrm>
            <a:off x="4846320" y="1417320"/>
            <a:ext cx="548640" cy="548640"/>
          </a:xfrm>
          <a:prstGeom prst="ellipse">
            <a:avLst/>
          </a:prstGeom>
          <a:solidFill>
            <a:schemeClr val="accent1"/>
          </a:solidFill>
          <a:ln/>
        </p:spPr>
      </p:sp>
      <p:pic>
        <p:nvPicPr>
          <p:cNvPr id="14" name="What they said icon" descr="What they said">    </p:cNvPr>
          <p:cNvPicPr>
            <a:picLocks noChangeAspect="1"/>
          </p:cNvPicPr>
          <p:nvPr/>
        </p:nvPicPr>
        <p:blipFill>
          <a:blip r:embed="rId3"/>
          <a:stretch>
            <a:fillRect/>
          </a:stretch>
        </p:blipFill>
        <p:spPr>
          <a:xfrm>
            <a:off x="4983480" y="1554480"/>
            <a:ext cx="274320" cy="274320"/>
          </a:xfrm>
          <a:prstGeom prst="rect">
            <a:avLst/>
          </a:prstGeom>
        </p:spPr>
      </p:pic>
      <p:sp>
        <p:nvSpPr>
          <p:cNvPr id="15" name="Row 1 title"/>
          <p:cNvSpPr txBox="1"/>
          <p:nvPr/>
        </p:nvSpPr>
        <p:spPr>
          <a:xfrm>
            <a:off x="5577840" y="1325880"/>
            <a:ext cx="6035040" cy="347472"/>
          </a:xfrm>
          <a:prstGeom prst="rect">
            <a:avLst/>
          </a:prstGeom>
          <a:noFill/>
          <a:ln/>
        </p:spPr>
        <p:txBody>
          <a:bodyPr wrap="square" lIns="0" tIns="0" rIns="0" bIns="0" rtlCol="0" anchor="ctr"/>
          <a:lstStyle/>
          <a:p>
            <a:pPr indent="0" marL="0">
              <a:buNone/>
            </a:pPr>
            <a:r>
              <a:rPr lang="en-US" sz="1600" b="1" dirty="0">
                <a:solidFill>
                  <a:schemeClr val="accent1"/>
                </a:solidFill>
              </a:rPr>
              <a:t>What they said</a:t>
            </a:r>
            <a:endParaRPr lang="en-US" sz="1600" dirty="0"/>
          </a:p>
        </p:txBody>
      </p:sp>
      <p:sp>
        <p:nvSpPr>
          <p:cNvPr id="16" name="Row 1 text"/>
          <p:cNvSpPr txBox="1"/>
          <p:nvPr/>
        </p:nvSpPr>
        <p:spPr>
          <a:xfrm>
            <a:off x="5577840" y="1673352"/>
            <a:ext cx="6035040" cy="658368"/>
          </a:xfrm>
          <a:prstGeom prst="rect">
            <a:avLst/>
          </a:prstGeom>
          <a:noFill/>
          <a:ln/>
        </p:spPr>
        <p:txBody>
          <a:bodyPr wrap="square" lIns="0" tIns="0" rIns="0" bIns="0" rtlCol="0" anchor="t"/>
          <a:lstStyle/>
          <a:p>
            <a:pPr indent="0" marL="0">
              <a:buNone/>
            </a:pPr>
            <a:r>
              <a:rPr lang="en-US" sz="1400" dirty="0">
                <a:solidFill>
                  <a:schemeClr val="tx1"/>
                </a:solidFill>
              </a:rPr>
              <a:t>7/10 liked the idea. They want high protein (4/10) and real food (4/10). Coach: whole foods, good taste, high protein:carb ratio, some fibre.</a:t>
            </a:r>
            <a:endParaRPr lang="en-US" sz="1400" dirty="0"/>
          </a:p>
        </p:txBody>
      </p:sp>
      <p:sp>
        <p:nvSpPr>
          <p:cNvPr id="17" name="Problems with what's out there circle"/>
          <p:cNvSpPr/>
          <p:nvPr/>
        </p:nvSpPr>
        <p:spPr>
          <a:xfrm>
            <a:off x="4846320" y="2496312"/>
            <a:ext cx="548640" cy="548640"/>
          </a:xfrm>
          <a:prstGeom prst="ellipse">
            <a:avLst/>
          </a:prstGeom>
          <a:solidFill>
            <a:schemeClr val="accent1"/>
          </a:solidFill>
          <a:ln/>
        </p:spPr>
      </p:sp>
      <p:pic>
        <p:nvPicPr>
          <p:cNvPr id="18" name="Problems with what's out there icon" descr="Problems with what's out there">    </p:cNvPr>
          <p:cNvPicPr>
            <a:picLocks noChangeAspect="1"/>
          </p:cNvPicPr>
          <p:nvPr/>
        </p:nvPicPr>
        <p:blipFill>
          <a:blip r:embed="rId4"/>
          <a:stretch>
            <a:fillRect/>
          </a:stretch>
        </p:blipFill>
        <p:spPr>
          <a:xfrm>
            <a:off x="4983480" y="2633472"/>
            <a:ext cx="274320" cy="274320"/>
          </a:xfrm>
          <a:prstGeom prst="rect">
            <a:avLst/>
          </a:prstGeom>
        </p:spPr>
      </p:pic>
      <p:sp>
        <p:nvSpPr>
          <p:cNvPr id="19" name="Row 2 title"/>
          <p:cNvSpPr txBox="1"/>
          <p:nvPr/>
        </p:nvSpPr>
        <p:spPr>
          <a:xfrm>
            <a:off x="5577840" y="2404872"/>
            <a:ext cx="6035040" cy="347472"/>
          </a:xfrm>
          <a:prstGeom prst="rect">
            <a:avLst/>
          </a:prstGeom>
          <a:noFill/>
          <a:ln/>
        </p:spPr>
        <p:txBody>
          <a:bodyPr wrap="square" lIns="0" tIns="0" rIns="0" bIns="0" rtlCol="0" anchor="ctr"/>
          <a:lstStyle/>
          <a:p>
            <a:pPr indent="0" marL="0">
              <a:buNone/>
            </a:pPr>
            <a:r>
              <a:rPr lang="en-US" sz="1600" b="1" dirty="0">
                <a:solidFill>
                  <a:schemeClr val="accent1"/>
                </a:solidFill>
              </a:rPr>
              <a:t>Problems with what's out there</a:t>
            </a:r>
            <a:endParaRPr lang="en-US" sz="1600" dirty="0"/>
          </a:p>
        </p:txBody>
      </p:sp>
      <p:sp>
        <p:nvSpPr>
          <p:cNvPr id="20" name="Row 2 text"/>
          <p:cNvSpPr txBox="1"/>
          <p:nvPr/>
        </p:nvSpPr>
        <p:spPr>
          <a:xfrm>
            <a:off x="5577840" y="2752344"/>
            <a:ext cx="6035040" cy="658368"/>
          </a:xfrm>
          <a:prstGeom prst="rect">
            <a:avLst/>
          </a:prstGeom>
          <a:noFill/>
          <a:ln/>
        </p:spPr>
        <p:txBody>
          <a:bodyPr wrap="square" lIns="0" tIns="0" rIns="0" bIns="0" rtlCol="0" anchor="t"/>
          <a:lstStyle/>
          <a:p>
            <a:pPr indent="0" marL="0">
              <a:buNone/>
            </a:pPr>
            <a:r>
              <a:rPr lang="en-US" sz="1400" dirty="0">
                <a:solidFill>
                  <a:schemeClr val="tx1"/>
                </a:solidFill>
              </a:rPr>
              <a:t>Too expensive (3/10), taste is a gamble (3/10), "bad ingredients". Boxes of Grenade bars given to students went uneaten.</a:t>
            </a:r>
            <a:endParaRPr lang="en-US" sz="1400" dirty="0"/>
          </a:p>
        </p:txBody>
      </p:sp>
      <p:sp>
        <p:nvSpPr>
          <p:cNvPr id="21" name="Why they'd switch circle"/>
          <p:cNvSpPr/>
          <p:nvPr/>
        </p:nvSpPr>
        <p:spPr>
          <a:xfrm>
            <a:off x="4846320" y="3575304"/>
            <a:ext cx="548640" cy="548640"/>
          </a:xfrm>
          <a:prstGeom prst="ellipse">
            <a:avLst/>
          </a:prstGeom>
          <a:solidFill>
            <a:schemeClr val="accent1"/>
          </a:solidFill>
          <a:ln/>
        </p:spPr>
      </p:sp>
      <p:pic>
        <p:nvPicPr>
          <p:cNvPr id="22" name="Why they'd switch icon" descr="Why they'd switch">    </p:cNvPr>
          <p:cNvPicPr>
            <a:picLocks noChangeAspect="1"/>
          </p:cNvPicPr>
          <p:nvPr/>
        </p:nvPicPr>
        <p:blipFill>
          <a:blip r:embed="rId5"/>
          <a:stretch>
            <a:fillRect/>
          </a:stretch>
        </p:blipFill>
        <p:spPr>
          <a:xfrm>
            <a:off x="4983480" y="3712464"/>
            <a:ext cx="274320" cy="274320"/>
          </a:xfrm>
          <a:prstGeom prst="rect">
            <a:avLst/>
          </a:prstGeom>
        </p:spPr>
      </p:pic>
      <p:sp>
        <p:nvSpPr>
          <p:cNvPr id="23" name="Row 3 title"/>
          <p:cNvSpPr txBox="1"/>
          <p:nvPr/>
        </p:nvSpPr>
        <p:spPr>
          <a:xfrm>
            <a:off x="5577840" y="3483864"/>
            <a:ext cx="6035040" cy="347472"/>
          </a:xfrm>
          <a:prstGeom prst="rect">
            <a:avLst/>
          </a:prstGeom>
          <a:noFill/>
          <a:ln/>
        </p:spPr>
        <p:txBody>
          <a:bodyPr wrap="square" lIns="0" tIns="0" rIns="0" bIns="0" rtlCol="0" anchor="ctr"/>
          <a:lstStyle/>
          <a:p>
            <a:pPr indent="0" marL="0">
              <a:buNone/>
            </a:pPr>
            <a:r>
              <a:rPr lang="en-US" sz="1600" b="1" dirty="0">
                <a:solidFill>
                  <a:schemeClr val="accent1"/>
                </a:solidFill>
              </a:rPr>
              <a:t>Why they'd switch</a:t>
            </a:r>
            <a:endParaRPr lang="en-US" sz="1600" dirty="0"/>
          </a:p>
        </p:txBody>
      </p:sp>
      <p:sp>
        <p:nvSpPr>
          <p:cNvPr id="24" name="Row 3 text"/>
          <p:cNvSpPr txBox="1"/>
          <p:nvPr/>
        </p:nvSpPr>
        <p:spPr>
          <a:xfrm>
            <a:off x="5577840" y="3831336"/>
            <a:ext cx="6035040" cy="658368"/>
          </a:xfrm>
          <a:prstGeom prst="rect">
            <a:avLst/>
          </a:prstGeom>
          <a:noFill/>
          <a:ln/>
        </p:spPr>
        <p:txBody>
          <a:bodyPr wrap="square" lIns="0" tIns="0" rIns="0" bIns="0" rtlCol="0" anchor="t"/>
          <a:lstStyle/>
          <a:p>
            <a:pPr indent="0" marL="0">
              <a:buNone/>
            </a:pPr>
            <a:r>
              <a:rPr lang="en-US" sz="1400" dirty="0">
                <a:solidFill>
                  <a:schemeClr val="tx1"/>
                </a:solidFill>
              </a:rPr>
              <a:t>Real food their coach approves of, with protein and carbs in one, made to taste good.</a:t>
            </a:r>
            <a:endParaRPr lang="en-US" sz="1400" dirty="0"/>
          </a:p>
        </p:txBody>
      </p:sp>
      <p:sp>
        <p:nvSpPr>
          <p:cNvPr id="25" name="Why it's a migraine, not a headache circle"/>
          <p:cNvSpPr/>
          <p:nvPr/>
        </p:nvSpPr>
        <p:spPr>
          <a:xfrm>
            <a:off x="4846320" y="4654296"/>
            <a:ext cx="548640" cy="548640"/>
          </a:xfrm>
          <a:prstGeom prst="ellipse">
            <a:avLst/>
          </a:prstGeom>
          <a:solidFill>
            <a:schemeClr val="accent1"/>
          </a:solidFill>
          <a:ln/>
        </p:spPr>
      </p:sp>
      <p:pic>
        <p:nvPicPr>
          <p:cNvPr id="26" name="Why it's a migraine, not a headache icon" descr="Why it's a migraine, not a headache">    </p:cNvPr>
          <p:cNvPicPr>
            <a:picLocks noChangeAspect="1"/>
          </p:cNvPicPr>
          <p:nvPr/>
        </p:nvPicPr>
        <p:blipFill>
          <a:blip r:embed="rId6"/>
          <a:stretch>
            <a:fillRect/>
          </a:stretch>
        </p:blipFill>
        <p:spPr>
          <a:xfrm>
            <a:off x="4983480" y="4791456"/>
            <a:ext cx="274320" cy="274320"/>
          </a:xfrm>
          <a:prstGeom prst="rect">
            <a:avLst/>
          </a:prstGeom>
        </p:spPr>
      </p:pic>
      <p:sp>
        <p:nvSpPr>
          <p:cNvPr id="27" name="Row 4 title"/>
          <p:cNvSpPr txBox="1"/>
          <p:nvPr/>
        </p:nvSpPr>
        <p:spPr>
          <a:xfrm>
            <a:off x="5577840" y="4562856"/>
            <a:ext cx="6035040" cy="347472"/>
          </a:xfrm>
          <a:prstGeom prst="rect">
            <a:avLst/>
          </a:prstGeom>
          <a:noFill/>
          <a:ln/>
        </p:spPr>
        <p:txBody>
          <a:bodyPr wrap="square" lIns="0" tIns="0" rIns="0" bIns="0" rtlCol="0" anchor="ctr"/>
          <a:lstStyle/>
          <a:p>
            <a:pPr indent="0" marL="0">
              <a:buNone/>
            </a:pPr>
            <a:r>
              <a:rPr lang="en-US" sz="1600" b="1" dirty="0">
                <a:solidFill>
                  <a:schemeClr val="accent1"/>
                </a:solidFill>
              </a:rPr>
              <a:t>Why it's a migraine, not a headache</a:t>
            </a:r>
            <a:endParaRPr lang="en-US" sz="1600" dirty="0"/>
          </a:p>
        </p:txBody>
      </p:sp>
      <p:sp>
        <p:nvSpPr>
          <p:cNvPr id="28" name="Row 4 text"/>
          <p:cNvSpPr txBox="1"/>
          <p:nvPr/>
        </p:nvSpPr>
        <p:spPr>
          <a:xfrm>
            <a:off x="5577840" y="4910328"/>
            <a:ext cx="6035040" cy="658368"/>
          </a:xfrm>
          <a:prstGeom prst="rect">
            <a:avLst/>
          </a:prstGeom>
          <a:noFill/>
          <a:ln/>
        </p:spPr>
        <p:txBody>
          <a:bodyPr wrap="square" lIns="0" tIns="0" rIns="0" bIns="0" rtlCol="0" anchor="t"/>
          <a:lstStyle/>
          <a:p>
            <a:pPr indent="0" marL="0">
              <a:buNone/>
            </a:pPr>
            <a:r>
              <a:rPr lang="en-US" sz="1400" dirty="0">
                <a:solidFill>
                  <a:schemeClr val="tx1"/>
                </a:solidFill>
              </a:rPr>
              <a:t>After training they need protein and carbs. Meal prep isn't always possible, and quick options fall short: fruit lacks protein, lab bars are artificial, "natural" bars are sugary. It happens after almost every session.</a:t>
            </a:r>
            <a:endParaRPr lang="en-US" sz="1400" dirty="0"/>
          </a:p>
        </p:txBody>
      </p:sp>
      <p:sp>
        <p:nvSpPr>
          <p:cNvPr id="29" name="Still to prove"/>
          <p:cNvSpPr txBox="1"/>
          <p:nvPr/>
        </p:nvSpPr>
        <p:spPr>
          <a:xfrm>
            <a:off x="4846320" y="5760720"/>
            <a:ext cx="6766560" cy="548640"/>
          </a:xfrm>
          <a:prstGeom prst="rect">
            <a:avLst/>
          </a:prstGeom>
          <a:noFill/>
          <a:ln/>
        </p:spPr>
        <p:txBody>
          <a:bodyPr wrap="square" lIns="0" tIns="0" rIns="0" bIns="0" rtlCol="0" anchor="t"/>
          <a:lstStyle/>
          <a:p>
            <a:pPr indent="0" marL="0">
              <a:buNone/>
            </a:pPr>
            <a:r>
              <a:rPr lang="en-US" sz="1400" b="1" dirty="0">
                <a:solidFill>
                  <a:schemeClr val="accent1"/>
                </a:solidFill>
              </a:rPr>
              <a:t>Early adopters: coached Durham squads + my MMA club. One coach = ~25 athletes = one drop. (0/10 committed yet; the squad trial tests this.)</a:t>
            </a:r>
            <a:endParaRPr lang="en-US" sz="14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gap: nobody does all three</a:t>
            </a:r>
            <a:endParaRPr lang="en-US" sz="3200" dirty="0"/>
          </a:p>
        </p:txBody>
      </p:sp>
      <p:pic>
        <p:nvPicPr>
          <p:cNvPr id="3" name="Gap chart" descr="Scatter of 25 UK protein snacks: protein vs sugar per 50 g. Every high-protein, low-sugar bar uses powders; real-food bars are high in sugar; our snack is the only real-food point in the gap.">    </p:cNvPr>
          <p:cNvPicPr>
            <a:picLocks noChangeAspect="1"/>
          </p:cNvPicPr>
          <p:nvPr/>
        </p:nvPicPr>
        <p:blipFill>
          <a:blip r:embed="rId1"/>
          <a:stretch>
            <a:fillRect/>
          </a:stretch>
        </p:blipFill>
        <p:spPr>
          <a:xfrm>
            <a:off x="548640" y="1234440"/>
            <a:ext cx="7863840" cy="4892040"/>
          </a:xfrm>
          <a:prstGeom prst="rect">
            <a:avLst/>
          </a:prstGeom>
        </p:spPr>
      </p:pic>
      <p:sp>
        <p:nvSpPr>
          <p:cNvPr id="4" name="Gap card"/>
          <p:cNvSpPr/>
          <p:nvPr/>
        </p:nvSpPr>
        <p:spPr>
          <a:xfrm>
            <a:off x="8641080" y="1234440"/>
            <a:ext cx="2971800" cy="4892040"/>
          </a:xfrm>
          <a:prstGeom prst="roundRect">
            <a:avLst>
              <a:gd name="adj" fmla="val 3692"/>
            </a:avLst>
          </a:prstGeom>
          <a:solidFill>
            <a:schemeClr val="bg2"/>
          </a:solidFill>
          <a:ln/>
        </p:spPr>
      </p:sp>
      <p:sp>
        <p:nvSpPr>
          <p:cNvPr id="5" name="Tests title"/>
          <p:cNvSpPr txBox="1"/>
          <p:nvPr/>
        </p:nvSpPr>
        <p:spPr>
          <a:xfrm>
            <a:off x="8869680" y="141732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25 snacks, 4 tests</a:t>
            </a:r>
            <a:endParaRPr lang="en-US" sz="1600" dirty="0"/>
          </a:p>
        </p:txBody>
      </p:sp>
      <p:sp>
        <p:nvSpPr>
          <p:cNvPr id="6" name="Tests list"/>
          <p:cNvSpPr txBox="1"/>
          <p:nvPr/>
        </p:nvSpPr>
        <p:spPr>
          <a:xfrm>
            <a:off x="8869680" y="1828800"/>
            <a:ext cx="2560320"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≥10 g protein: 20</a:t>
            </a:r>
            <a:endParaRPr lang="en-US" sz="1300" dirty="0"/>
          </a:p>
          <a:p>
            <a:pPr marL="342900" indent="-342900">
              <a:spcAft>
                <a:spcPts val="300"/>
              </a:spcAft>
              <a:buSzPct val="100000"/>
              <a:buChar char="•"/>
            </a:pPr>
            <a:r>
              <a:rPr lang="en-US" sz="1300" dirty="0">
                <a:solidFill>
                  <a:schemeClr val="tx1"/>
                </a:solidFill>
              </a:rPr>
              <a:t>Low sugar: 11</a:t>
            </a:r>
            <a:endParaRPr lang="en-US" sz="1300" dirty="0"/>
          </a:p>
          <a:p>
            <a:pPr marL="342900" indent="-342900">
              <a:spcAft>
                <a:spcPts val="300"/>
              </a:spcAft>
              <a:buSzPct val="100000"/>
              <a:buChar char="•"/>
            </a:pPr>
            <a:r>
              <a:rPr lang="en-US" sz="1300" dirty="0">
                <a:solidFill>
                  <a:schemeClr val="tx1"/>
                </a:solidFill>
              </a:rPr>
              <a:t>Real-food protein: 4</a:t>
            </a:r>
            <a:endParaRPr lang="en-US" sz="1300" dirty="0"/>
          </a:p>
          <a:p>
            <a:pPr marL="342900" indent="-342900">
              <a:spcAft>
                <a:spcPts val="300"/>
              </a:spcAft>
              <a:buSzPct val="100000"/>
              <a:buChar char="•"/>
            </a:pPr>
            <a:r>
              <a:rPr lang="en-US" sz="1300" b="1" dirty="0">
                <a:solidFill>
                  <a:schemeClr val="accent1"/>
                </a:solidFill>
              </a:rPr>
              <a:t>All four: 0</a:t>
            </a:r>
            <a:endParaRPr lang="en-US" sz="1300" dirty="0"/>
          </a:p>
        </p:txBody>
      </p:sp>
      <p:sp>
        <p:nvSpPr>
          <p:cNvPr id="7" name="Why title"/>
          <p:cNvSpPr txBox="1"/>
          <p:nvPr/>
        </p:nvSpPr>
        <p:spPr>
          <a:xfrm>
            <a:off x="8869680" y="3337560"/>
            <a:ext cx="2560320" cy="365760"/>
          </a:xfrm>
          <a:prstGeom prst="rect">
            <a:avLst/>
          </a:prstGeom>
          <a:noFill/>
          <a:ln/>
        </p:spPr>
        <p:txBody>
          <a:bodyPr wrap="square" lIns="0" tIns="0" rIns="0" bIns="0" rtlCol="0" anchor="ctr"/>
          <a:lstStyle/>
          <a:p>
            <a:pPr indent="0" marL="0">
              <a:buNone/>
            </a:pPr>
            <a:r>
              <a:rPr lang="en-US" sz="1600" b="1" dirty="0">
                <a:solidFill>
                  <a:schemeClr val="tx1"/>
                </a:solidFill>
              </a:rPr>
              <a:t>Why the gap exists</a:t>
            </a:r>
            <a:endParaRPr lang="en-US" sz="1600" dirty="0"/>
          </a:p>
        </p:txBody>
      </p:sp>
      <p:sp>
        <p:nvSpPr>
          <p:cNvPr id="8" name="Why list"/>
          <p:cNvSpPr txBox="1"/>
          <p:nvPr/>
        </p:nvSpPr>
        <p:spPr>
          <a:xfrm>
            <a:off x="8869680" y="3749040"/>
            <a:ext cx="2560320" cy="21945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Shops need months of shelf life; real food lasts days</a:t>
            </a:r>
            <a:endParaRPr lang="en-US" sz="1300" dirty="0"/>
          </a:p>
          <a:p>
            <a:pPr marL="342900" indent="-342900">
              <a:spcAft>
                <a:spcPts val="400"/>
              </a:spcAft>
              <a:buSzPct val="100000"/>
              <a:buChar char="•"/>
            </a:pPr>
            <a:r>
              <a:rPr lang="en-US" sz="1300" dirty="0">
                <a:solidFill>
                  <a:schemeClr val="tx1"/>
                </a:solidFill>
              </a:rPr>
              <a:t>Powders and sweeteners keep bars soft and cheap</a:t>
            </a:r>
            <a:endParaRPr lang="en-US" sz="1300" dirty="0"/>
          </a:p>
          <a:p>
            <a:pPr marL="342900" indent="-342900">
              <a:spcAft>
                <a:spcPts val="400"/>
              </a:spcAft>
              <a:buSzPct val="100000"/>
              <a:buChar char="•"/>
            </a:pPr>
            <a:r>
              <a:rPr lang="en-US" sz="1300" b="1" dirty="0">
                <a:solidFill>
                  <a:schemeClr val="tx1"/>
                </a:solidFill>
              </a:rPr>
              <a:t>We bake to order and sell direct to squads</a:t>
            </a:r>
            <a:endParaRPr lang="en-US" sz="1300" dirty="0"/>
          </a:p>
          <a:p>
            <a:pPr marL="342900" indent="-342900">
              <a:spcAft>
                <a:spcPts val="400"/>
              </a:spcAft>
              <a:buSzPct val="100000"/>
              <a:buChar char="•"/>
            </a:pPr>
            <a:r>
              <a:rPr lang="en-US" sz="1300" dirty="0">
                <a:solidFill>
                  <a:schemeClr val="tx1"/>
                </a:solidFill>
              </a:rPr>
              <a:t>Proof it can work: RXBAR (egg-white bar, $600m) and Perfect Bar (fridge bar) in the US</a:t>
            </a:r>
            <a:endParaRPr lang="en-US" sz="13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How it works and what's next</a:t>
            </a:r>
            <a:endParaRPr lang="en-US" sz="3200" dirty="0"/>
          </a:p>
        </p:txBody>
      </p:sp>
      <p:sp>
        <p:nvSpPr>
          <p:cNvPr id="3" name="Flavours heading"/>
          <p:cNvSpPr txBox="1"/>
          <p:nvPr/>
        </p:nvSpPr>
        <p:spPr>
          <a:xfrm>
            <a:off x="548640" y="128016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Formats in testing</a:t>
            </a:r>
            <a:endParaRPr lang="en-US" sz="1600" dirty="0"/>
          </a:p>
        </p:txBody>
      </p:sp>
      <p:sp>
        <p:nvSpPr>
          <p:cNvPr id="4" name="Flavour 1"/>
          <p:cNvSpPr/>
          <p:nvPr/>
        </p:nvSpPr>
        <p:spPr>
          <a:xfrm>
            <a:off x="548640" y="1737360"/>
            <a:ext cx="2148840" cy="548640"/>
          </a:xfrm>
          <a:prstGeom prst="roundRect">
            <a:avLst>
              <a:gd name="adj" fmla="val 50000"/>
            </a:avLst>
          </a:prstGeom>
          <a:solidFill>
            <a:schemeClr val="accent4"/>
          </a:solidFill>
          <a:ln/>
        </p:spPr>
      </p:sp>
      <p:sp>
        <p:nvSpPr>
          <p:cNvPr id="5" name="Flavour 1 label"/>
          <p:cNvSpPr txBox="1"/>
          <p:nvPr/>
        </p:nvSpPr>
        <p:spPr>
          <a:xfrm>
            <a:off x="548640" y="1737360"/>
            <a:ext cx="2148840" cy="548640"/>
          </a:xfrm>
          <a:prstGeom prst="rect">
            <a:avLst/>
          </a:prstGeom>
          <a:noFill/>
          <a:ln/>
        </p:spPr>
        <p:txBody>
          <a:bodyPr wrap="square" lIns="0" tIns="0" rIns="0" bIns="0" rtlCol="0" anchor="ctr"/>
          <a:lstStyle/>
          <a:p>
            <a:pPr algn="ctr" indent="0" marL="0">
              <a:buNone/>
            </a:pPr>
            <a:r>
              <a:rPr lang="en-US" sz="1400" b="1" dirty="0">
                <a:solidFill>
                  <a:schemeClr val="accent5"/>
                </a:solidFill>
              </a:rPr>
              <a:t>Soft-baked bar</a:t>
            </a:r>
            <a:endParaRPr lang="en-US" sz="1400" dirty="0"/>
          </a:p>
        </p:txBody>
      </p:sp>
      <p:sp>
        <p:nvSpPr>
          <p:cNvPr id="6" name="Flavour 2"/>
          <p:cNvSpPr/>
          <p:nvPr/>
        </p:nvSpPr>
        <p:spPr>
          <a:xfrm>
            <a:off x="2880360" y="1737360"/>
            <a:ext cx="2148840" cy="548640"/>
          </a:xfrm>
          <a:prstGeom prst="roundRect">
            <a:avLst>
              <a:gd name="adj" fmla="val 50000"/>
            </a:avLst>
          </a:prstGeom>
          <a:solidFill>
            <a:schemeClr val="accent4"/>
          </a:solidFill>
          <a:ln/>
        </p:spPr>
      </p:sp>
      <p:sp>
        <p:nvSpPr>
          <p:cNvPr id="7" name="Flavour 2 label"/>
          <p:cNvSpPr txBox="1"/>
          <p:nvPr/>
        </p:nvSpPr>
        <p:spPr>
          <a:xfrm>
            <a:off x="2880360" y="1737360"/>
            <a:ext cx="2148840" cy="548640"/>
          </a:xfrm>
          <a:prstGeom prst="rect">
            <a:avLst/>
          </a:prstGeom>
          <a:noFill/>
          <a:ln/>
        </p:spPr>
        <p:txBody>
          <a:bodyPr wrap="square" lIns="0" tIns="0" rIns="0" bIns="0" rtlCol="0" anchor="ctr"/>
          <a:lstStyle/>
          <a:p>
            <a:pPr algn="ctr" indent="0" marL="0">
              <a:buNone/>
            </a:pPr>
            <a:r>
              <a:rPr lang="en-US" sz="1400" b="1" dirty="0">
                <a:solidFill>
                  <a:schemeClr val="accent5"/>
                </a:solidFill>
              </a:rPr>
              <a:t>Bites</a:t>
            </a:r>
            <a:endParaRPr lang="en-US" sz="1400" dirty="0"/>
          </a:p>
        </p:txBody>
      </p:sp>
      <p:sp>
        <p:nvSpPr>
          <p:cNvPr id="8" name="Flavour 3"/>
          <p:cNvSpPr/>
          <p:nvPr/>
        </p:nvSpPr>
        <p:spPr>
          <a:xfrm>
            <a:off x="5212080" y="1737360"/>
            <a:ext cx="2148840" cy="548640"/>
          </a:xfrm>
          <a:prstGeom prst="roundRect">
            <a:avLst>
              <a:gd name="adj" fmla="val 50000"/>
            </a:avLst>
          </a:prstGeom>
          <a:solidFill>
            <a:schemeClr val="accent4"/>
          </a:solidFill>
          <a:ln/>
        </p:spPr>
      </p:sp>
      <p:sp>
        <p:nvSpPr>
          <p:cNvPr id="9" name="Flavour 3 label"/>
          <p:cNvSpPr txBox="1"/>
          <p:nvPr/>
        </p:nvSpPr>
        <p:spPr>
          <a:xfrm>
            <a:off x="5212080" y="1737360"/>
            <a:ext cx="2148840" cy="548640"/>
          </a:xfrm>
          <a:prstGeom prst="rect">
            <a:avLst/>
          </a:prstGeom>
          <a:noFill/>
          <a:ln/>
        </p:spPr>
        <p:txBody>
          <a:bodyPr wrap="square" lIns="0" tIns="0" rIns="0" bIns="0" rtlCol="0" anchor="ctr"/>
          <a:lstStyle/>
          <a:p>
            <a:pPr algn="ctr" indent="0" marL="0">
              <a:buNone/>
            </a:pPr>
            <a:r>
              <a:rPr lang="en-US" sz="1400" b="1" dirty="0">
                <a:solidFill>
                  <a:schemeClr val="accent5"/>
                </a:solidFill>
              </a:rPr>
              <a:t>Slice</a:t>
            </a:r>
            <a:endParaRPr lang="en-US" sz="1400" dirty="0"/>
          </a:p>
        </p:txBody>
      </p:sp>
      <p:sp>
        <p:nvSpPr>
          <p:cNvPr id="10" name="Flavour macros"/>
          <p:cNvSpPr txBox="1"/>
          <p:nvPr/>
        </p:nvSpPr>
        <p:spPr>
          <a:xfrm>
            <a:off x="548640" y="2377440"/>
            <a:ext cx="11064240" cy="365760"/>
          </a:xfrm>
          <a:prstGeom prst="rect">
            <a:avLst/>
          </a:prstGeom>
          <a:noFill/>
          <a:ln/>
        </p:spPr>
        <p:txBody>
          <a:bodyPr wrap="square" lIns="0" tIns="0" rIns="0" bIns="0" rtlCol="0" anchor="ctr"/>
          <a:lstStyle/>
          <a:p>
            <a:pPr indent="0" marL="0">
              <a:buNone/>
            </a:pPr>
            <a:r>
              <a:rPr lang="en-US" sz="1400" dirty="0">
                <a:solidFill>
                  <a:schemeClr val="accent3"/>
                </a:solidFill>
              </a:rPr>
              <a:t>~15 g protein per 50 g · egg, quark &amp; oats · no powders or sweeteners · ~4 g sugar (calculated, not lab-tested)</a:t>
            </a:r>
            <a:endParaRPr lang="en-US" sz="1400" dirty="0"/>
          </a:p>
        </p:txBody>
      </p:sp>
      <p:sp>
        <p:nvSpPr>
          <p:cNvPr id="11" name="Step 1 card"/>
          <p:cNvSpPr/>
          <p:nvPr/>
        </p:nvSpPr>
        <p:spPr>
          <a:xfrm>
            <a:off x="548640" y="3017520"/>
            <a:ext cx="2560320" cy="1828800"/>
          </a:xfrm>
          <a:prstGeom prst="roundRect">
            <a:avLst>
              <a:gd name="adj" fmla="val 6000"/>
            </a:avLst>
          </a:prstGeom>
          <a:solidFill>
            <a:schemeClr val="bg2"/>
          </a:solidFill>
          <a:ln/>
        </p:spPr>
      </p:sp>
      <p:sp>
        <p:nvSpPr>
          <p:cNvPr id="12" name="Step 1 circle"/>
          <p:cNvSpPr/>
          <p:nvPr/>
        </p:nvSpPr>
        <p:spPr>
          <a:xfrm>
            <a:off x="777240" y="3200400"/>
            <a:ext cx="548640" cy="548640"/>
          </a:xfrm>
          <a:prstGeom prst="ellipse">
            <a:avLst/>
          </a:prstGeom>
          <a:solidFill>
            <a:schemeClr val="accent1"/>
          </a:solidFill>
          <a:ln/>
        </p:spPr>
      </p:sp>
      <p:pic>
        <p:nvPicPr>
          <p:cNvPr id="13" name="Step 1 icon" descr="Step 1">    </p:cNvPr>
          <p:cNvPicPr>
            <a:picLocks noChangeAspect="1"/>
          </p:cNvPicPr>
          <p:nvPr/>
        </p:nvPicPr>
        <p:blipFill>
          <a:blip r:embed="rId1"/>
          <a:stretch>
            <a:fillRect/>
          </a:stretch>
        </p:blipFill>
        <p:spPr>
          <a:xfrm>
            <a:off x="914400" y="3337560"/>
            <a:ext cx="274320" cy="274320"/>
          </a:xfrm>
          <a:prstGeom prst="rect">
            <a:avLst/>
          </a:prstGeom>
        </p:spPr>
      </p:pic>
      <p:sp>
        <p:nvSpPr>
          <p:cNvPr id="14" name="Step 1 title"/>
          <p:cNvSpPr txBox="1"/>
          <p:nvPr/>
        </p:nvSpPr>
        <p:spPr>
          <a:xfrm>
            <a:off x="1417320" y="320040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1. Order</a:t>
            </a:r>
            <a:endParaRPr lang="en-US" sz="1600" dirty="0"/>
          </a:p>
        </p:txBody>
      </p:sp>
      <p:sp>
        <p:nvSpPr>
          <p:cNvPr id="15" name="Step 1 text"/>
          <p:cNvSpPr txBox="1"/>
          <p:nvPr/>
        </p:nvSpPr>
        <p:spPr>
          <a:xfrm>
            <a:off x="777240" y="3886200"/>
            <a:ext cx="2148840" cy="868680"/>
          </a:xfrm>
          <a:prstGeom prst="rect">
            <a:avLst/>
          </a:prstGeom>
          <a:noFill/>
          <a:ln/>
        </p:spPr>
        <p:txBody>
          <a:bodyPr wrap="square" lIns="0" tIns="0" rIns="0" bIns="0" rtlCol="0" anchor="t"/>
          <a:lstStyle/>
          <a:p>
            <a:pPr indent="0" marL="0">
              <a:buNone/>
            </a:pPr>
            <a:r>
              <a:rPr lang="en-US" sz="1400" dirty="0">
                <a:solidFill>
                  <a:schemeClr val="tx1"/>
                </a:solidFill>
              </a:rPr>
              <a:t>Weekly orders and squad orders via coaches</a:t>
            </a:r>
            <a:endParaRPr lang="en-US" sz="1400" dirty="0"/>
          </a:p>
        </p:txBody>
      </p:sp>
      <p:sp>
        <p:nvSpPr>
          <p:cNvPr id="16" name="Arrow 1"/>
          <p:cNvSpPr/>
          <p:nvPr/>
        </p:nvSpPr>
        <p:spPr>
          <a:xfrm>
            <a:off x="3136392" y="3794760"/>
            <a:ext cx="219456" cy="274320"/>
          </a:xfrm>
          <a:prstGeom prst="rightArrow">
            <a:avLst/>
          </a:prstGeom>
          <a:solidFill>
            <a:schemeClr val="accent1"/>
          </a:solidFill>
          <a:ln/>
        </p:spPr>
      </p:sp>
      <p:sp>
        <p:nvSpPr>
          <p:cNvPr id="17" name="Step 2 card"/>
          <p:cNvSpPr/>
          <p:nvPr/>
        </p:nvSpPr>
        <p:spPr>
          <a:xfrm>
            <a:off x="3383280" y="3017520"/>
            <a:ext cx="2560320" cy="1828800"/>
          </a:xfrm>
          <a:prstGeom prst="roundRect">
            <a:avLst>
              <a:gd name="adj" fmla="val 6000"/>
            </a:avLst>
          </a:prstGeom>
          <a:solidFill>
            <a:schemeClr val="bg2"/>
          </a:solidFill>
          <a:ln/>
        </p:spPr>
      </p:sp>
      <p:sp>
        <p:nvSpPr>
          <p:cNvPr id="18" name="Step 2 circle"/>
          <p:cNvSpPr/>
          <p:nvPr/>
        </p:nvSpPr>
        <p:spPr>
          <a:xfrm>
            <a:off x="3611880" y="3200400"/>
            <a:ext cx="548640" cy="548640"/>
          </a:xfrm>
          <a:prstGeom prst="ellipse">
            <a:avLst/>
          </a:prstGeom>
          <a:solidFill>
            <a:schemeClr val="accent1"/>
          </a:solidFill>
          <a:ln/>
        </p:spPr>
      </p:sp>
      <p:pic>
        <p:nvPicPr>
          <p:cNvPr id="19" name="Step 2 icon" descr="Step 2">    </p:cNvPr>
          <p:cNvPicPr>
            <a:picLocks noChangeAspect="1"/>
          </p:cNvPicPr>
          <p:nvPr/>
        </p:nvPicPr>
        <p:blipFill>
          <a:blip r:embed="rId2"/>
          <a:stretch>
            <a:fillRect/>
          </a:stretch>
        </p:blipFill>
        <p:spPr>
          <a:xfrm>
            <a:off x="3749040" y="3337560"/>
            <a:ext cx="274320" cy="274320"/>
          </a:xfrm>
          <a:prstGeom prst="rect">
            <a:avLst/>
          </a:prstGeom>
        </p:spPr>
      </p:pic>
      <p:sp>
        <p:nvSpPr>
          <p:cNvPr id="20" name="Step 2 title"/>
          <p:cNvSpPr txBox="1"/>
          <p:nvPr/>
        </p:nvSpPr>
        <p:spPr>
          <a:xfrm>
            <a:off x="4251960" y="320040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2. Bake</a:t>
            </a:r>
            <a:endParaRPr lang="en-US" sz="1600" dirty="0"/>
          </a:p>
        </p:txBody>
      </p:sp>
      <p:sp>
        <p:nvSpPr>
          <p:cNvPr id="21" name="Step 2 text"/>
          <p:cNvSpPr txBox="1"/>
          <p:nvPr/>
        </p:nvSpPr>
        <p:spPr>
          <a:xfrm>
            <a:off x="3611880" y="3886200"/>
            <a:ext cx="2148840" cy="868680"/>
          </a:xfrm>
          <a:prstGeom prst="rect">
            <a:avLst/>
          </a:prstGeom>
          <a:noFill/>
          <a:ln/>
        </p:spPr>
        <p:txBody>
          <a:bodyPr wrap="square" lIns="0" tIns="0" rIns="0" bIns="0" rtlCol="0" anchor="t"/>
          <a:lstStyle/>
          <a:p>
            <a:pPr indent="0" marL="0">
              <a:buNone/>
            </a:pPr>
            <a:r>
              <a:rPr lang="en-US" sz="1400" dirty="0">
                <a:solidFill>
                  <a:schemeClr val="tx1"/>
                </a:solidFill>
              </a:rPr>
              <a:t>Baked to order, no long-life additives</a:t>
            </a:r>
            <a:endParaRPr lang="en-US" sz="1400" dirty="0"/>
          </a:p>
        </p:txBody>
      </p:sp>
      <p:sp>
        <p:nvSpPr>
          <p:cNvPr id="22" name="Arrow 2"/>
          <p:cNvSpPr/>
          <p:nvPr/>
        </p:nvSpPr>
        <p:spPr>
          <a:xfrm>
            <a:off x="5971032" y="3794760"/>
            <a:ext cx="219456" cy="274320"/>
          </a:xfrm>
          <a:prstGeom prst="rightArrow">
            <a:avLst/>
          </a:prstGeom>
          <a:solidFill>
            <a:schemeClr val="accent1"/>
          </a:solidFill>
          <a:ln/>
        </p:spPr>
      </p:sp>
      <p:sp>
        <p:nvSpPr>
          <p:cNvPr id="23" name="Step 3 card"/>
          <p:cNvSpPr/>
          <p:nvPr/>
        </p:nvSpPr>
        <p:spPr>
          <a:xfrm>
            <a:off x="6217920" y="3017520"/>
            <a:ext cx="2560320" cy="1828800"/>
          </a:xfrm>
          <a:prstGeom prst="roundRect">
            <a:avLst>
              <a:gd name="adj" fmla="val 6000"/>
            </a:avLst>
          </a:prstGeom>
          <a:solidFill>
            <a:schemeClr val="bg2"/>
          </a:solidFill>
          <a:ln/>
        </p:spPr>
      </p:sp>
      <p:sp>
        <p:nvSpPr>
          <p:cNvPr id="24" name="Step 3 circle"/>
          <p:cNvSpPr/>
          <p:nvPr/>
        </p:nvSpPr>
        <p:spPr>
          <a:xfrm>
            <a:off x="6446520" y="3200400"/>
            <a:ext cx="548640" cy="548640"/>
          </a:xfrm>
          <a:prstGeom prst="ellipse">
            <a:avLst/>
          </a:prstGeom>
          <a:solidFill>
            <a:schemeClr val="accent1"/>
          </a:solidFill>
          <a:ln/>
        </p:spPr>
      </p:sp>
      <p:pic>
        <p:nvPicPr>
          <p:cNvPr id="25" name="Step 3 icon" descr="Step 3">    </p:cNvPr>
          <p:cNvPicPr>
            <a:picLocks noChangeAspect="1"/>
          </p:cNvPicPr>
          <p:nvPr/>
        </p:nvPicPr>
        <p:blipFill>
          <a:blip r:embed="rId3"/>
          <a:stretch>
            <a:fillRect/>
          </a:stretch>
        </p:blipFill>
        <p:spPr>
          <a:xfrm>
            <a:off x="6583680" y="3337560"/>
            <a:ext cx="274320" cy="274320"/>
          </a:xfrm>
          <a:prstGeom prst="rect">
            <a:avLst/>
          </a:prstGeom>
        </p:spPr>
      </p:pic>
      <p:sp>
        <p:nvSpPr>
          <p:cNvPr id="26" name="Step 3 title"/>
          <p:cNvSpPr txBox="1"/>
          <p:nvPr/>
        </p:nvSpPr>
        <p:spPr>
          <a:xfrm>
            <a:off x="7086600" y="320040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3. Deliver chilled</a:t>
            </a:r>
            <a:endParaRPr lang="en-US" sz="1600" dirty="0"/>
          </a:p>
        </p:txBody>
      </p:sp>
      <p:sp>
        <p:nvSpPr>
          <p:cNvPr id="27" name="Step 3 text"/>
          <p:cNvSpPr txBox="1"/>
          <p:nvPr/>
        </p:nvSpPr>
        <p:spPr>
          <a:xfrm>
            <a:off x="6446520" y="3886200"/>
            <a:ext cx="2148840" cy="868680"/>
          </a:xfrm>
          <a:prstGeom prst="rect">
            <a:avLst/>
          </a:prstGeom>
          <a:noFill/>
          <a:ln/>
        </p:spPr>
        <p:txBody>
          <a:bodyPr wrap="square" lIns="0" tIns="0" rIns="0" bIns="0" rtlCol="0" anchor="t"/>
          <a:lstStyle/>
          <a:p>
            <a:pPr indent="0" marL="0">
              <a:buNone/>
            </a:pPr>
            <a:r>
              <a:rPr lang="en-US" sz="1400" dirty="0">
                <a:solidFill>
                  <a:schemeClr val="tx1"/>
                </a:solidFill>
              </a:rPr>
              <a:t>Hand-delivered in Durham to start</a:t>
            </a:r>
            <a:endParaRPr lang="en-US" sz="1400" dirty="0"/>
          </a:p>
        </p:txBody>
      </p:sp>
      <p:sp>
        <p:nvSpPr>
          <p:cNvPr id="28" name="Arrow 3"/>
          <p:cNvSpPr/>
          <p:nvPr/>
        </p:nvSpPr>
        <p:spPr>
          <a:xfrm>
            <a:off x="8805672" y="3794760"/>
            <a:ext cx="219456" cy="274320"/>
          </a:xfrm>
          <a:prstGeom prst="rightArrow">
            <a:avLst/>
          </a:prstGeom>
          <a:solidFill>
            <a:schemeClr val="accent1"/>
          </a:solidFill>
          <a:ln/>
        </p:spPr>
      </p:sp>
      <p:sp>
        <p:nvSpPr>
          <p:cNvPr id="29" name="Step 4 card"/>
          <p:cNvSpPr/>
          <p:nvPr/>
        </p:nvSpPr>
        <p:spPr>
          <a:xfrm>
            <a:off x="9052560" y="3017520"/>
            <a:ext cx="2560320" cy="1828800"/>
          </a:xfrm>
          <a:prstGeom prst="roundRect">
            <a:avLst>
              <a:gd name="adj" fmla="val 6000"/>
            </a:avLst>
          </a:prstGeom>
          <a:solidFill>
            <a:schemeClr val="bg2"/>
          </a:solidFill>
          <a:ln/>
        </p:spPr>
      </p:sp>
      <p:sp>
        <p:nvSpPr>
          <p:cNvPr id="30" name="Step 4 circle"/>
          <p:cNvSpPr/>
          <p:nvPr/>
        </p:nvSpPr>
        <p:spPr>
          <a:xfrm>
            <a:off x="9281160" y="3200400"/>
            <a:ext cx="548640" cy="548640"/>
          </a:xfrm>
          <a:prstGeom prst="ellipse">
            <a:avLst/>
          </a:prstGeom>
          <a:solidFill>
            <a:schemeClr val="accent1"/>
          </a:solidFill>
          <a:ln/>
        </p:spPr>
      </p:sp>
      <p:pic>
        <p:nvPicPr>
          <p:cNvPr id="31" name="Step 4 icon" descr="Step 4">    </p:cNvPr>
          <p:cNvPicPr>
            <a:picLocks noChangeAspect="1"/>
          </p:cNvPicPr>
          <p:nvPr/>
        </p:nvPicPr>
        <p:blipFill>
          <a:blip r:embed="rId4"/>
          <a:stretch>
            <a:fillRect/>
          </a:stretch>
        </p:blipFill>
        <p:spPr>
          <a:xfrm>
            <a:off x="9418320" y="3337560"/>
            <a:ext cx="274320" cy="274320"/>
          </a:xfrm>
          <a:prstGeom prst="rect">
            <a:avLst/>
          </a:prstGeom>
        </p:spPr>
      </p:pic>
      <p:sp>
        <p:nvSpPr>
          <p:cNvPr id="32" name="Step 4 title"/>
          <p:cNvSpPr txBox="1"/>
          <p:nvPr/>
        </p:nvSpPr>
        <p:spPr>
          <a:xfrm>
            <a:off x="9921240" y="320040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4. Eat or freeze</a:t>
            </a:r>
            <a:endParaRPr lang="en-US" sz="1600" dirty="0"/>
          </a:p>
        </p:txBody>
      </p:sp>
      <p:sp>
        <p:nvSpPr>
          <p:cNvPr id="33" name="Step 4 text"/>
          <p:cNvSpPr txBox="1"/>
          <p:nvPr/>
        </p:nvSpPr>
        <p:spPr>
          <a:xfrm>
            <a:off x="9281160" y="3886200"/>
            <a:ext cx="2148840" cy="868680"/>
          </a:xfrm>
          <a:prstGeom prst="rect">
            <a:avLst/>
          </a:prstGeom>
          <a:noFill/>
          <a:ln/>
        </p:spPr>
        <p:txBody>
          <a:bodyPr wrap="square" lIns="0" tIns="0" rIns="0" bIns="0" rtlCol="0" anchor="t"/>
          <a:lstStyle/>
          <a:p>
            <a:pPr indent="0" marL="0">
              <a:buNone/>
            </a:pPr>
            <a:r>
              <a:rPr lang="en-US" sz="1400" dirty="0">
                <a:solidFill>
                  <a:schemeClr val="tx1"/>
                </a:solidFill>
              </a:rPr>
              <a:t>Fridge 3 days, or freeze for later</a:t>
            </a:r>
            <a:endParaRPr lang="en-US" sz="1400" dirty="0"/>
          </a:p>
        </p:txBody>
      </p:sp>
      <p:sp>
        <p:nvSpPr>
          <p:cNvPr id="34" name="Close box"/>
          <p:cNvSpPr/>
          <p:nvPr/>
        </p:nvSpPr>
        <p:spPr>
          <a:xfrm>
            <a:off x="548640" y="5074920"/>
            <a:ext cx="11064240" cy="1097280"/>
          </a:xfrm>
          <a:prstGeom prst="roundRect">
            <a:avLst>
              <a:gd name="adj" fmla="val 10000"/>
            </a:avLst>
          </a:prstGeom>
          <a:solidFill>
            <a:schemeClr val="tx1"/>
          </a:solidFill>
          <a:ln/>
        </p:spPr>
      </p:sp>
      <p:sp>
        <p:nvSpPr>
          <p:cNvPr id="35" name="Close text"/>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1500" b="1" dirty="0">
                <a:solidFill>
                  <a:schemeClr val="accent1"/>
                </a:solidFill>
              </a:rPr>
              <a:t>Next: </a:t>
            </a:r>
            <a:pPr indent="0" marL="0">
              <a:buNone/>
            </a:pPr>
            <a:r>
              <a:rPr lang="en-US" sz="1500" dirty="0">
                <a:solidFill>
                  <a:schemeClr val="bg1"/>
                </a:solidFill>
              </a:rPr>
              <a:t>poster + landing page waitlist (live Monday) → blind taste test (≥7/9) → free squad trial.  </a:t>
            </a:r>
            <a:pPr indent="0" marL="0">
              <a:buNone/>
            </a:pPr>
            <a:r>
              <a:rPr lang="en-US" sz="1500" b="1" dirty="0">
                <a:solidFill>
                  <a:schemeClr val="accent1"/>
                </a:solidFill>
              </a:rPr>
              <a:t>Need: </a:t>
            </a:r>
            <a:pPr indent="0" marL="0">
              <a:buNone/>
            </a:pPr>
            <a:r>
              <a:rPr lang="en-US" sz="1500" dirty="0">
                <a:solidFill>
                  <a:schemeClr val="bg1"/>
                </a:solidFill>
              </a:rPr>
              <a:t>kitchen access + coach intros.</a:t>
            </a:r>
            <a:endParaRPr lang="en-US" sz="1500" dirty="0"/>
          </a:p>
          <a:p>
            <a:pPr indent="0" marL="0">
              <a:buNone/>
            </a:pPr>
            <a:r>
              <a:rPr lang="en-US" sz="1500" b="1" dirty="0">
                <a:solidFill>
                  <a:schemeClr val="bg1"/>
                </a:solidFill>
              </a:rPr>
              <a:t>Fresh, baked, real-food protein for people who train hard.</a:t>
            </a:r>
            <a:endParaRPr lang="en-US" sz="1500" dirty="0"/>
          </a:p>
        </p:txBody>
      </p:sp>
      <p:sp>
        <p:nvSpPr>
          <p:cNvPr id="25" name="Slide Number Placeholder 0"/>
          <p:cNvSpPr>
            <a:spLocks noGrp="1"/>
          </p:cNvSpPr>
          <p:nvPr>
            <p:ph type="sldNum" sz="quarter" idx="4294967295"/>
          </p:nvPr>
        </p:nvSpPr>
        <p:spPr>
          <a:xfrm>
            <a:off x="1133856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Pitch">
  <a:themeElements>
    <a:clrScheme name="Pitch">
      <a:dk1>
        <a:srgbClr val="1C1B19"/>
      </a:dk1>
      <a:lt1>
        <a:srgbClr val="FFFFFF"/>
      </a:lt1>
      <a:dk2>
        <a:srgbClr val="3A3835"/>
      </a:dk2>
      <a:lt2>
        <a:srgbClr val="F3F4F6"/>
      </a:lt2>
      <a:accent1>
        <a:srgbClr val="C2410C"/>
      </a:accent1>
      <a:accent2>
        <a:srgbClr val="15803D"/>
      </a:accent2>
      <a:accent3>
        <a:srgbClr val="6B7280"/>
      </a:accent3>
      <a:accent4>
        <a:srgbClr val="FDE7DC"/>
      </a:accent4>
      <a:accent5>
        <a:srgbClr val="7C2D12"/>
      </a:accent5>
      <a:accent6>
        <a:srgbClr val="E5E7EB"/>
      </a:accent6>
      <a:hlink>
        <a:srgbClr val="C2410C"/>
      </a:hlink>
      <a:folHlink>
        <a:srgbClr val="7C2D12"/>
      </a:folHlink>
    </a:clrScheme>
    <a:fontScheme name="Pi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Real-food protein snack: pitch</dc:title>
  <dc:subject>PptxGenJS Presentation</dc:subject>
  <dc:creator>Ewan</dc:creator>
  <cp:lastModifiedBy>Ewan</cp:lastModifiedBy>
  <cp:revision>1</cp:revision>
  <dcterms:created xsi:type="dcterms:W3CDTF">2026-10-15T17:34:27Z</dcterms:created>
  <dcterms:modified xsi:type="dcterms:W3CDTF">2026-10-15T17:34:27Z</dcterms:modified>
</cp:coreProperties>
</file>
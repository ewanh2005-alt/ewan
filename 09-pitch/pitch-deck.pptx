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cept" id="{082cdbf3-dbed-b912-a26e-7f3cbd847a94}">
          <p14:sldIdLst>
            <p14:sldId id="256"/>
          </p14:sldIdLst>
        </p14:section>
        <p14:section name="Problem" id="{f50c43b8-c3a6-aa18-61f1-16f9dbf515ad}">
          <p14:sldIdLst>
            <p14:sldId id="257"/>
          </p14:sldIdLst>
        </p14:section>
        <p14:section name="Customers" id="{980b53bf-9a46-3fe1-8fdf-7528bfa3b80d}">
          <p14:sldIdLst>
            <p14:sldId id="258"/>
          </p14:sldIdLst>
        </p14:section>
        <p14:section name="Market" id="{753e3af7-1520-8d6a-224e-646ddb001836}">
          <p14:sldIdLst>
            <p14:sldId id="259"/>
          </p14:sldIdLst>
        </p14:section>
        <p14:section name="Model" id="{2a167b6d-f5f2-4b0c-1ba9-82e7decde631}">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I've pivoted. The idea is now a recovery bar made from real food, for athletes who train hard. It came from my own training. After two MMA classes back to back I'd eat a full meal and still be after more. Going from MMA straight to football, I'm in a rush and need something quick but proper. On a same-day weigh-in I'm depleted after making weight and have a short window to refuel before I compete. Every time, the choice is a lab-made protein bar full of powders and sweeteners, or nothing. So the bar is ~20 g protein and ~30 g carbs from eggs, quark and oats. Branding's in progress: working name only, nothing's set. (Note for weigh-in days: fibre before competing can upset the gut, so a lower-fibre version may suit that use. Worth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This isn't just me. A survey of Canadian university athletes found 80% say their schedule limits their ability to cook. A review of 21 studies found team-sport athletes hit their protein but fall short on carbs, which is exactly what you need to refuel. Given the choice, athletes prefer whole-food products (405 athletes), and they rate everyday food as tastier, cheaper and safer. Sports foods only win on convenience. So athletes are stuck between real food they can't always make and convenient bars built on powders, sweeteners and sugar alcohols, or 'natural' bars full of sugar. Sources: Morassutti 2024 (York University); Jenner 2019; Carey 2023; Forsyth &amp; Mantzioris 2023; NDNS fibre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~70s. I've spoken to 10 athletes and gym-goers, including a pro footballer, a rugby player and an aspiring bodybuilder, plus the Team Durham S&amp;C coach and a nutrition professor. I've got more interviews lined up [say who]. 7 of 10 liked the idea. They want high protein and real food. The problems with what's out there: price, taste, and ingredients they don't trust. The S&amp;C coach watched students fail to finish boxes of Grenade bars. Why it's a migraine: it hits after every session, twice a day for some, and on the road, at work or on weigh-in day there's no time to cook. Early persona: Jack trains most days, is trying to eat well and trusts his coach. Honestly: nobody has committed yet, and some gym-goers just wait for a meal, so I'm focusing on athletes who train hard. Interview notes are paraphrased,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These are the recovery bars athletes see: Myprotein's Re-Fuel, Amacx, HIGH5, Styrkr, Huel. The ones with 20 g protein get it from protein powder, and most rely on syrups or sugar alcohols. Re-Fuel's first ingredient is maltitol. The 'real food' bars like Veloforte have lots of sugar and only 12 g protein. Across 32+ UK bars I checked, none gets around 20 g protein from real food alone. Ours does: ~20 g protein and ~30 g carbs from eggs, quark and oats, with a little honey or banana. Our numbers are calculated from the ingredients and will be lab-checked.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Three flavours in testing: Chocolate Peanut Butter, Vanilla and Banana Bread. Each is around 20 g protein and 30 g carbs. Because it's real food, it's fresh and chilled, not shelf-stable, so I'm using the Simmer Eats model. Simmer cooks fresh meals that last up to 5 days in the fridge and can be frozen on arrival. People order weekly (and squads order through their coach), I bake to order, deliver chilled around Durham to start, and they eat it within 3 days or freeze it. 'Baked this week, not 12 months ago.' Next steps: blind taste tests against Barebells, a squad trial with Team Durham, registering as a food business, and more interviews.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Durham Venture School · Week 5 · working name &amp; branding TBC</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1188720"/>
          </a:xfrm>
          <a:prstGeom prst="rect">
            <a:avLst/>
          </a:prstGeom>
          <a:noFill/>
          <a:ln/>
        </p:spPr>
        <p:txBody>
          <a:bodyPr wrap="square" lIns="0" tIns="0" rIns="0" bIns="0" rtlCol="0" anchor="t"/>
          <a:lstStyle/>
          <a:p>
            <a:pPr algn="l" indent="0" marL="0">
              <a:buNone/>
            </a:pPr>
            <a:r>
              <a:rPr lang="en-US" sz="3600" b="1" dirty="0">
                <a:solidFill>
                  <a:schemeClr val="bg1"/>
                </a:solidFill>
              </a:rPr>
              <a:t>The pivot: a </a:t>
            </a:r>
            <a:pPr algn="l" indent="0" marL="0">
              <a:buNone/>
            </a:pPr>
            <a:r>
              <a:rPr lang="en-US" sz="3600" b="1" dirty="0">
                <a:solidFill>
                  <a:schemeClr val="accent1"/>
                </a:solidFill>
              </a:rPr>
              <a:t>real-food</a:t>
            </a:r>
            <a:pPr algn="l" indent="0" marL="0">
              <a:buNone/>
            </a:pPr>
            <a:r>
              <a:rPr lang="en-US" sz="3600" b="1" dirty="0">
                <a:solidFill>
                  <a:schemeClr val="bg1"/>
                </a:solidFill>
              </a:rPr>
              <a:t> recovery bar for athletes who train hard</a:t>
            </a:r>
            <a:endParaRPr lang="en-US" sz="3600" dirty="0"/>
          </a:p>
        </p:txBody>
      </p:sp>
      <p:sp>
        <p:nvSpPr>
          <p:cNvPr id="3" name="Subtitle"/>
          <p:cNvSpPr txBox="1"/>
          <p:nvPr/>
        </p:nvSpPr>
        <p:spPr>
          <a:xfrm>
            <a:off x="548640" y="1645920"/>
            <a:ext cx="11064240" cy="411480"/>
          </a:xfrm>
          <a:prstGeom prst="rect">
            <a:avLst/>
          </a:prstGeom>
          <a:noFill/>
          <a:ln/>
        </p:spPr>
        <p:txBody>
          <a:bodyPr wrap="square" lIns="0" tIns="0" rIns="0" bIns="0" rtlCol="0" anchor="ctr"/>
          <a:lstStyle/>
          <a:p>
            <a:pPr indent="0" marL="0">
              <a:buNone/>
            </a:pPr>
            <a:r>
              <a:rPr lang="en-US" sz="1800" dirty="0">
                <a:solidFill>
                  <a:schemeClr val="bg1"/>
                </a:solidFill>
              </a:rPr>
              <a:t>~20 g protein  ·  ~30 g carbs  ·  made from eggs, quark &amp; oats  ·  no powders, sweeteners or sugar alcohols</a:t>
            </a:r>
            <a:endParaRPr lang="en-US" sz="1800" dirty="0"/>
          </a:p>
        </p:txBody>
      </p:sp>
      <p:sp>
        <p:nvSpPr>
          <p:cNvPr id="4" name="Story heading"/>
          <p:cNvSpPr txBox="1"/>
          <p:nvPr/>
        </p:nvSpPr>
        <p:spPr>
          <a:xfrm>
            <a:off x="548640" y="2423160"/>
            <a:ext cx="11064240" cy="365760"/>
          </a:xfrm>
          <a:prstGeom prst="rect">
            <a:avLst/>
          </a:prstGeom>
          <a:noFill/>
          <a:ln/>
        </p:spPr>
        <p:txBody>
          <a:bodyPr wrap="square" lIns="0" tIns="0" rIns="0" bIns="0" rtlCol="0" anchor="ctr"/>
          <a:lstStyle/>
          <a:p>
            <a:pPr indent="0" marL="0">
              <a:buNone/>
            </a:pPr>
            <a:r>
              <a:rPr lang="en-US" sz="1600" b="1" dirty="0">
                <a:solidFill>
                  <a:schemeClr val="accent1"/>
                </a:solidFill>
              </a:rPr>
              <a:t>Where it came from: my own training</a:t>
            </a:r>
            <a:endParaRPr lang="en-US" sz="1600" dirty="0"/>
          </a:p>
        </p:txBody>
      </p:sp>
      <p:sp>
        <p:nvSpPr>
          <p:cNvPr id="5" name="Moment 1 card"/>
          <p:cNvSpPr/>
          <p:nvPr/>
        </p:nvSpPr>
        <p:spPr>
          <a:xfrm>
            <a:off x="548640" y="2926080"/>
            <a:ext cx="3474720" cy="2651760"/>
          </a:xfrm>
          <a:prstGeom prst="roundRect">
            <a:avLst>
              <a:gd name="adj" fmla="val 4138"/>
            </a:avLst>
          </a:prstGeom>
          <a:solidFill>
            <a:schemeClr val="tx2"/>
          </a:solidFill>
          <a:ln/>
        </p:spPr>
      </p:sp>
      <p:sp>
        <p:nvSpPr>
          <p:cNvPr id="6" name="Moment 1 circle"/>
          <p:cNvSpPr/>
          <p:nvPr/>
        </p:nvSpPr>
        <p:spPr>
          <a:xfrm>
            <a:off x="822960" y="3154680"/>
            <a:ext cx="685800" cy="685800"/>
          </a:xfrm>
          <a:prstGeom prst="ellipse">
            <a:avLst/>
          </a:prstGeom>
          <a:solidFill>
            <a:schemeClr val="accent1"/>
          </a:solidFill>
          <a:ln/>
        </p:spPr>
      </p:sp>
      <p:pic>
        <p:nvPicPr>
          <p:cNvPr id="7" name="Moment 1 icon" descr="Moment 1">    </p:cNvPr>
          <p:cNvPicPr>
            <a:picLocks noChangeAspect="1"/>
          </p:cNvPicPr>
          <p:nvPr/>
        </p:nvPicPr>
        <p:blipFill>
          <a:blip r:embed="rId1"/>
          <a:stretch>
            <a:fillRect/>
          </a:stretch>
        </p:blipFill>
        <p:spPr>
          <a:xfrm>
            <a:off x="994410" y="3326130"/>
            <a:ext cx="342900" cy="342900"/>
          </a:xfrm>
          <a:prstGeom prst="rect">
            <a:avLst/>
          </a:prstGeom>
        </p:spPr>
      </p:pic>
      <p:sp>
        <p:nvSpPr>
          <p:cNvPr id="8" name="Moment 1 title"/>
          <p:cNvSpPr txBox="1"/>
          <p:nvPr/>
        </p:nvSpPr>
        <p:spPr>
          <a:xfrm>
            <a:off x="82296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Two MMA classes back to back</a:t>
            </a:r>
            <a:endParaRPr lang="en-US" sz="1700" dirty="0"/>
          </a:p>
        </p:txBody>
      </p:sp>
      <p:sp>
        <p:nvSpPr>
          <p:cNvPr id="9" name="Moment 1 text"/>
          <p:cNvSpPr txBox="1"/>
          <p:nvPr/>
        </p:nvSpPr>
        <p:spPr>
          <a:xfrm>
            <a:off x="82296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Ate a full meal afterwards and was still after more. A meal alone wasn't enough to refuel.</a:t>
            </a:r>
            <a:endParaRPr lang="en-US" sz="1400" dirty="0"/>
          </a:p>
        </p:txBody>
      </p:sp>
      <p:sp>
        <p:nvSpPr>
          <p:cNvPr id="10" name="Moment 2 card"/>
          <p:cNvSpPr/>
          <p:nvPr/>
        </p:nvSpPr>
        <p:spPr>
          <a:xfrm>
            <a:off x="4297680" y="2926080"/>
            <a:ext cx="3474720" cy="2651760"/>
          </a:xfrm>
          <a:prstGeom prst="roundRect">
            <a:avLst>
              <a:gd name="adj" fmla="val 4138"/>
            </a:avLst>
          </a:prstGeom>
          <a:solidFill>
            <a:schemeClr val="tx2"/>
          </a:solidFill>
          <a:ln/>
        </p:spPr>
      </p:sp>
      <p:sp>
        <p:nvSpPr>
          <p:cNvPr id="11" name="Moment 2 circle"/>
          <p:cNvSpPr/>
          <p:nvPr/>
        </p:nvSpPr>
        <p:spPr>
          <a:xfrm>
            <a:off x="4572000" y="3154680"/>
            <a:ext cx="685800" cy="685800"/>
          </a:xfrm>
          <a:prstGeom prst="ellipse">
            <a:avLst/>
          </a:prstGeom>
          <a:solidFill>
            <a:schemeClr val="accent1"/>
          </a:solidFill>
          <a:ln/>
        </p:spPr>
      </p:sp>
      <p:pic>
        <p:nvPicPr>
          <p:cNvPr id="12" name="Moment 2 icon" descr="Moment 2">    </p:cNvPr>
          <p:cNvPicPr>
            <a:picLocks noChangeAspect="1"/>
          </p:cNvPicPr>
          <p:nvPr/>
        </p:nvPicPr>
        <p:blipFill>
          <a:blip r:embed="rId2"/>
          <a:stretch>
            <a:fillRect/>
          </a:stretch>
        </p:blipFill>
        <p:spPr>
          <a:xfrm>
            <a:off x="4743450" y="3326130"/>
            <a:ext cx="342900" cy="342900"/>
          </a:xfrm>
          <a:prstGeom prst="rect">
            <a:avLst/>
          </a:prstGeom>
        </p:spPr>
      </p:pic>
      <p:sp>
        <p:nvSpPr>
          <p:cNvPr id="13" name="Moment 2 title"/>
          <p:cNvSpPr txBox="1"/>
          <p:nvPr/>
        </p:nvSpPr>
        <p:spPr>
          <a:xfrm>
            <a:off x="457200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MMA, then straight to football</a:t>
            </a:r>
            <a:endParaRPr lang="en-US" sz="1700" dirty="0"/>
          </a:p>
        </p:txBody>
      </p:sp>
      <p:sp>
        <p:nvSpPr>
          <p:cNvPr id="14" name="Moment 2 text"/>
          <p:cNvSpPr txBox="1"/>
          <p:nvPr/>
        </p:nvSpPr>
        <p:spPr>
          <a:xfrm>
            <a:off x="457200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In a rush between sessions, with no time to cook and needing something quick and proper.</a:t>
            </a:r>
            <a:endParaRPr lang="en-US" sz="1400" dirty="0"/>
          </a:p>
        </p:txBody>
      </p:sp>
      <p:sp>
        <p:nvSpPr>
          <p:cNvPr id="15" name="Moment 3 card"/>
          <p:cNvSpPr/>
          <p:nvPr/>
        </p:nvSpPr>
        <p:spPr>
          <a:xfrm>
            <a:off x="8046720" y="2926080"/>
            <a:ext cx="3474720" cy="2651760"/>
          </a:xfrm>
          <a:prstGeom prst="roundRect">
            <a:avLst>
              <a:gd name="adj" fmla="val 4138"/>
            </a:avLst>
          </a:prstGeom>
          <a:solidFill>
            <a:schemeClr val="tx2"/>
          </a:solidFill>
          <a:ln/>
        </p:spPr>
      </p:sp>
      <p:sp>
        <p:nvSpPr>
          <p:cNvPr id="16" name="Moment 3 circle"/>
          <p:cNvSpPr/>
          <p:nvPr/>
        </p:nvSpPr>
        <p:spPr>
          <a:xfrm>
            <a:off x="8321040" y="3154680"/>
            <a:ext cx="685800" cy="685800"/>
          </a:xfrm>
          <a:prstGeom prst="ellipse">
            <a:avLst/>
          </a:prstGeom>
          <a:solidFill>
            <a:schemeClr val="accent1"/>
          </a:solidFill>
          <a:ln/>
        </p:spPr>
      </p:sp>
      <p:pic>
        <p:nvPicPr>
          <p:cNvPr id="17" name="Moment 3 icon" descr="Moment 3">    </p:cNvPr>
          <p:cNvPicPr>
            <a:picLocks noChangeAspect="1"/>
          </p:cNvPicPr>
          <p:nvPr/>
        </p:nvPicPr>
        <p:blipFill>
          <a:blip r:embed="rId3"/>
          <a:stretch>
            <a:fillRect/>
          </a:stretch>
        </p:blipFill>
        <p:spPr>
          <a:xfrm>
            <a:off x="8492490" y="3326130"/>
            <a:ext cx="342900" cy="342900"/>
          </a:xfrm>
          <a:prstGeom prst="rect">
            <a:avLst/>
          </a:prstGeom>
        </p:spPr>
      </p:pic>
      <p:sp>
        <p:nvSpPr>
          <p:cNvPr id="18" name="Moment 3 title"/>
          <p:cNvSpPr txBox="1"/>
          <p:nvPr/>
        </p:nvSpPr>
        <p:spPr>
          <a:xfrm>
            <a:off x="8321040" y="3977640"/>
            <a:ext cx="2926080" cy="548640"/>
          </a:xfrm>
          <a:prstGeom prst="rect">
            <a:avLst/>
          </a:prstGeom>
          <a:noFill/>
          <a:ln/>
        </p:spPr>
        <p:txBody>
          <a:bodyPr wrap="square" lIns="0" tIns="0" rIns="0" bIns="0" rtlCol="0" anchor="t"/>
          <a:lstStyle/>
          <a:p>
            <a:pPr indent="0" marL="0">
              <a:buNone/>
            </a:pPr>
            <a:r>
              <a:rPr lang="en-US" sz="1700" b="1" dirty="0">
                <a:solidFill>
                  <a:schemeClr val="bg1"/>
                </a:solidFill>
              </a:rPr>
              <a:t>Same-day weigh-in</a:t>
            </a:r>
            <a:endParaRPr lang="en-US" sz="1700" dirty="0"/>
          </a:p>
        </p:txBody>
      </p:sp>
      <p:sp>
        <p:nvSpPr>
          <p:cNvPr id="19" name="Moment 3 text"/>
          <p:cNvSpPr txBox="1"/>
          <p:nvPr/>
        </p:nvSpPr>
        <p:spPr>
          <a:xfrm>
            <a:off x="8321040" y="4526280"/>
            <a:ext cx="2926080" cy="960120"/>
          </a:xfrm>
          <a:prstGeom prst="rect">
            <a:avLst/>
          </a:prstGeom>
          <a:noFill/>
          <a:ln/>
        </p:spPr>
        <p:txBody>
          <a:bodyPr wrap="square" lIns="0" tIns="0" rIns="0" bIns="0" rtlCol="0" anchor="t"/>
          <a:lstStyle/>
          <a:p>
            <a:pPr indent="0" marL="0">
              <a:buNone/>
            </a:pPr>
            <a:r>
              <a:rPr lang="en-US" sz="1400" dirty="0">
                <a:solidFill>
                  <a:schemeClr val="bg1"/>
                </a:solidFill>
              </a:rPr>
              <a:t>Depleted after making weight, with a short window to refuel before competing.</a:t>
            </a:r>
            <a:endParaRPr lang="en-US" sz="1400" dirty="0"/>
          </a:p>
        </p:txBody>
      </p:sp>
      <p:sp>
        <p:nvSpPr>
          <p:cNvPr id="20" name="Branding note"/>
          <p:cNvSpPr txBox="1"/>
          <p:nvPr/>
        </p:nvSpPr>
        <p:spPr>
          <a:xfrm>
            <a:off x="548640" y="5806440"/>
            <a:ext cx="11064240" cy="365760"/>
          </a:xfrm>
          <a:prstGeom prst="rect">
            <a:avLst/>
          </a:prstGeom>
          <a:noFill/>
          <a:ln/>
        </p:spPr>
        <p:txBody>
          <a:bodyPr wrap="square" lIns="0" tIns="0" rIns="0" bIns="0" rtlCol="0" anchor="ctr"/>
          <a:lstStyle/>
          <a:p>
            <a:pPr indent="0" marL="0">
              <a:buNone/>
            </a:pPr>
            <a:r>
              <a:rPr lang="en-US" sz="1400" i="1" dirty="0">
                <a:solidFill>
                  <a:schemeClr val="accent3"/>
                </a:solidFill>
              </a:rPr>
              <a:t>Branding is in the works: working name only, nothing set yet.</a:t>
            </a:r>
            <a:endParaRPr lang="en-US" sz="14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Why it's needed: told to eat real food, no time to make it</a:t>
            </a:r>
            <a:endParaRPr lang="en-US" sz="3200" dirty="0"/>
          </a:p>
        </p:txBody>
      </p:sp>
      <p:sp>
        <p:nvSpPr>
          <p:cNvPr id="3" name="Stat 1 card"/>
          <p:cNvSpPr/>
          <p:nvPr/>
        </p:nvSpPr>
        <p:spPr>
          <a:xfrm>
            <a:off x="548640" y="1371600"/>
            <a:ext cx="2606040" cy="2926080"/>
          </a:xfrm>
          <a:prstGeom prst="roundRect">
            <a:avLst>
              <a:gd name="adj" fmla="val 4211"/>
            </a:avLst>
          </a:prstGeom>
          <a:solidFill>
            <a:schemeClr val="bg2"/>
          </a:solidFill>
          <a:ln/>
        </p:spPr>
      </p:sp>
      <p:sp>
        <p:nvSpPr>
          <p:cNvPr id="4" name="Stat 1 number"/>
          <p:cNvSpPr txBox="1"/>
          <p:nvPr/>
        </p:nvSpPr>
        <p:spPr>
          <a:xfrm>
            <a:off x="77724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80%</a:t>
            </a:r>
            <a:endParaRPr lang="en-US" sz="4800" dirty="0"/>
          </a:p>
        </p:txBody>
      </p:sp>
      <p:sp>
        <p:nvSpPr>
          <p:cNvPr id="5" name="Stat 1 text"/>
          <p:cNvSpPr txBox="1"/>
          <p:nvPr/>
        </p:nvSpPr>
        <p:spPr>
          <a:xfrm>
            <a:off x="77724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of Canadian university athletes say their schedule limits their ability to cook and prepare meals</a:t>
            </a:r>
            <a:endParaRPr lang="en-US" sz="1400" dirty="0"/>
          </a:p>
        </p:txBody>
      </p:sp>
      <p:sp>
        <p:nvSpPr>
          <p:cNvPr id="6" name="Stat 1 source"/>
          <p:cNvSpPr txBox="1"/>
          <p:nvPr/>
        </p:nvSpPr>
        <p:spPr>
          <a:xfrm>
            <a:off x="77724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Morassutti 2024, U Sports survey</a:t>
            </a:r>
            <a:endParaRPr lang="en-US" sz="1000" dirty="0"/>
          </a:p>
        </p:txBody>
      </p:sp>
      <p:sp>
        <p:nvSpPr>
          <p:cNvPr id="7" name="Stat 2 card"/>
          <p:cNvSpPr/>
          <p:nvPr/>
        </p:nvSpPr>
        <p:spPr>
          <a:xfrm>
            <a:off x="3360420" y="1371600"/>
            <a:ext cx="2606040" cy="2926080"/>
          </a:xfrm>
          <a:prstGeom prst="roundRect">
            <a:avLst>
              <a:gd name="adj" fmla="val 4211"/>
            </a:avLst>
          </a:prstGeom>
          <a:solidFill>
            <a:schemeClr val="bg2"/>
          </a:solidFill>
          <a:ln/>
        </p:spPr>
      </p:sp>
      <p:sp>
        <p:nvSpPr>
          <p:cNvPr id="8" name="Stat 2 number"/>
          <p:cNvSpPr txBox="1"/>
          <p:nvPr/>
        </p:nvSpPr>
        <p:spPr>
          <a:xfrm>
            <a:off x="358902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Carbs</a:t>
            </a:r>
            <a:endParaRPr lang="en-US" sz="4800" dirty="0"/>
          </a:p>
        </p:txBody>
      </p:sp>
      <p:sp>
        <p:nvSpPr>
          <p:cNvPr id="9" name="Stat 2 text"/>
          <p:cNvSpPr txBox="1"/>
          <p:nvPr/>
        </p:nvSpPr>
        <p:spPr>
          <a:xfrm>
            <a:off x="358902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are what athletes miss: team-sport athletes meet protein targets but fall short on carbohydrate and energy</a:t>
            </a:r>
            <a:endParaRPr lang="en-US" sz="1400" dirty="0"/>
          </a:p>
        </p:txBody>
      </p:sp>
      <p:sp>
        <p:nvSpPr>
          <p:cNvPr id="10" name="Stat 2 source"/>
          <p:cNvSpPr txBox="1"/>
          <p:nvPr/>
        </p:nvSpPr>
        <p:spPr>
          <a:xfrm>
            <a:off x="358902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Jenner et al. 2019, 21 studies</a:t>
            </a:r>
            <a:endParaRPr lang="en-US" sz="1000" dirty="0"/>
          </a:p>
        </p:txBody>
      </p:sp>
      <p:sp>
        <p:nvSpPr>
          <p:cNvPr id="11" name="Stat 3 card"/>
          <p:cNvSpPr/>
          <p:nvPr/>
        </p:nvSpPr>
        <p:spPr>
          <a:xfrm>
            <a:off x="6172200" y="1371600"/>
            <a:ext cx="2606040" cy="2926080"/>
          </a:xfrm>
          <a:prstGeom prst="roundRect">
            <a:avLst>
              <a:gd name="adj" fmla="val 4211"/>
            </a:avLst>
          </a:prstGeom>
          <a:solidFill>
            <a:schemeClr val="bg2"/>
          </a:solidFill>
          <a:ln/>
        </p:spPr>
      </p:sp>
      <p:sp>
        <p:nvSpPr>
          <p:cNvPr id="12" name="Stat 3 number"/>
          <p:cNvSpPr txBox="1"/>
          <p:nvPr/>
        </p:nvSpPr>
        <p:spPr>
          <a:xfrm>
            <a:off x="640080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#1</a:t>
            </a:r>
            <a:endParaRPr lang="en-US" sz="4800" dirty="0"/>
          </a:p>
        </p:txBody>
      </p:sp>
      <p:sp>
        <p:nvSpPr>
          <p:cNvPr id="13" name="Stat 3 text"/>
          <p:cNvSpPr txBox="1"/>
          <p:nvPr/>
        </p:nvSpPr>
        <p:spPr>
          <a:xfrm>
            <a:off x="640080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Whole-food products were the most preferred choice among 405 athletes</a:t>
            </a:r>
            <a:endParaRPr lang="en-US" sz="1400" dirty="0"/>
          </a:p>
        </p:txBody>
      </p:sp>
      <p:sp>
        <p:nvSpPr>
          <p:cNvPr id="14" name="Stat 3 source"/>
          <p:cNvSpPr txBox="1"/>
          <p:nvPr/>
        </p:nvSpPr>
        <p:spPr>
          <a:xfrm>
            <a:off x="640080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Carey et al. 2023</a:t>
            </a:r>
            <a:endParaRPr lang="en-US" sz="1000" dirty="0"/>
          </a:p>
        </p:txBody>
      </p:sp>
      <p:sp>
        <p:nvSpPr>
          <p:cNvPr id="15" name="Stat 4 card"/>
          <p:cNvSpPr/>
          <p:nvPr/>
        </p:nvSpPr>
        <p:spPr>
          <a:xfrm>
            <a:off x="8983980" y="1371600"/>
            <a:ext cx="2606040" cy="2926080"/>
          </a:xfrm>
          <a:prstGeom prst="roundRect">
            <a:avLst>
              <a:gd name="adj" fmla="val 4211"/>
            </a:avLst>
          </a:prstGeom>
          <a:solidFill>
            <a:schemeClr val="bg2"/>
          </a:solidFill>
          <a:ln/>
        </p:spPr>
      </p:sp>
      <p:sp>
        <p:nvSpPr>
          <p:cNvPr id="16" name="Stat 4 number"/>
          <p:cNvSpPr txBox="1"/>
          <p:nvPr/>
        </p:nvSpPr>
        <p:spPr>
          <a:xfrm>
            <a:off x="9212580" y="1554480"/>
            <a:ext cx="2194560" cy="914400"/>
          </a:xfrm>
          <a:prstGeom prst="rect">
            <a:avLst/>
          </a:prstGeom>
          <a:noFill/>
          <a:ln/>
        </p:spPr>
        <p:txBody>
          <a:bodyPr wrap="square" lIns="0" tIns="0" rIns="0" bIns="0" rtlCol="0" anchor="ctr"/>
          <a:lstStyle/>
          <a:p>
            <a:pPr indent="0" marL="0">
              <a:buNone/>
            </a:pPr>
            <a:r>
              <a:rPr lang="en-US" sz="4800" b="1" dirty="0">
                <a:solidFill>
                  <a:schemeClr val="accent1"/>
                </a:solidFill>
                <a:latin typeface="Arial" pitchFamily="34" charset="0"/>
                <a:ea typeface="Arial" pitchFamily="34" charset="-122"/>
                <a:cs typeface="Arial" pitchFamily="34" charset="-120"/>
              </a:rPr>
              <a:t>Tastier</a:t>
            </a:r>
            <a:endParaRPr lang="en-US" sz="4800" dirty="0"/>
          </a:p>
        </p:txBody>
      </p:sp>
      <p:sp>
        <p:nvSpPr>
          <p:cNvPr id="17" name="Stat 4 text"/>
          <p:cNvSpPr txBox="1"/>
          <p:nvPr/>
        </p:nvSpPr>
        <p:spPr>
          <a:xfrm>
            <a:off x="9212580" y="2514600"/>
            <a:ext cx="2194560" cy="1280160"/>
          </a:xfrm>
          <a:prstGeom prst="rect">
            <a:avLst/>
          </a:prstGeom>
          <a:noFill/>
          <a:ln/>
        </p:spPr>
        <p:txBody>
          <a:bodyPr wrap="square" lIns="0" tIns="0" rIns="0" bIns="0" rtlCol="0" anchor="t"/>
          <a:lstStyle/>
          <a:p>
            <a:pPr indent="0" marL="0">
              <a:buNone/>
            </a:pPr>
            <a:r>
              <a:rPr lang="en-US" sz="1400" dirty="0">
                <a:solidFill>
                  <a:schemeClr val="tx1"/>
                </a:solidFill>
              </a:rPr>
              <a:t>Athletes rate everyday food tastier, cheaper and safer. Sports foods win only on convenience</a:t>
            </a:r>
            <a:endParaRPr lang="en-US" sz="1400" dirty="0"/>
          </a:p>
        </p:txBody>
      </p:sp>
      <p:sp>
        <p:nvSpPr>
          <p:cNvPr id="18" name="Stat 4 source"/>
          <p:cNvSpPr txBox="1"/>
          <p:nvPr/>
        </p:nvSpPr>
        <p:spPr>
          <a:xfrm>
            <a:off x="9212580" y="3840480"/>
            <a:ext cx="2194560" cy="320040"/>
          </a:xfrm>
          <a:prstGeom prst="rect">
            <a:avLst/>
          </a:prstGeom>
          <a:noFill/>
          <a:ln/>
        </p:spPr>
        <p:txBody>
          <a:bodyPr wrap="square" lIns="0" tIns="0" rIns="0" bIns="0" rtlCol="0" anchor="ctr"/>
          <a:lstStyle/>
          <a:p>
            <a:pPr indent="0" marL="0">
              <a:buNone/>
            </a:pPr>
            <a:r>
              <a:rPr lang="en-US" sz="1000" i="1" dirty="0">
                <a:solidFill>
                  <a:schemeClr val="accent3"/>
                </a:solidFill>
              </a:rPr>
              <a:t>Forsyth &amp; Mantzioris 2023</a:t>
            </a:r>
            <a:endParaRPr lang="en-US" sz="1000" dirty="0"/>
          </a:p>
        </p:txBody>
      </p:sp>
      <p:sp>
        <p:nvSpPr>
          <p:cNvPr id="19" name="Gap box"/>
          <p:cNvSpPr/>
          <p:nvPr/>
        </p:nvSpPr>
        <p:spPr>
          <a:xfrm>
            <a:off x="548640" y="4572000"/>
            <a:ext cx="11064240" cy="1143000"/>
          </a:xfrm>
          <a:prstGeom prst="roundRect">
            <a:avLst>
              <a:gd name="adj" fmla="val 9600"/>
            </a:avLst>
          </a:prstGeom>
          <a:solidFill>
            <a:schemeClr val="accent4"/>
          </a:solidFill>
          <a:ln/>
        </p:spPr>
      </p:sp>
      <p:sp>
        <p:nvSpPr>
          <p:cNvPr id="20" name="Gap circle"/>
          <p:cNvSpPr/>
          <p:nvPr/>
        </p:nvSpPr>
        <p:spPr>
          <a:xfrm>
            <a:off x="777240" y="4800600"/>
            <a:ext cx="685800" cy="685800"/>
          </a:xfrm>
          <a:prstGeom prst="ellipse">
            <a:avLst/>
          </a:prstGeom>
          <a:solidFill>
            <a:schemeClr val="accent1"/>
          </a:solidFill>
          <a:ln/>
        </p:spPr>
      </p:sp>
      <p:pic>
        <p:nvPicPr>
          <p:cNvPr id="21" name="Gap icon" descr="Gap">    </p:cNvPr>
          <p:cNvPicPr>
            <a:picLocks noChangeAspect="1"/>
          </p:cNvPicPr>
          <p:nvPr/>
        </p:nvPicPr>
        <p:blipFill>
          <a:blip r:embed="rId1"/>
          <a:stretch>
            <a:fillRect/>
          </a:stretch>
        </p:blipFill>
        <p:spPr>
          <a:xfrm>
            <a:off x="948690" y="4972050"/>
            <a:ext cx="342900" cy="342900"/>
          </a:xfrm>
          <a:prstGeom prst="rect">
            <a:avLst/>
          </a:prstGeom>
        </p:spPr>
      </p:pic>
      <p:sp>
        <p:nvSpPr>
          <p:cNvPr id="22" name="Gap text"/>
          <p:cNvSpPr txBox="1"/>
          <p:nvPr/>
        </p:nvSpPr>
        <p:spPr>
          <a:xfrm>
            <a:off x="1645920" y="4663440"/>
            <a:ext cx="9784080" cy="960120"/>
          </a:xfrm>
          <a:prstGeom prst="rect">
            <a:avLst/>
          </a:prstGeom>
          <a:noFill/>
          <a:ln/>
        </p:spPr>
        <p:txBody>
          <a:bodyPr wrap="square" lIns="0" tIns="0" rIns="0" bIns="0" rtlCol="0" anchor="ctr"/>
          <a:lstStyle/>
          <a:p>
            <a:pPr indent="0" marL="0">
              <a:buNone/>
            </a:pPr>
            <a:r>
              <a:rPr lang="en-US" sz="1500" b="1" dirty="0">
                <a:solidFill>
                  <a:schemeClr val="tx1"/>
                </a:solidFill>
              </a:rPr>
              <a:t>The convenient options don't fit. </a:t>
            </a:r>
            <a:pPr indent="0" marL="0">
              <a:buNone/>
            </a:pPr>
            <a:r>
              <a:rPr lang="en-US" sz="1500" dirty="0">
                <a:solidFill>
                  <a:schemeClr val="tx1"/>
                </a:solidFill>
              </a:rPr>
              <a:t>Low-sugar bars rely on protein powders, sweeteners and sugar alcohols; "real-food" bars carry 10–28 g sugar and little protein. Only ~4% of UK adults get enough fibre.</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What athletes told me, and who it's for</a:t>
            </a:r>
            <a:endParaRPr lang="en-US" sz="3200" dirty="0"/>
          </a:p>
        </p:txBody>
      </p:sp>
      <p:sp>
        <p:nvSpPr>
          <p:cNvPr id="3" name="Spoken to card"/>
          <p:cNvSpPr/>
          <p:nvPr/>
        </p:nvSpPr>
        <p:spPr>
          <a:xfrm>
            <a:off x="548640" y="1325880"/>
            <a:ext cx="3931920" cy="2331720"/>
          </a:xfrm>
          <a:prstGeom prst="roundRect">
            <a:avLst>
              <a:gd name="adj" fmla="val 4706"/>
            </a:avLst>
          </a:prstGeom>
          <a:solidFill>
            <a:schemeClr val="bg2"/>
          </a:solidFill>
          <a:ln/>
        </p:spPr>
      </p:sp>
      <p:sp>
        <p:nvSpPr>
          <p:cNvPr id="4" name="Spoken to circle"/>
          <p:cNvSpPr/>
          <p:nvPr/>
        </p:nvSpPr>
        <p:spPr>
          <a:xfrm>
            <a:off x="777240" y="1508760"/>
            <a:ext cx="548640" cy="548640"/>
          </a:xfrm>
          <a:prstGeom prst="ellipse">
            <a:avLst/>
          </a:prstGeom>
          <a:solidFill>
            <a:schemeClr val="accent1"/>
          </a:solidFill>
          <a:ln/>
        </p:spPr>
      </p:sp>
      <p:pic>
        <p:nvPicPr>
          <p:cNvPr id="5" name="Spoken to icon" descr="Spoken to">    </p:cNvPr>
          <p:cNvPicPr>
            <a:picLocks noChangeAspect="1"/>
          </p:cNvPicPr>
          <p:nvPr/>
        </p:nvPicPr>
        <p:blipFill>
          <a:blip r:embed="rId1"/>
          <a:stretch>
            <a:fillRect/>
          </a:stretch>
        </p:blipFill>
        <p:spPr>
          <a:xfrm>
            <a:off x="914400" y="1645920"/>
            <a:ext cx="274320" cy="274320"/>
          </a:xfrm>
          <a:prstGeom prst="rect">
            <a:avLst/>
          </a:prstGeom>
        </p:spPr>
      </p:pic>
      <p:sp>
        <p:nvSpPr>
          <p:cNvPr id="6" name="Spoken to title"/>
          <p:cNvSpPr txBox="1"/>
          <p:nvPr/>
        </p:nvSpPr>
        <p:spPr>
          <a:xfrm>
            <a:off x="1463040" y="1508760"/>
            <a:ext cx="2834640" cy="548640"/>
          </a:xfrm>
          <a:prstGeom prst="rect">
            <a:avLst/>
          </a:prstGeom>
          <a:noFill/>
          <a:ln/>
        </p:spPr>
        <p:txBody>
          <a:bodyPr wrap="square" lIns="0" tIns="0" rIns="0" bIns="0" rtlCol="0" anchor="ctr"/>
          <a:lstStyle/>
          <a:p>
            <a:pPr indent="0" marL="0">
              <a:buNone/>
            </a:pPr>
            <a:r>
              <a:rPr lang="en-US" sz="1700" b="1" dirty="0">
                <a:solidFill>
                  <a:schemeClr val="tx1"/>
                </a:solidFill>
              </a:rPr>
              <a:t>Who I've spoken to</a:t>
            </a:r>
            <a:endParaRPr lang="en-US" sz="1700" dirty="0"/>
          </a:p>
        </p:txBody>
      </p:sp>
      <p:sp>
        <p:nvSpPr>
          <p:cNvPr id="7" name="Spoken to list"/>
          <p:cNvSpPr txBox="1"/>
          <p:nvPr/>
        </p:nvSpPr>
        <p:spPr>
          <a:xfrm>
            <a:off x="777240" y="2148840"/>
            <a:ext cx="3566160" cy="14173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10 athletes &amp; gym-goers: pro footballer, rugby player, bodybuilder, gym/football/padel</a:t>
            </a:r>
            <a:endParaRPr lang="en-US" sz="1400" dirty="0"/>
          </a:p>
          <a:p>
            <a:pPr marL="342900" indent="-342900">
              <a:spcAft>
                <a:spcPts val="400"/>
              </a:spcAft>
              <a:buSzPct val="100000"/>
              <a:buChar char="•"/>
            </a:pPr>
            <a:r>
              <a:rPr lang="en-US" sz="1400" dirty="0">
                <a:solidFill>
                  <a:schemeClr val="tx1"/>
                </a:solidFill>
              </a:rPr>
              <a:t>Team Durham S&amp;C coach + nutrition professor</a:t>
            </a:r>
            <a:endParaRPr lang="en-US" sz="1400" dirty="0"/>
          </a:p>
          <a:p>
            <a:pPr marL="342900" indent="-342900">
              <a:spcAft>
                <a:spcPts val="400"/>
              </a:spcAft>
              <a:buSzPct val="100000"/>
              <a:buChar char="•"/>
            </a:pPr>
            <a:r>
              <a:rPr lang="en-US" sz="1400" b="1" dirty="0">
                <a:solidFill>
                  <a:schemeClr val="accent1"/>
                </a:solidFill>
              </a:rPr>
              <a:t>Lined up: [add who's booked]</a:t>
            </a:r>
            <a:endParaRPr lang="en-US" sz="1400" dirty="0"/>
          </a:p>
        </p:txBody>
      </p:sp>
      <p:sp>
        <p:nvSpPr>
          <p:cNvPr id="8" name="Persona card"/>
          <p:cNvSpPr/>
          <p:nvPr/>
        </p:nvSpPr>
        <p:spPr>
          <a:xfrm>
            <a:off x="548640" y="3840480"/>
            <a:ext cx="3931920" cy="2377440"/>
          </a:xfrm>
          <a:prstGeom prst="roundRect">
            <a:avLst>
              <a:gd name="adj" fmla="val 4615"/>
            </a:avLst>
          </a:prstGeom>
          <a:solidFill>
            <a:schemeClr val="tx1"/>
          </a:solidFill>
          <a:ln/>
        </p:spPr>
      </p:sp>
      <p:sp>
        <p:nvSpPr>
          <p:cNvPr id="9" name="Persona circle"/>
          <p:cNvSpPr/>
          <p:nvPr/>
        </p:nvSpPr>
        <p:spPr>
          <a:xfrm>
            <a:off x="777240" y="4023360"/>
            <a:ext cx="548640" cy="548640"/>
          </a:xfrm>
          <a:prstGeom prst="ellipse">
            <a:avLst/>
          </a:prstGeom>
          <a:solidFill>
            <a:schemeClr val="accent1"/>
          </a:solidFill>
          <a:ln/>
        </p:spPr>
      </p:sp>
      <p:pic>
        <p:nvPicPr>
          <p:cNvPr id="10" name="Persona icon" descr="Persona">    </p:cNvPr>
          <p:cNvPicPr>
            <a:picLocks noChangeAspect="1"/>
          </p:cNvPicPr>
          <p:nvPr/>
        </p:nvPicPr>
        <p:blipFill>
          <a:blip r:embed="rId2"/>
          <a:stretch>
            <a:fillRect/>
          </a:stretch>
        </p:blipFill>
        <p:spPr>
          <a:xfrm>
            <a:off x="914400" y="4160520"/>
            <a:ext cx="274320" cy="274320"/>
          </a:xfrm>
          <a:prstGeom prst="rect">
            <a:avLst/>
          </a:prstGeom>
        </p:spPr>
      </p:pic>
      <p:sp>
        <p:nvSpPr>
          <p:cNvPr id="11" name="Persona title"/>
          <p:cNvSpPr txBox="1"/>
          <p:nvPr/>
        </p:nvSpPr>
        <p:spPr>
          <a:xfrm>
            <a:off x="1463040" y="4023360"/>
            <a:ext cx="2834640" cy="548640"/>
          </a:xfrm>
          <a:prstGeom prst="rect">
            <a:avLst/>
          </a:prstGeom>
          <a:noFill/>
          <a:ln/>
        </p:spPr>
        <p:txBody>
          <a:bodyPr wrap="square" lIns="0" tIns="0" rIns="0" bIns="0" rtlCol="0" anchor="ctr"/>
          <a:lstStyle/>
          <a:p>
            <a:pPr indent="0" marL="0">
              <a:buNone/>
            </a:pPr>
            <a:r>
              <a:rPr lang="en-US" sz="1700" b="1" dirty="0">
                <a:solidFill>
                  <a:schemeClr val="bg1"/>
                </a:solidFill>
              </a:rPr>
              <a:t>Early persona: Jack</a:t>
            </a:r>
            <a:endParaRPr lang="en-US" sz="1700" dirty="0"/>
          </a:p>
        </p:txBody>
      </p:sp>
      <p:sp>
        <p:nvSpPr>
          <p:cNvPr id="12" name="Persona list"/>
          <p:cNvSpPr txBox="1"/>
          <p:nvPr/>
        </p:nvSpPr>
        <p:spPr>
          <a:xfrm>
            <a:off x="777240" y="4663440"/>
            <a:ext cx="3566160" cy="14630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bg1"/>
                </a:solidFill>
              </a:rPr>
              <a:t>Trains most days: gym (8/10) + a sport (4/10)</a:t>
            </a:r>
            <a:endParaRPr lang="en-US" sz="1400" dirty="0"/>
          </a:p>
          <a:p>
            <a:pPr marL="342900" indent="-342900">
              <a:spcAft>
                <a:spcPts val="400"/>
              </a:spcAft>
              <a:buSzPct val="100000"/>
              <a:buChar char="•"/>
            </a:pPr>
            <a:r>
              <a:rPr lang="en-US" sz="1400" dirty="0">
                <a:solidFill>
                  <a:schemeClr val="bg1"/>
                </a:solidFill>
              </a:rPr>
              <a:t>Trying to eat well (8/10); trusts his coach</a:t>
            </a:r>
            <a:endParaRPr lang="en-US" sz="1400" dirty="0"/>
          </a:p>
          <a:p>
            <a:pPr marL="342900" indent="-342900">
              <a:spcAft>
                <a:spcPts val="400"/>
              </a:spcAft>
              <a:buSzPct val="100000"/>
              <a:buChar char="•"/>
            </a:pPr>
            <a:r>
              <a:rPr lang="en-US" sz="1400" dirty="0">
                <a:solidFill>
                  <a:schemeClr val="bg1"/>
                </a:solidFill>
              </a:rPr>
              <a:t>Often can't cook after training; worries about taste &amp; price</a:t>
            </a:r>
            <a:endParaRPr lang="en-US" sz="1400" dirty="0"/>
          </a:p>
        </p:txBody>
      </p:sp>
      <p:sp>
        <p:nvSpPr>
          <p:cNvPr id="13" name="What they said circle"/>
          <p:cNvSpPr/>
          <p:nvPr/>
        </p:nvSpPr>
        <p:spPr>
          <a:xfrm>
            <a:off x="4846320" y="1417320"/>
            <a:ext cx="548640" cy="548640"/>
          </a:xfrm>
          <a:prstGeom prst="ellipse">
            <a:avLst/>
          </a:prstGeom>
          <a:solidFill>
            <a:schemeClr val="accent1"/>
          </a:solidFill>
          <a:ln/>
        </p:spPr>
      </p:sp>
      <p:pic>
        <p:nvPicPr>
          <p:cNvPr id="14" name="What they said icon" descr="What they said">    </p:cNvPr>
          <p:cNvPicPr>
            <a:picLocks noChangeAspect="1"/>
          </p:cNvPicPr>
          <p:nvPr/>
        </p:nvPicPr>
        <p:blipFill>
          <a:blip r:embed="rId3"/>
          <a:stretch>
            <a:fillRect/>
          </a:stretch>
        </p:blipFill>
        <p:spPr>
          <a:xfrm>
            <a:off x="4983480" y="1554480"/>
            <a:ext cx="274320" cy="274320"/>
          </a:xfrm>
          <a:prstGeom prst="rect">
            <a:avLst/>
          </a:prstGeom>
        </p:spPr>
      </p:pic>
      <p:sp>
        <p:nvSpPr>
          <p:cNvPr id="15" name="Row 1 title"/>
          <p:cNvSpPr txBox="1"/>
          <p:nvPr/>
        </p:nvSpPr>
        <p:spPr>
          <a:xfrm>
            <a:off x="5577840" y="1325880"/>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What they said</a:t>
            </a:r>
            <a:endParaRPr lang="en-US" sz="1600" dirty="0"/>
          </a:p>
        </p:txBody>
      </p:sp>
      <p:sp>
        <p:nvSpPr>
          <p:cNvPr id="16" name="Row 1 text"/>
          <p:cNvSpPr txBox="1"/>
          <p:nvPr/>
        </p:nvSpPr>
        <p:spPr>
          <a:xfrm>
            <a:off x="5577840" y="1673352"/>
            <a:ext cx="6035040" cy="658368"/>
          </a:xfrm>
          <a:prstGeom prst="rect">
            <a:avLst/>
          </a:prstGeom>
          <a:noFill/>
          <a:ln/>
        </p:spPr>
        <p:txBody>
          <a:bodyPr wrap="square" lIns="0" tIns="0" rIns="0" bIns="0" rtlCol="0" anchor="t"/>
          <a:lstStyle/>
          <a:p>
            <a:pPr indent="0" marL="0">
              <a:buNone/>
            </a:pPr>
            <a:r>
              <a:rPr lang="en-US" sz="1400" dirty="0">
                <a:solidFill>
                  <a:schemeClr val="tx1"/>
                </a:solidFill>
              </a:rPr>
              <a:t>7/10 liked the idea. They want high protein (4/10) and real food (4/10). Coach: whole foods, good taste, high protein:carb ratio, some fibre.</a:t>
            </a:r>
            <a:endParaRPr lang="en-US" sz="1400" dirty="0"/>
          </a:p>
        </p:txBody>
      </p:sp>
      <p:sp>
        <p:nvSpPr>
          <p:cNvPr id="17" name="Problems with what's out there circle"/>
          <p:cNvSpPr/>
          <p:nvPr/>
        </p:nvSpPr>
        <p:spPr>
          <a:xfrm>
            <a:off x="4846320" y="2496312"/>
            <a:ext cx="548640" cy="548640"/>
          </a:xfrm>
          <a:prstGeom prst="ellipse">
            <a:avLst/>
          </a:prstGeom>
          <a:solidFill>
            <a:schemeClr val="accent1"/>
          </a:solidFill>
          <a:ln/>
        </p:spPr>
      </p:sp>
      <p:pic>
        <p:nvPicPr>
          <p:cNvPr id="18" name="Problems with what's out there icon" descr="Problems with what's out there">    </p:cNvPr>
          <p:cNvPicPr>
            <a:picLocks noChangeAspect="1"/>
          </p:cNvPicPr>
          <p:nvPr/>
        </p:nvPicPr>
        <p:blipFill>
          <a:blip r:embed="rId4"/>
          <a:stretch>
            <a:fillRect/>
          </a:stretch>
        </p:blipFill>
        <p:spPr>
          <a:xfrm>
            <a:off x="4983480" y="2633472"/>
            <a:ext cx="274320" cy="274320"/>
          </a:xfrm>
          <a:prstGeom prst="rect">
            <a:avLst/>
          </a:prstGeom>
        </p:spPr>
      </p:pic>
      <p:sp>
        <p:nvSpPr>
          <p:cNvPr id="19" name="Row 2 title"/>
          <p:cNvSpPr txBox="1"/>
          <p:nvPr/>
        </p:nvSpPr>
        <p:spPr>
          <a:xfrm>
            <a:off x="5577840" y="2404872"/>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Problems with what's out there</a:t>
            </a:r>
            <a:endParaRPr lang="en-US" sz="1600" dirty="0"/>
          </a:p>
        </p:txBody>
      </p:sp>
      <p:sp>
        <p:nvSpPr>
          <p:cNvPr id="20" name="Row 2 text"/>
          <p:cNvSpPr txBox="1"/>
          <p:nvPr/>
        </p:nvSpPr>
        <p:spPr>
          <a:xfrm>
            <a:off x="5577840" y="2752344"/>
            <a:ext cx="6035040" cy="658368"/>
          </a:xfrm>
          <a:prstGeom prst="rect">
            <a:avLst/>
          </a:prstGeom>
          <a:noFill/>
          <a:ln/>
        </p:spPr>
        <p:txBody>
          <a:bodyPr wrap="square" lIns="0" tIns="0" rIns="0" bIns="0" rtlCol="0" anchor="t"/>
          <a:lstStyle/>
          <a:p>
            <a:pPr indent="0" marL="0">
              <a:buNone/>
            </a:pPr>
            <a:r>
              <a:rPr lang="en-US" sz="1400" dirty="0">
                <a:solidFill>
                  <a:schemeClr val="tx1"/>
                </a:solidFill>
              </a:rPr>
              <a:t>Too expensive (3/10), taste is a gamble (3/10), "bad ingredients". Boxes of Grenade bars given to students went uneaten.</a:t>
            </a:r>
            <a:endParaRPr lang="en-US" sz="1400" dirty="0"/>
          </a:p>
        </p:txBody>
      </p:sp>
      <p:sp>
        <p:nvSpPr>
          <p:cNvPr id="21" name="Why they'd switch circle"/>
          <p:cNvSpPr/>
          <p:nvPr/>
        </p:nvSpPr>
        <p:spPr>
          <a:xfrm>
            <a:off x="4846320" y="3575304"/>
            <a:ext cx="548640" cy="548640"/>
          </a:xfrm>
          <a:prstGeom prst="ellipse">
            <a:avLst/>
          </a:prstGeom>
          <a:solidFill>
            <a:schemeClr val="accent1"/>
          </a:solidFill>
          <a:ln/>
        </p:spPr>
      </p:sp>
      <p:pic>
        <p:nvPicPr>
          <p:cNvPr id="22" name="Why they'd switch icon" descr="Why they'd switch">    </p:cNvPr>
          <p:cNvPicPr>
            <a:picLocks noChangeAspect="1"/>
          </p:cNvPicPr>
          <p:nvPr/>
        </p:nvPicPr>
        <p:blipFill>
          <a:blip r:embed="rId5"/>
          <a:stretch>
            <a:fillRect/>
          </a:stretch>
        </p:blipFill>
        <p:spPr>
          <a:xfrm>
            <a:off x="4983480" y="3712464"/>
            <a:ext cx="274320" cy="274320"/>
          </a:xfrm>
          <a:prstGeom prst="rect">
            <a:avLst/>
          </a:prstGeom>
        </p:spPr>
      </p:pic>
      <p:sp>
        <p:nvSpPr>
          <p:cNvPr id="23" name="Row 3 title"/>
          <p:cNvSpPr txBox="1"/>
          <p:nvPr/>
        </p:nvSpPr>
        <p:spPr>
          <a:xfrm>
            <a:off x="5577840" y="3483864"/>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they'd switch</a:t>
            </a:r>
            <a:endParaRPr lang="en-US" sz="1600" dirty="0"/>
          </a:p>
        </p:txBody>
      </p:sp>
      <p:sp>
        <p:nvSpPr>
          <p:cNvPr id="24" name="Row 3 text"/>
          <p:cNvSpPr txBox="1"/>
          <p:nvPr/>
        </p:nvSpPr>
        <p:spPr>
          <a:xfrm>
            <a:off x="5577840" y="3831336"/>
            <a:ext cx="6035040" cy="658368"/>
          </a:xfrm>
          <a:prstGeom prst="rect">
            <a:avLst/>
          </a:prstGeom>
          <a:noFill/>
          <a:ln/>
        </p:spPr>
        <p:txBody>
          <a:bodyPr wrap="square" lIns="0" tIns="0" rIns="0" bIns="0" rtlCol="0" anchor="t"/>
          <a:lstStyle/>
          <a:p>
            <a:pPr indent="0" marL="0">
              <a:buNone/>
            </a:pPr>
            <a:r>
              <a:rPr lang="en-US" sz="1400" dirty="0">
                <a:solidFill>
                  <a:schemeClr val="tx1"/>
                </a:solidFill>
              </a:rPr>
              <a:t>Real food their coach approves of, with protein and carbs in one, made to taste good.</a:t>
            </a:r>
            <a:endParaRPr lang="en-US" sz="1400" dirty="0"/>
          </a:p>
        </p:txBody>
      </p:sp>
      <p:sp>
        <p:nvSpPr>
          <p:cNvPr id="25" name="Why it's a migraine, not a headache circle"/>
          <p:cNvSpPr/>
          <p:nvPr/>
        </p:nvSpPr>
        <p:spPr>
          <a:xfrm>
            <a:off x="4846320" y="4654296"/>
            <a:ext cx="548640" cy="548640"/>
          </a:xfrm>
          <a:prstGeom prst="ellipse">
            <a:avLst/>
          </a:prstGeom>
          <a:solidFill>
            <a:schemeClr val="accent1"/>
          </a:solidFill>
          <a:ln/>
        </p:spPr>
      </p:sp>
      <p:pic>
        <p:nvPicPr>
          <p:cNvPr id="26" name="Why it's a migraine, not a headache icon" descr="Why it's a migraine, not a headache">    </p:cNvPr>
          <p:cNvPicPr>
            <a:picLocks noChangeAspect="1"/>
          </p:cNvPicPr>
          <p:nvPr/>
        </p:nvPicPr>
        <p:blipFill>
          <a:blip r:embed="rId6"/>
          <a:stretch>
            <a:fillRect/>
          </a:stretch>
        </p:blipFill>
        <p:spPr>
          <a:xfrm>
            <a:off x="4983480" y="4791456"/>
            <a:ext cx="274320" cy="274320"/>
          </a:xfrm>
          <a:prstGeom prst="rect">
            <a:avLst/>
          </a:prstGeom>
        </p:spPr>
      </p:pic>
      <p:sp>
        <p:nvSpPr>
          <p:cNvPr id="27" name="Row 4 title"/>
          <p:cNvSpPr txBox="1"/>
          <p:nvPr/>
        </p:nvSpPr>
        <p:spPr>
          <a:xfrm>
            <a:off x="5577840" y="4562856"/>
            <a:ext cx="6035040" cy="347472"/>
          </a:xfrm>
          <a:prstGeom prst="rect">
            <a:avLst/>
          </a:prstGeom>
          <a:noFill/>
          <a:ln/>
        </p:spPr>
        <p:txBody>
          <a:bodyPr wrap="square" lIns="0" tIns="0" rIns="0" bIns="0" rtlCol="0" anchor="ctr"/>
          <a:lstStyle/>
          <a:p>
            <a:pPr indent="0" marL="0">
              <a:buNone/>
            </a:pPr>
            <a:r>
              <a:rPr lang="en-US" sz="1600" b="1" dirty="0">
                <a:solidFill>
                  <a:schemeClr val="accent1"/>
                </a:solidFill>
              </a:rPr>
              <a:t>Why it's a migraine, not a headache</a:t>
            </a:r>
            <a:endParaRPr lang="en-US" sz="1600" dirty="0"/>
          </a:p>
        </p:txBody>
      </p:sp>
      <p:sp>
        <p:nvSpPr>
          <p:cNvPr id="28" name="Row 4 text"/>
          <p:cNvSpPr txBox="1"/>
          <p:nvPr/>
        </p:nvSpPr>
        <p:spPr>
          <a:xfrm>
            <a:off x="5577840" y="4910328"/>
            <a:ext cx="6035040" cy="658368"/>
          </a:xfrm>
          <a:prstGeom prst="rect">
            <a:avLst/>
          </a:prstGeom>
          <a:noFill/>
          <a:ln/>
        </p:spPr>
        <p:txBody>
          <a:bodyPr wrap="square" lIns="0" tIns="0" rIns="0" bIns="0" rtlCol="0" anchor="t"/>
          <a:lstStyle/>
          <a:p>
            <a:pPr indent="0" marL="0">
              <a:buNone/>
            </a:pPr>
            <a:r>
              <a:rPr lang="en-US" sz="1400" dirty="0">
                <a:solidFill>
                  <a:schemeClr val="tx1"/>
                </a:solidFill>
              </a:rPr>
              <a:t>It hits after every session, twice a day for some. On the road, at work or on weigh-in day there's no time to cook, and nothing convenient fits.</a:t>
            </a:r>
            <a:endParaRPr lang="en-US" sz="1400" dirty="0"/>
          </a:p>
        </p:txBody>
      </p:sp>
      <p:sp>
        <p:nvSpPr>
          <p:cNvPr id="29" name="Still to prove"/>
          <p:cNvSpPr txBox="1"/>
          <p:nvPr/>
        </p:nvSpPr>
        <p:spPr>
          <a:xfrm>
            <a:off x="4846320" y="5669280"/>
            <a:ext cx="6766560" cy="548640"/>
          </a:xfrm>
          <a:prstGeom prst="rect">
            <a:avLst/>
          </a:prstGeom>
          <a:noFill/>
          <a:ln/>
        </p:spPr>
        <p:txBody>
          <a:bodyPr wrap="square" lIns="0" tIns="0" rIns="0" bIns="0" rtlCol="0" anchor="t"/>
          <a:lstStyle/>
          <a:p>
            <a:pPr indent="0" marL="0">
              <a:buNone/>
            </a:pPr>
            <a:r>
              <a:rPr lang="en-US" sz="1300" i="1" dirty="0">
                <a:solidFill>
                  <a:schemeClr val="accent3"/>
                </a:solidFill>
              </a:rPr>
              <a:t>Still to prove: 0/10 have committed yet, and some gym-goers just wait for a meal, so the focus is athletes who train hard.</a:t>
            </a:r>
            <a:endParaRPr lang="en-US" sz="13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Competition: nobody gets 20 g protein from real food</a:t>
            </a:r>
            <a:endParaRPr lang="en-US" sz="3200" dirty="0"/>
          </a:p>
        </p:txBody>
      </p:sp>
      <p:graphicFrame>
        <p:nvGraphicFramePr>
          <p:cNvPr id="5" name="Competitor table"/>
          <p:cNvGraphicFramePr>
            <a:graphicFrameLocks noGrp="1"/>
          </p:cNvGraphicFramePr>
          <p:nvPr>
            <p:extLst>
              <p:ext uri="{D42A27DB-BD31-4B8C-83A1-F6EECF244321}">
                <p14:modId xmlns:p14="http://schemas.microsoft.com/office/powerpoint/2010/main" val="1579011935"/>
              </p:ext>
            </p:extLst>
          </p:nvPr>
        </p:nvGraphicFramePr>
        <p:xfrm>
          <a:off x="548640" y="1280160"/>
          <a:ext cx="7680960" cy="914400"/>
        </p:xfrm>
        <a:graphic>
          <a:graphicData uri="http://schemas.openxmlformats.org/drawingml/2006/table">
            <a:tbl>
              <a:tblPr/>
              <a:tblGrid>
                <a:gridCol w="2514600"/>
                <a:gridCol w="868680"/>
                <a:gridCol w="868680"/>
                <a:gridCol w="777240"/>
                <a:gridCol w="2651760"/>
              </a:tblGrid>
              <a:tr h="475488">
                <a:tc>
                  <a:txBody>
                    <a:bodyPr/>
                    <a:lstStyle/>
                    <a:p>
                      <a:pPr indent="0" marL="0">
                        <a:buNone/>
                      </a:pPr>
                      <a:r>
                        <a:rPr lang="en-US" sz="1200" b="1" dirty="0">
                          <a:solidFill>
                            <a:schemeClr val="bg1"/>
                          </a:solidFill>
                        </a:rPr>
                        <a:t>Bar (per bar)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Carbs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What it's made with</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tx1"/>
                    </a:solidFill>
                  </a:tcPr>
                </a:tc>
              </a:tr>
              <a:tr h="475488">
                <a:tc>
                  <a:txBody>
                    <a:bodyPr/>
                    <a:lstStyle/>
                    <a:p>
                      <a:pPr indent="0" marL="0">
                        <a:buNone/>
                      </a:pPr>
                      <a:r>
                        <a:rPr lang="en-US" sz="1200" dirty="0">
                          <a:solidFill>
                            <a:schemeClr val="tx1"/>
                          </a:solidFill>
                        </a:rPr>
                        <a:t>Myprotein THE Re-Fuel (80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(1st ingredient), whey, glycerol</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Amacx Recovery (55 g, XMiles)</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Soy/whey/milk protein mix, glucose-fructose syrup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HIGH5 Recovery Protein (50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19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invert sugar, sugar, milk &amp; soy protein</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Styrkr BAR+ Recovery (74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Glucose syrup, soy protein isolate,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Huel Bar (55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15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Maltitol, rice &amp; pea protein, corn fibre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dirty="0">
                          <a:solidFill>
                            <a:schemeClr val="tx1"/>
                          </a:solidFill>
                        </a:rPr>
                        <a:t>Veloforte Forza (70 g, "real food")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12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Apricot, almond, egg white, cane sugar</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bg1"/>
                    </a:solidFill>
                  </a:tcPr>
                </a:tc>
              </a:tr>
              <a:tr h="475488">
                <a:tc>
                  <a:txBody>
                    <a:bodyPr/>
                    <a:lstStyle/>
                    <a:p>
                      <a:pPr indent="0" marL="0">
                        <a:buNone/>
                      </a:pPr>
                      <a:r>
                        <a:rPr lang="en-US" sz="1200" b="1" dirty="0">
                          <a:solidFill>
                            <a:schemeClr val="bg1"/>
                          </a:solidFill>
                        </a:rPr>
                        <a:t>Our bar (calculated)</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~20–21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~28–31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~7–8 g</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Eggs, quark, oats, honey or banana. Nothing else</a:t>
                      </a:r>
                      <a:endParaRPr lang="en-US" sz="1200" dirty="0"/>
                    </a:p>
                  </a:txBody>
                  <a:tcPr marL="54864" marR="54864" marT="54864" marB="54864" anchor="ctr">
                    <a:lnL w="9525" cap="flat" cmpd="sng" algn="ctr">
                      <a:solidFill>
                        <a:srgbClr val="E5E7EB"/>
                      </a:solidFill>
                      <a:prstDash val="solid"/>
                      <a:round/>
                      <a:headEnd type="none" w="med" len="med"/>
                      <a:tailEnd type="none" w="med" len="med"/>
                    </a:lnL>
                    <a:lnR w="9525" cap="flat" cmpd="sng" algn="ctr">
                      <a:solidFill>
                        <a:srgbClr val="E5E7EB"/>
                      </a:solidFill>
                      <a:prstDash val="solid"/>
                      <a:round/>
                      <a:headEnd type="none" w="med" len="med"/>
                      <a:tailEnd type="none" w="med" len="med"/>
                    </a:lnR>
                    <a:lnT w="9525" cap="flat" cmpd="sng" algn="ctr">
                      <a:solidFill>
                        <a:srgbClr val="E5E7EB"/>
                      </a:solidFill>
                      <a:prstDash val="solid"/>
                      <a:round/>
                      <a:headEnd type="none" w="med" len="med"/>
                      <a:tailEnd type="none" w="med" len="med"/>
                    </a:lnT>
                    <a:lnB w="9525" cap="flat" cmpd="sng" algn="ctr">
                      <a:solidFill>
                        <a:srgbClr val="E5E7EB"/>
                      </a:solidFill>
                      <a:prstDash val="solid"/>
                      <a:round/>
                      <a:headEnd type="none" w="med" len="med"/>
                      <a:tailEnd type="none" w="med" len="med"/>
                    </a:lnB>
                    <a:solidFill>
                      <a:schemeClr val="accent1"/>
                    </a:solidFill>
                  </a:tcPr>
                </a:tc>
              </a:tr>
            </a:tbl>
          </a:graphicData>
        </a:graphic>
      </p:graphicFrame>
      <p:sp>
        <p:nvSpPr>
          <p:cNvPr id="4" name="Gap card"/>
          <p:cNvSpPr/>
          <p:nvPr/>
        </p:nvSpPr>
        <p:spPr>
          <a:xfrm>
            <a:off x="8503920" y="1280160"/>
            <a:ext cx="3108960" cy="3794760"/>
          </a:xfrm>
          <a:prstGeom prst="roundRect">
            <a:avLst>
              <a:gd name="adj" fmla="val 3529"/>
            </a:avLst>
          </a:prstGeom>
          <a:solidFill>
            <a:schemeClr val="bg2"/>
          </a:solidFill>
          <a:ln/>
        </p:spPr>
      </p:sp>
      <p:sp>
        <p:nvSpPr>
          <p:cNvPr id="5" name="What we have circle"/>
          <p:cNvSpPr/>
          <p:nvPr/>
        </p:nvSpPr>
        <p:spPr>
          <a:xfrm>
            <a:off x="8732520" y="1463040"/>
            <a:ext cx="548640" cy="548640"/>
          </a:xfrm>
          <a:prstGeom prst="ellipse">
            <a:avLst/>
          </a:prstGeom>
          <a:solidFill>
            <a:schemeClr val="accent2"/>
          </a:solidFill>
          <a:ln/>
        </p:spPr>
      </p:sp>
      <p:pic>
        <p:nvPicPr>
          <p:cNvPr id="6" name="What we have icon" descr="What we have">    </p:cNvPr>
          <p:cNvPicPr>
            <a:picLocks noChangeAspect="1"/>
          </p:cNvPicPr>
          <p:nvPr/>
        </p:nvPicPr>
        <p:blipFill>
          <a:blip r:embed="rId1"/>
          <a:stretch>
            <a:fillRect/>
          </a:stretch>
        </p:blipFill>
        <p:spPr>
          <a:xfrm>
            <a:off x="8869680" y="1600200"/>
            <a:ext cx="274320" cy="274320"/>
          </a:xfrm>
          <a:prstGeom prst="rect">
            <a:avLst/>
          </a:prstGeom>
        </p:spPr>
      </p:pic>
      <p:sp>
        <p:nvSpPr>
          <p:cNvPr id="7" name="Gap card title"/>
          <p:cNvSpPr txBox="1"/>
          <p:nvPr/>
        </p:nvSpPr>
        <p:spPr>
          <a:xfrm>
            <a:off x="8732520" y="2103120"/>
            <a:ext cx="2743200" cy="640080"/>
          </a:xfrm>
          <a:prstGeom prst="rect">
            <a:avLst/>
          </a:prstGeom>
          <a:noFill/>
          <a:ln/>
        </p:spPr>
        <p:txBody>
          <a:bodyPr wrap="square" lIns="0" tIns="0" rIns="0" bIns="0" rtlCol="0" anchor="t"/>
          <a:lstStyle/>
          <a:p>
            <a:pPr indent="0" marL="0">
              <a:buNone/>
            </a:pPr>
            <a:r>
              <a:rPr lang="en-US" sz="1600" b="1" dirty="0">
                <a:solidFill>
                  <a:schemeClr val="tx1"/>
                </a:solidFill>
              </a:rPr>
              <a:t>What they don't have, and we do</a:t>
            </a:r>
            <a:endParaRPr lang="en-US" sz="1600" dirty="0"/>
          </a:p>
        </p:txBody>
      </p:sp>
      <p:sp>
        <p:nvSpPr>
          <p:cNvPr id="8" name="Gap card list"/>
          <p:cNvSpPr txBox="1"/>
          <p:nvPr/>
        </p:nvSpPr>
        <p:spPr>
          <a:xfrm>
            <a:off x="8732520" y="2788920"/>
            <a:ext cx="2743200" cy="2148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~20 g protein from real food</a:t>
            </a:r>
            <a:endParaRPr lang="en-US" sz="1400" dirty="0"/>
          </a:p>
          <a:p>
            <a:pPr marL="342900" indent="-342900">
              <a:spcAft>
                <a:spcPts val="600"/>
              </a:spcAft>
              <a:buSzPct val="100000"/>
              <a:buChar char="•"/>
            </a:pPr>
            <a:r>
              <a:rPr lang="en-US" sz="1400" dirty="0">
                <a:solidFill>
                  <a:schemeClr val="tx1"/>
                </a:solidFill>
              </a:rPr>
              <a:t>Real carbs from oats</a:t>
            </a:r>
            <a:endParaRPr lang="en-US" sz="1400" dirty="0"/>
          </a:p>
          <a:p>
            <a:pPr marL="342900" indent="-342900">
              <a:spcAft>
                <a:spcPts val="600"/>
              </a:spcAft>
              <a:buSzPct val="100000"/>
              <a:buChar char="•"/>
            </a:pPr>
            <a:r>
              <a:rPr lang="en-US" sz="1400" dirty="0">
                <a:solidFill>
                  <a:schemeClr val="tx1"/>
                </a:solidFill>
              </a:rPr>
              <a:t>No powders, sweeteners or sugar alcohols</a:t>
            </a:r>
            <a:endParaRPr lang="en-US" sz="1400" dirty="0"/>
          </a:p>
          <a:p>
            <a:pPr marL="342900" indent="-342900">
              <a:spcAft>
                <a:spcPts val="600"/>
              </a:spcAft>
              <a:buSzPct val="100000"/>
              <a:buChar char="•"/>
            </a:pPr>
            <a:r>
              <a:rPr lang="en-US" sz="1400" dirty="0">
                <a:solidFill>
                  <a:schemeClr val="tx1"/>
                </a:solidFill>
              </a:rPr>
              <a:t>Baked fresh</a:t>
            </a:r>
            <a:endParaRPr lang="en-US" sz="1400" dirty="0"/>
          </a:p>
        </p:txBody>
      </p:sp>
      <p:sp>
        <p:nvSpPr>
          <p:cNvPr id="9" name="Market summary"/>
          <p:cNvSpPr txBox="1"/>
          <p:nvPr/>
        </p:nvSpPr>
        <p:spPr>
          <a:xfrm>
            <a:off x="548640" y="5257800"/>
            <a:ext cx="11064240" cy="502920"/>
          </a:xfrm>
          <a:prstGeom prst="rect">
            <a:avLst/>
          </a:prstGeom>
          <a:noFill/>
          <a:ln/>
        </p:spPr>
        <p:txBody>
          <a:bodyPr wrap="square" lIns="0" tIns="0" rIns="0" bIns="0" rtlCol="0" anchor="ctr"/>
          <a:lstStyle/>
          <a:p>
            <a:pPr indent="0" marL="0">
              <a:buNone/>
            </a:pPr>
            <a:r>
              <a:rPr lang="en-US" sz="1400" b="1" dirty="0">
                <a:solidFill>
                  <a:schemeClr val="tx1"/>
                </a:solidFill>
              </a:rPr>
              <a:t>Checked 32+ UK bars: the high-protein ones use powders and sweeteners; the real-food ones are high in sugar, low in protein.</a:t>
            </a:r>
            <a:endParaRPr lang="en-US" sz="1400" dirty="0"/>
          </a:p>
        </p:txBody>
      </p:sp>
      <p:sp>
        <p:nvSpPr>
          <p:cNvPr id="10" name="Table source"/>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000" i="1" dirty="0">
                <a:solidFill>
                  <a:schemeClr val="accent3"/>
                </a:solidFill>
              </a:rPr>
              <a:t>Per bar, from brand/retailer pages, Oct 2026. n/p = not published where checked. Our figures are calculated from ingredients, not lab-tested.</a:t>
            </a:r>
            <a:endParaRPr lang="en-US" sz="10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rPr>
              <a:t>How it works: baked fresh, like Simmer Eats</a:t>
            </a:r>
            <a:endParaRPr lang="en-US" sz="3200" dirty="0"/>
          </a:p>
        </p:txBody>
      </p:sp>
      <p:sp>
        <p:nvSpPr>
          <p:cNvPr id="3" name="Flavours heading"/>
          <p:cNvSpPr txBox="1"/>
          <p:nvPr/>
        </p:nvSpPr>
        <p:spPr>
          <a:xfrm>
            <a:off x="548640" y="1280160"/>
            <a:ext cx="4572000" cy="365760"/>
          </a:xfrm>
          <a:prstGeom prst="rect">
            <a:avLst/>
          </a:prstGeom>
          <a:noFill/>
          <a:ln/>
        </p:spPr>
        <p:txBody>
          <a:bodyPr wrap="square" lIns="0" tIns="0" rIns="0" bIns="0" rtlCol="0" anchor="ctr"/>
          <a:lstStyle/>
          <a:p>
            <a:pPr indent="0" marL="0">
              <a:buNone/>
            </a:pPr>
            <a:r>
              <a:rPr lang="en-US" sz="1600" b="1" dirty="0">
                <a:solidFill>
                  <a:schemeClr val="tx1"/>
                </a:solidFill>
              </a:rPr>
              <a:t>Three flavours in testing</a:t>
            </a:r>
            <a:endParaRPr lang="en-US" sz="1600" dirty="0"/>
          </a:p>
        </p:txBody>
      </p:sp>
      <p:sp>
        <p:nvSpPr>
          <p:cNvPr id="4" name="Flavour 1"/>
          <p:cNvSpPr/>
          <p:nvPr/>
        </p:nvSpPr>
        <p:spPr>
          <a:xfrm>
            <a:off x="548640" y="1737360"/>
            <a:ext cx="2148840" cy="548640"/>
          </a:xfrm>
          <a:prstGeom prst="roundRect">
            <a:avLst>
              <a:gd name="adj" fmla="val 50000"/>
            </a:avLst>
          </a:prstGeom>
          <a:solidFill>
            <a:schemeClr val="accent4"/>
          </a:solidFill>
          <a:ln/>
        </p:spPr>
      </p:sp>
      <p:sp>
        <p:nvSpPr>
          <p:cNvPr id="5" name="Flavour 1 label"/>
          <p:cNvSpPr txBox="1"/>
          <p:nvPr/>
        </p:nvSpPr>
        <p:spPr>
          <a:xfrm>
            <a:off x="54864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Chocolate Peanut Butter</a:t>
            </a:r>
            <a:endParaRPr lang="en-US" sz="1400" dirty="0"/>
          </a:p>
        </p:txBody>
      </p:sp>
      <p:sp>
        <p:nvSpPr>
          <p:cNvPr id="6" name="Flavour 2"/>
          <p:cNvSpPr/>
          <p:nvPr/>
        </p:nvSpPr>
        <p:spPr>
          <a:xfrm>
            <a:off x="2880360" y="1737360"/>
            <a:ext cx="2148840" cy="548640"/>
          </a:xfrm>
          <a:prstGeom prst="roundRect">
            <a:avLst>
              <a:gd name="adj" fmla="val 50000"/>
            </a:avLst>
          </a:prstGeom>
          <a:solidFill>
            <a:schemeClr val="accent4"/>
          </a:solidFill>
          <a:ln/>
        </p:spPr>
      </p:sp>
      <p:sp>
        <p:nvSpPr>
          <p:cNvPr id="7" name="Flavour 2 label"/>
          <p:cNvSpPr txBox="1"/>
          <p:nvPr/>
        </p:nvSpPr>
        <p:spPr>
          <a:xfrm>
            <a:off x="288036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Vanilla</a:t>
            </a:r>
            <a:endParaRPr lang="en-US" sz="1400" dirty="0"/>
          </a:p>
        </p:txBody>
      </p:sp>
      <p:sp>
        <p:nvSpPr>
          <p:cNvPr id="8" name="Flavour 3"/>
          <p:cNvSpPr/>
          <p:nvPr/>
        </p:nvSpPr>
        <p:spPr>
          <a:xfrm>
            <a:off x="5212080" y="1737360"/>
            <a:ext cx="2148840" cy="548640"/>
          </a:xfrm>
          <a:prstGeom prst="roundRect">
            <a:avLst>
              <a:gd name="adj" fmla="val 50000"/>
            </a:avLst>
          </a:prstGeom>
          <a:solidFill>
            <a:schemeClr val="accent4"/>
          </a:solidFill>
          <a:ln/>
        </p:spPr>
      </p:sp>
      <p:sp>
        <p:nvSpPr>
          <p:cNvPr id="9" name="Flavour 3 label"/>
          <p:cNvSpPr txBox="1"/>
          <p:nvPr/>
        </p:nvSpPr>
        <p:spPr>
          <a:xfrm>
            <a:off x="5212080" y="1737360"/>
            <a:ext cx="2148840" cy="548640"/>
          </a:xfrm>
          <a:prstGeom prst="rect">
            <a:avLst/>
          </a:prstGeom>
          <a:noFill/>
          <a:ln/>
        </p:spPr>
        <p:txBody>
          <a:bodyPr wrap="square" lIns="0" tIns="0" rIns="0" bIns="0" rtlCol="0" anchor="ctr"/>
          <a:lstStyle/>
          <a:p>
            <a:pPr algn="ctr" indent="0" marL="0">
              <a:buNone/>
            </a:pPr>
            <a:r>
              <a:rPr lang="en-US" sz="1400" b="1" dirty="0">
                <a:solidFill>
                  <a:schemeClr val="accent5"/>
                </a:solidFill>
              </a:rPr>
              <a:t>Banana Bread</a:t>
            </a:r>
            <a:endParaRPr lang="en-US" sz="1400" dirty="0"/>
          </a:p>
        </p:txBody>
      </p:sp>
      <p:sp>
        <p:nvSpPr>
          <p:cNvPr id="10" name="Flavour macros"/>
          <p:cNvSpPr txBox="1"/>
          <p:nvPr/>
        </p:nvSpPr>
        <p:spPr>
          <a:xfrm>
            <a:off x="548640" y="2377440"/>
            <a:ext cx="6949440" cy="365760"/>
          </a:xfrm>
          <a:prstGeom prst="rect">
            <a:avLst/>
          </a:prstGeom>
          <a:noFill/>
          <a:ln/>
        </p:spPr>
        <p:txBody>
          <a:bodyPr wrap="square" lIns="0" tIns="0" rIns="0" bIns="0" rtlCol="0" anchor="ctr"/>
          <a:lstStyle/>
          <a:p>
            <a:pPr indent="0" marL="0">
              <a:buNone/>
            </a:pPr>
            <a:r>
              <a:rPr lang="en-US" sz="1400" dirty="0">
                <a:solidFill>
                  <a:schemeClr val="accent3"/>
                </a:solidFill>
              </a:rPr>
              <a:t>Each ~20 g protein · ~30 g carbs · ≤8 g sugar · ~260–280 kcal (calculated)</a:t>
            </a:r>
            <a:endParaRPr lang="en-US" sz="1400" dirty="0"/>
          </a:p>
        </p:txBody>
      </p:sp>
      <p:sp>
        <p:nvSpPr>
          <p:cNvPr id="11" name="Step 1 card"/>
          <p:cNvSpPr/>
          <p:nvPr/>
        </p:nvSpPr>
        <p:spPr>
          <a:xfrm>
            <a:off x="548640" y="3017520"/>
            <a:ext cx="2560320" cy="1828800"/>
          </a:xfrm>
          <a:prstGeom prst="roundRect">
            <a:avLst>
              <a:gd name="adj" fmla="val 6000"/>
            </a:avLst>
          </a:prstGeom>
          <a:solidFill>
            <a:schemeClr val="bg2"/>
          </a:solidFill>
          <a:ln/>
        </p:spPr>
      </p:sp>
      <p:sp>
        <p:nvSpPr>
          <p:cNvPr id="12" name="Step 1 circle"/>
          <p:cNvSpPr/>
          <p:nvPr/>
        </p:nvSpPr>
        <p:spPr>
          <a:xfrm>
            <a:off x="777240" y="3200400"/>
            <a:ext cx="548640" cy="548640"/>
          </a:xfrm>
          <a:prstGeom prst="ellipse">
            <a:avLst/>
          </a:prstGeom>
          <a:solidFill>
            <a:schemeClr val="accent1"/>
          </a:solidFill>
          <a:ln/>
        </p:spPr>
      </p:sp>
      <p:pic>
        <p:nvPicPr>
          <p:cNvPr id="13" name="Step 1 icon" descr="Step 1">    </p:cNvPr>
          <p:cNvPicPr>
            <a:picLocks noChangeAspect="1"/>
          </p:cNvPicPr>
          <p:nvPr/>
        </p:nvPicPr>
        <p:blipFill>
          <a:blip r:embed="rId1"/>
          <a:stretch>
            <a:fillRect/>
          </a:stretch>
        </p:blipFill>
        <p:spPr>
          <a:xfrm>
            <a:off x="914400" y="3337560"/>
            <a:ext cx="274320" cy="274320"/>
          </a:xfrm>
          <a:prstGeom prst="rect">
            <a:avLst/>
          </a:prstGeom>
        </p:spPr>
      </p:pic>
      <p:sp>
        <p:nvSpPr>
          <p:cNvPr id="14" name="Step 1 title"/>
          <p:cNvSpPr txBox="1"/>
          <p:nvPr/>
        </p:nvSpPr>
        <p:spPr>
          <a:xfrm>
            <a:off x="141732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1. Order</a:t>
            </a:r>
            <a:endParaRPr lang="en-US" sz="1600" dirty="0"/>
          </a:p>
        </p:txBody>
      </p:sp>
      <p:sp>
        <p:nvSpPr>
          <p:cNvPr id="15" name="Step 1 text"/>
          <p:cNvSpPr txBox="1"/>
          <p:nvPr/>
        </p:nvSpPr>
        <p:spPr>
          <a:xfrm>
            <a:off x="77724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Weekly orders and squad orders via coaches</a:t>
            </a:r>
            <a:endParaRPr lang="en-US" sz="1400" dirty="0"/>
          </a:p>
        </p:txBody>
      </p:sp>
      <p:sp>
        <p:nvSpPr>
          <p:cNvPr id="16" name="Arrow 1"/>
          <p:cNvSpPr/>
          <p:nvPr/>
        </p:nvSpPr>
        <p:spPr>
          <a:xfrm>
            <a:off x="3136392" y="3794760"/>
            <a:ext cx="219456" cy="274320"/>
          </a:xfrm>
          <a:prstGeom prst="rightArrow">
            <a:avLst/>
          </a:prstGeom>
          <a:solidFill>
            <a:schemeClr val="accent1"/>
          </a:solidFill>
          <a:ln/>
        </p:spPr>
      </p:sp>
      <p:sp>
        <p:nvSpPr>
          <p:cNvPr id="17" name="Step 2 card"/>
          <p:cNvSpPr/>
          <p:nvPr/>
        </p:nvSpPr>
        <p:spPr>
          <a:xfrm>
            <a:off x="3383280" y="3017520"/>
            <a:ext cx="2560320" cy="1828800"/>
          </a:xfrm>
          <a:prstGeom prst="roundRect">
            <a:avLst>
              <a:gd name="adj" fmla="val 6000"/>
            </a:avLst>
          </a:prstGeom>
          <a:solidFill>
            <a:schemeClr val="bg2"/>
          </a:solidFill>
          <a:ln/>
        </p:spPr>
      </p:sp>
      <p:sp>
        <p:nvSpPr>
          <p:cNvPr id="18" name="Step 2 circle"/>
          <p:cNvSpPr/>
          <p:nvPr/>
        </p:nvSpPr>
        <p:spPr>
          <a:xfrm>
            <a:off x="3611880" y="3200400"/>
            <a:ext cx="548640" cy="548640"/>
          </a:xfrm>
          <a:prstGeom prst="ellipse">
            <a:avLst/>
          </a:prstGeom>
          <a:solidFill>
            <a:schemeClr val="accent1"/>
          </a:solidFill>
          <a:ln/>
        </p:spPr>
      </p:sp>
      <p:pic>
        <p:nvPicPr>
          <p:cNvPr id="19" name="Step 2 icon" descr="Step 2">    </p:cNvPr>
          <p:cNvPicPr>
            <a:picLocks noChangeAspect="1"/>
          </p:cNvPicPr>
          <p:nvPr/>
        </p:nvPicPr>
        <p:blipFill>
          <a:blip r:embed="rId2"/>
          <a:stretch>
            <a:fillRect/>
          </a:stretch>
        </p:blipFill>
        <p:spPr>
          <a:xfrm>
            <a:off x="3749040" y="3337560"/>
            <a:ext cx="274320" cy="274320"/>
          </a:xfrm>
          <a:prstGeom prst="rect">
            <a:avLst/>
          </a:prstGeom>
        </p:spPr>
      </p:pic>
      <p:sp>
        <p:nvSpPr>
          <p:cNvPr id="20" name="Step 2 title"/>
          <p:cNvSpPr txBox="1"/>
          <p:nvPr/>
        </p:nvSpPr>
        <p:spPr>
          <a:xfrm>
            <a:off x="425196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2. Bake</a:t>
            </a:r>
            <a:endParaRPr lang="en-US" sz="1600" dirty="0"/>
          </a:p>
        </p:txBody>
      </p:sp>
      <p:sp>
        <p:nvSpPr>
          <p:cNvPr id="21" name="Step 2 text"/>
          <p:cNvSpPr txBox="1"/>
          <p:nvPr/>
        </p:nvSpPr>
        <p:spPr>
          <a:xfrm>
            <a:off x="361188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Baked to order, no long-life additives</a:t>
            </a:r>
            <a:endParaRPr lang="en-US" sz="1400" dirty="0"/>
          </a:p>
        </p:txBody>
      </p:sp>
      <p:sp>
        <p:nvSpPr>
          <p:cNvPr id="22" name="Arrow 2"/>
          <p:cNvSpPr/>
          <p:nvPr/>
        </p:nvSpPr>
        <p:spPr>
          <a:xfrm>
            <a:off x="5971032" y="3794760"/>
            <a:ext cx="219456" cy="274320"/>
          </a:xfrm>
          <a:prstGeom prst="rightArrow">
            <a:avLst/>
          </a:prstGeom>
          <a:solidFill>
            <a:schemeClr val="accent1"/>
          </a:solidFill>
          <a:ln/>
        </p:spPr>
      </p:sp>
      <p:sp>
        <p:nvSpPr>
          <p:cNvPr id="23" name="Step 3 card"/>
          <p:cNvSpPr/>
          <p:nvPr/>
        </p:nvSpPr>
        <p:spPr>
          <a:xfrm>
            <a:off x="6217920" y="3017520"/>
            <a:ext cx="2560320" cy="1828800"/>
          </a:xfrm>
          <a:prstGeom prst="roundRect">
            <a:avLst>
              <a:gd name="adj" fmla="val 6000"/>
            </a:avLst>
          </a:prstGeom>
          <a:solidFill>
            <a:schemeClr val="bg2"/>
          </a:solidFill>
          <a:ln/>
        </p:spPr>
      </p:sp>
      <p:sp>
        <p:nvSpPr>
          <p:cNvPr id="24" name="Step 3 circle"/>
          <p:cNvSpPr/>
          <p:nvPr/>
        </p:nvSpPr>
        <p:spPr>
          <a:xfrm>
            <a:off x="6446520" y="3200400"/>
            <a:ext cx="548640" cy="548640"/>
          </a:xfrm>
          <a:prstGeom prst="ellipse">
            <a:avLst/>
          </a:prstGeom>
          <a:solidFill>
            <a:schemeClr val="accent1"/>
          </a:solidFill>
          <a:ln/>
        </p:spPr>
      </p:sp>
      <p:pic>
        <p:nvPicPr>
          <p:cNvPr id="25" name="Step 3 icon" descr="Step 3">    </p:cNvPr>
          <p:cNvPicPr>
            <a:picLocks noChangeAspect="1"/>
          </p:cNvPicPr>
          <p:nvPr/>
        </p:nvPicPr>
        <p:blipFill>
          <a:blip r:embed="rId3"/>
          <a:stretch>
            <a:fillRect/>
          </a:stretch>
        </p:blipFill>
        <p:spPr>
          <a:xfrm>
            <a:off x="6583680" y="3337560"/>
            <a:ext cx="274320" cy="274320"/>
          </a:xfrm>
          <a:prstGeom prst="rect">
            <a:avLst/>
          </a:prstGeom>
        </p:spPr>
      </p:pic>
      <p:sp>
        <p:nvSpPr>
          <p:cNvPr id="26" name="Step 3 title"/>
          <p:cNvSpPr txBox="1"/>
          <p:nvPr/>
        </p:nvSpPr>
        <p:spPr>
          <a:xfrm>
            <a:off x="708660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3. Deliver chilled</a:t>
            </a:r>
            <a:endParaRPr lang="en-US" sz="1600" dirty="0"/>
          </a:p>
        </p:txBody>
      </p:sp>
      <p:sp>
        <p:nvSpPr>
          <p:cNvPr id="27" name="Step 3 text"/>
          <p:cNvSpPr txBox="1"/>
          <p:nvPr/>
        </p:nvSpPr>
        <p:spPr>
          <a:xfrm>
            <a:off x="644652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Hand-delivered in Durham to start</a:t>
            </a:r>
            <a:endParaRPr lang="en-US" sz="1400" dirty="0"/>
          </a:p>
        </p:txBody>
      </p:sp>
      <p:sp>
        <p:nvSpPr>
          <p:cNvPr id="28" name="Arrow 3"/>
          <p:cNvSpPr/>
          <p:nvPr/>
        </p:nvSpPr>
        <p:spPr>
          <a:xfrm>
            <a:off x="8805672" y="3794760"/>
            <a:ext cx="219456" cy="274320"/>
          </a:xfrm>
          <a:prstGeom prst="rightArrow">
            <a:avLst/>
          </a:prstGeom>
          <a:solidFill>
            <a:schemeClr val="accent1"/>
          </a:solidFill>
          <a:ln/>
        </p:spPr>
      </p:sp>
      <p:sp>
        <p:nvSpPr>
          <p:cNvPr id="29" name="Step 4 card"/>
          <p:cNvSpPr/>
          <p:nvPr/>
        </p:nvSpPr>
        <p:spPr>
          <a:xfrm>
            <a:off x="9052560" y="3017520"/>
            <a:ext cx="2560320" cy="1828800"/>
          </a:xfrm>
          <a:prstGeom prst="roundRect">
            <a:avLst>
              <a:gd name="adj" fmla="val 6000"/>
            </a:avLst>
          </a:prstGeom>
          <a:solidFill>
            <a:schemeClr val="bg2"/>
          </a:solidFill>
          <a:ln/>
        </p:spPr>
      </p:sp>
      <p:sp>
        <p:nvSpPr>
          <p:cNvPr id="30" name="Step 4 circle"/>
          <p:cNvSpPr/>
          <p:nvPr/>
        </p:nvSpPr>
        <p:spPr>
          <a:xfrm>
            <a:off x="9281160" y="3200400"/>
            <a:ext cx="548640" cy="548640"/>
          </a:xfrm>
          <a:prstGeom prst="ellipse">
            <a:avLst/>
          </a:prstGeom>
          <a:solidFill>
            <a:schemeClr val="accent1"/>
          </a:solidFill>
          <a:ln/>
        </p:spPr>
      </p:sp>
      <p:pic>
        <p:nvPicPr>
          <p:cNvPr id="31" name="Step 4 icon" descr="Step 4">    </p:cNvPr>
          <p:cNvPicPr>
            <a:picLocks noChangeAspect="1"/>
          </p:cNvPicPr>
          <p:nvPr/>
        </p:nvPicPr>
        <p:blipFill>
          <a:blip r:embed="rId4"/>
          <a:stretch>
            <a:fillRect/>
          </a:stretch>
        </p:blipFill>
        <p:spPr>
          <a:xfrm>
            <a:off x="9418320" y="3337560"/>
            <a:ext cx="274320" cy="274320"/>
          </a:xfrm>
          <a:prstGeom prst="rect">
            <a:avLst/>
          </a:prstGeom>
        </p:spPr>
      </p:pic>
      <p:sp>
        <p:nvSpPr>
          <p:cNvPr id="32" name="Step 4 title"/>
          <p:cNvSpPr txBox="1"/>
          <p:nvPr/>
        </p:nvSpPr>
        <p:spPr>
          <a:xfrm>
            <a:off x="9921240" y="3200400"/>
            <a:ext cx="1600200" cy="548640"/>
          </a:xfrm>
          <a:prstGeom prst="rect">
            <a:avLst/>
          </a:prstGeom>
          <a:noFill/>
          <a:ln/>
        </p:spPr>
        <p:txBody>
          <a:bodyPr wrap="square" lIns="0" tIns="0" rIns="0" bIns="0" rtlCol="0" anchor="ctr"/>
          <a:lstStyle/>
          <a:p>
            <a:pPr indent="0" marL="0">
              <a:buNone/>
            </a:pPr>
            <a:r>
              <a:rPr lang="en-US" sz="1600" b="1" dirty="0">
                <a:solidFill>
                  <a:schemeClr val="tx1"/>
                </a:solidFill>
              </a:rPr>
              <a:t>4. Eat or freeze</a:t>
            </a:r>
            <a:endParaRPr lang="en-US" sz="1600" dirty="0"/>
          </a:p>
        </p:txBody>
      </p:sp>
      <p:sp>
        <p:nvSpPr>
          <p:cNvPr id="33" name="Step 4 text"/>
          <p:cNvSpPr txBox="1"/>
          <p:nvPr/>
        </p:nvSpPr>
        <p:spPr>
          <a:xfrm>
            <a:off x="9281160" y="3886200"/>
            <a:ext cx="2148840" cy="868680"/>
          </a:xfrm>
          <a:prstGeom prst="rect">
            <a:avLst/>
          </a:prstGeom>
          <a:noFill/>
          <a:ln/>
        </p:spPr>
        <p:txBody>
          <a:bodyPr wrap="square" lIns="0" tIns="0" rIns="0" bIns="0" rtlCol="0" anchor="t"/>
          <a:lstStyle/>
          <a:p>
            <a:pPr indent="0" marL="0">
              <a:buNone/>
            </a:pPr>
            <a:r>
              <a:rPr lang="en-US" sz="1400" dirty="0">
                <a:solidFill>
                  <a:schemeClr val="tx1"/>
                </a:solidFill>
              </a:rPr>
              <a:t>Fridge 3 days, or freeze for later</a:t>
            </a:r>
            <a:endParaRPr lang="en-US" sz="1400" dirty="0"/>
          </a:p>
        </p:txBody>
      </p:sp>
      <p:sp>
        <p:nvSpPr>
          <p:cNvPr id="34" name="Close box"/>
          <p:cNvSpPr/>
          <p:nvPr/>
        </p:nvSpPr>
        <p:spPr>
          <a:xfrm>
            <a:off x="548640" y="5074920"/>
            <a:ext cx="11064240" cy="1097280"/>
          </a:xfrm>
          <a:prstGeom prst="roundRect">
            <a:avLst>
              <a:gd name="adj" fmla="val 10000"/>
            </a:avLst>
          </a:prstGeom>
          <a:solidFill>
            <a:schemeClr val="tx1"/>
          </a:solidFill>
          <a:ln/>
        </p:spPr>
      </p:sp>
      <p:sp>
        <p:nvSpPr>
          <p:cNvPr id="35" name="Close text"/>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500" b="1" dirty="0">
                <a:solidFill>
                  <a:schemeClr val="accent1"/>
                </a:solidFill>
              </a:rPr>
              <a:t>"Baked this week, not 12 months ago." </a:t>
            </a:r>
            <a:pPr indent="0" marL="0">
              <a:buNone/>
            </a:pPr>
            <a:r>
              <a:rPr lang="en-US" sz="1500" dirty="0">
                <a:solidFill>
                  <a:schemeClr val="bg1"/>
                </a:solidFill>
              </a:rPr>
              <a:t>The short shelf life is the proof it's real food, the same model as Simmer Eats' fresh meals. Next: taste tests vs Barebells, a squad trial with Team Durham, and more interviews.</a:t>
            </a:r>
            <a:endParaRPr lang="en-US" sz="1500" dirty="0"/>
          </a:p>
        </p:txBody>
      </p:sp>
      <p:sp>
        <p:nvSpPr>
          <p:cNvPr id="25" name="Slide Number Placeholder 0"/>
          <p:cNvSpPr>
            <a:spLocks noGrp="1"/>
          </p:cNvSpPr>
          <p:nvPr>
            <p:ph type="sldNum" sz="quarter" idx="4294967295"/>
          </p:nvPr>
        </p:nvSpPr>
        <p:spPr>
          <a:xfrm>
            <a:off x="11338560" y="640080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l"/>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Recovery Bar Pitch">
  <a:themeElements>
    <a:clrScheme name="Recovery Bar Pitch">
      <a:dk1>
        <a:srgbClr val="1C1B19"/>
      </a:dk1>
      <a:lt1>
        <a:srgbClr val="FFFFFF"/>
      </a:lt1>
      <a:dk2>
        <a:srgbClr val="3A3835"/>
      </a:dk2>
      <a:lt2>
        <a:srgbClr val="F3F4F6"/>
      </a:lt2>
      <a:accent1>
        <a:srgbClr val="C2410C"/>
      </a:accent1>
      <a:accent2>
        <a:srgbClr val="15803D"/>
      </a:accent2>
      <a:accent3>
        <a:srgbClr val="6B7280"/>
      </a:accent3>
      <a:accent4>
        <a:srgbClr val="FDE7DC"/>
      </a:accent4>
      <a:accent5>
        <a:srgbClr val="7C2D12"/>
      </a:accent5>
      <a:accent6>
        <a:srgbClr val="E5E7EB"/>
      </a:accent6>
      <a:hlink>
        <a:srgbClr val="C2410C"/>
      </a:hlink>
      <a:folHlink>
        <a:srgbClr val="7C2D12"/>
      </a:folHlink>
    </a:clrScheme>
    <a:fontScheme name="Recovery Bar Pit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Real-food recovery bar: pitch</dc:title>
  <dc:subject>PptxGenJS Presentation</dc:subject>
  <dc:creator>Ewan</dc:creator>
  <cp:lastModifiedBy>Ewan</cp:lastModifiedBy>
  <cp:revision>1</cp:revision>
  <dcterms:created xsi:type="dcterms:W3CDTF">2026-10-08T13:53:44Z</dcterms:created>
  <dcterms:modified xsi:type="dcterms:W3CDTF">2026-10-08T13:53:44Z</dcterms:modified>
</cp:coreProperties>
</file>
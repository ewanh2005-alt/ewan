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93d16fc2-8181-27e2-58e6-da133b856ab0}">
          <p14:sldIdLst>
            <p14:sldId id="256"/>
          </p14:sldIdLst>
        </p14:section>
        <p14:section name="Problem" id="{5a9cde57-3e62-3efd-4e5d-14555abb3559}">
          <p14:sldIdLst>
            <p14:sldId id="257"/>
          </p14:sldIdLst>
        </p14:section>
        <p14:section name="Customers" id="{8fbbe425-9d87-4bd9-0474-019888dd1649}">
          <p14:sldIdLst>
            <p14:sldId id="258"/>
          </p14:sldIdLst>
        </p14:section>
        <p14:section name="Market" id="{b63c1614-5a80-ec09-f9af-6f7aab6d5b22}">
          <p14:sldIdLst>
            <p14:sldId id="259"/>
          </p14:sldIdLst>
        </p14:section>
        <p14:section name="Model" id="{dd8ff3c6-d9ed-8cb5-d1be-5377efb09bf2}">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SAY FIRST: 'A fresh, baked protein snack made from real food (egg, quark and oats) for athletes who train hard and can't always cook. Baked to order and delivered to squads.' I'm Ewan: Durham Business Management graduate; I train MMA, play football and lift.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I made this: about 15 g protein per 50 g from egg, quark and oats, no powders or sweeteners. The format (soft-baked bar, bites or slice) is decided by taste test.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My persona is Jack: trains once a day, plays a sport, is trying to eat well and trusts his coach. My early adopters are the sharpest slice of Jack: coached athletes, starting with Team Durham squads and my MMA club. Why them: they train hardest, their coach tells them to eat whole food, and one coach means about 25 athletes and one delivery, which suits a fresh bar. Honestly: nobody has committed yet; that's what the squad trial is for.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 scored 25 UK protein snacks on four tests: at least 10 g protein, protein from real food rather than powders, no sweeteners, and low sugar. 20 have the protein, 11 are low in sugar, only 4 use real-food protein, and none pass all four. The high-protein, low-sugar bars all use powders, mostly with sweeteners. The real-food bars carry 13 to 20 g of sugar. Why? Shops need months of shelf life, and real food lasts days. We design around that: bake to order, sell direct to squads. Our numbers are calculated, not yet lab-tested. OLD NOTES (competitor detail): These are the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its protein from real food with low sugar. Ours does: two 50 g bars give about 29 g protein and 28 g carbs from egg, quark and oats, with a little honey or banana and no sweeteners.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I'm testing three formats with the same ingredients: a soft-baked bar, bites and a slice; the taste test decides. About 15 g protein per 50 g, calculated.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a blind taste test against Barebells, aiming for 7 out of 9, then a free squad trial. What I need: kitchen access and coach introductions. SAY LAST: 'A fresh, baked protein snack made from real food (egg, quark and oats) for athletes who train hard and can't always cook. Baked to order and delivered to squads.'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Ewan Hetherington</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Ewan Hetherington</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A </a:t>
            </a:r>
            <a:pPr algn="l" indent="0" marL="0">
              <a:buNone/>
            </a:pPr>
            <a:r>
              <a:rPr lang="en-US" sz="3600" b="1" dirty="0">
                <a:solidFill>
                  <a:schemeClr val="accent1"/>
                </a:solidFill>
              </a:rPr>
              <a:t>real-food</a:t>
            </a:r>
            <a:pPr algn="l" indent="0" marL="0">
              <a:buNone/>
            </a:pPr>
            <a:r>
              <a:rPr lang="en-US" sz="3600" b="1" dirty="0">
                <a:solidFill>
                  <a:schemeClr val="bg1"/>
                </a:solidFill>
              </a:rPr>
              <a:t> protein snack for people who train hard</a:t>
            </a:r>
            <a:endParaRPr lang="en-US" sz="3600" dirty="0"/>
          </a:p>
        </p:txBody>
      </p:sp>
      <p:sp>
        <p:nvSpPr>
          <p:cNvPr id="3" name="Subtitle"/>
          <p:cNvSpPr txBox="1"/>
          <p:nvPr/>
        </p:nvSpPr>
        <p:spPr>
          <a:xfrm>
            <a:off x="548640" y="1572768"/>
            <a:ext cx="11064240" cy="777240"/>
          </a:xfrm>
          <a:prstGeom prst="rect">
            <a:avLst/>
          </a:prstGeom>
          <a:noFill/>
          <a:ln/>
        </p:spPr>
        <p:txBody>
          <a:bodyPr wrap="square" lIns="0" tIns="0" rIns="0" bIns="0" rtlCol="0" anchor="ctr"/>
          <a:lstStyle/>
          <a:p>
            <a:pPr indent="0" marL="0">
              <a:buNone/>
            </a:pPr>
            <a:r>
              <a:rPr lang="en-US" sz="1700" dirty="0">
                <a:solidFill>
                  <a:schemeClr val="bg1"/>
                </a:solidFill>
              </a:rPr>
              <a:t>A fresh, baked protein snack made from real food (egg, quark and oats) for athletes who train hard and can't always cook. Baked to order and delivered to squads.</a:t>
            </a:r>
            <a:endParaRPr lang="en-US" sz="17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sp>
        <p:nvSpPr>
          <p:cNvPr id="20" name="Branding note"/>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Ewan Hetherington · Durham Business Management graduate · MMA, football, gym</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problem: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Why this needs to happen: </a:t>
            </a:r>
            <a:pPr indent="0" marL="0">
              <a:buNone/>
            </a:pPr>
            <a:r>
              <a:rPr lang="en-US" sz="1500" dirty="0">
                <a:solidFill>
                  <a:schemeClr val="tx1"/>
                </a:solidFill>
              </a:rPr>
              <a:t>the quick options are lab bars (powders, sweeteners, sugar alcohols) or sugary "natural" bars. Over half of UK adults' energy already comes from ultra-processed food, and 71% are trying to avoid it.</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Who it's for: Jack, and the squads who'll try it first</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Next: 3–5 Mom Test interviews + poster survey (live Monday)</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once a day: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760720"/>
            <a:ext cx="6766560" cy="548640"/>
          </a:xfrm>
          <a:prstGeom prst="rect">
            <a:avLst/>
          </a:prstGeom>
          <a:noFill/>
          <a:ln/>
        </p:spPr>
        <p:txBody>
          <a:bodyPr wrap="square" lIns="0" tIns="0" rIns="0" bIns="0" rtlCol="0" anchor="t"/>
          <a:lstStyle/>
          <a:p>
            <a:pPr indent="0" marL="0">
              <a:buNone/>
            </a:pPr>
            <a:r>
              <a:rPr lang="en-US" sz="1400" b="1" dirty="0">
                <a:solidFill>
                  <a:schemeClr val="accent1"/>
                </a:solidFill>
              </a:rPr>
              <a:t>Early adopters: coached Durham squads + my MMA club. One coach = ~25 athletes = one drop. (0/10 committed yet; the squad trial tests this.)</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gap: nobody does all three</a:t>
            </a:r>
            <a:endParaRPr lang="en-US" sz="3200" dirty="0"/>
          </a:p>
        </p:txBody>
      </p:sp>
      <p:pic>
        <p:nvPicPr>
          <p:cNvPr id="3" name="Gap chart" descr="Scatter of 25 UK protein snacks: protein vs sugar per 50 g. Every high-protein, low-sugar bar uses powders; real-food bars are high in sugar; our snack is the only real-food point in the gap.">    </p:cNvPr>
          <p:cNvPicPr>
            <a:picLocks noChangeAspect="1"/>
          </p:cNvPicPr>
          <p:nvPr/>
        </p:nvPicPr>
        <p:blipFill>
          <a:blip r:embed="rId1"/>
          <a:stretch>
            <a:fillRect/>
          </a:stretch>
        </p:blipFill>
        <p:spPr>
          <a:xfrm>
            <a:off x="548640" y="1234440"/>
            <a:ext cx="7863840" cy="4892040"/>
          </a:xfrm>
          <a:prstGeom prst="rect">
            <a:avLst/>
          </a:prstGeom>
        </p:spPr>
      </p:pic>
      <p:sp>
        <p:nvSpPr>
          <p:cNvPr id="4" name="Gap card"/>
          <p:cNvSpPr/>
          <p:nvPr/>
        </p:nvSpPr>
        <p:spPr>
          <a:xfrm>
            <a:off x="8641080" y="1234440"/>
            <a:ext cx="2971800" cy="4892040"/>
          </a:xfrm>
          <a:prstGeom prst="roundRect">
            <a:avLst>
              <a:gd name="adj" fmla="val 3692"/>
            </a:avLst>
          </a:prstGeom>
          <a:solidFill>
            <a:schemeClr val="bg2"/>
          </a:solidFill>
          <a:ln/>
        </p:spPr>
      </p:sp>
      <p:sp>
        <p:nvSpPr>
          <p:cNvPr id="5" name="Tests title"/>
          <p:cNvSpPr txBox="1"/>
          <p:nvPr/>
        </p:nvSpPr>
        <p:spPr>
          <a:xfrm>
            <a:off x="8869680" y="141732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25 snacks, 4 tests</a:t>
            </a:r>
            <a:endParaRPr lang="en-US" sz="1600" dirty="0"/>
          </a:p>
        </p:txBody>
      </p:sp>
      <p:sp>
        <p:nvSpPr>
          <p:cNvPr id="6" name="Tests list"/>
          <p:cNvSpPr txBox="1"/>
          <p:nvPr/>
        </p:nvSpPr>
        <p:spPr>
          <a:xfrm>
            <a:off x="8869680" y="1828800"/>
            <a:ext cx="2560320" cy="13716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≥10 g protein: 20</a:t>
            </a:r>
            <a:endParaRPr lang="en-US" sz="1300" dirty="0"/>
          </a:p>
          <a:p>
            <a:pPr marL="342900" indent="-342900">
              <a:spcAft>
                <a:spcPts val="300"/>
              </a:spcAft>
              <a:buSzPct val="100000"/>
              <a:buChar char="•"/>
            </a:pPr>
            <a:r>
              <a:rPr lang="en-US" sz="1300" dirty="0">
                <a:solidFill>
                  <a:schemeClr val="tx1"/>
                </a:solidFill>
              </a:rPr>
              <a:t>Low sugar: 11</a:t>
            </a:r>
            <a:endParaRPr lang="en-US" sz="1300" dirty="0"/>
          </a:p>
          <a:p>
            <a:pPr marL="342900" indent="-342900">
              <a:spcAft>
                <a:spcPts val="300"/>
              </a:spcAft>
              <a:buSzPct val="100000"/>
              <a:buChar char="•"/>
            </a:pPr>
            <a:r>
              <a:rPr lang="en-US" sz="1300" dirty="0">
                <a:solidFill>
                  <a:schemeClr val="tx1"/>
                </a:solidFill>
              </a:rPr>
              <a:t>Real-food protein: 4</a:t>
            </a:r>
            <a:endParaRPr lang="en-US" sz="1300" dirty="0"/>
          </a:p>
          <a:p>
            <a:pPr marL="342900" indent="-342900">
              <a:spcAft>
                <a:spcPts val="300"/>
              </a:spcAft>
              <a:buSzPct val="100000"/>
              <a:buChar char="•"/>
            </a:pPr>
            <a:r>
              <a:rPr lang="en-US" sz="1300" b="1" dirty="0">
                <a:solidFill>
                  <a:schemeClr val="accent1"/>
                </a:solidFill>
              </a:rPr>
              <a:t>All four: 0</a:t>
            </a:r>
            <a:endParaRPr lang="en-US" sz="1300" dirty="0"/>
          </a:p>
        </p:txBody>
      </p:sp>
      <p:sp>
        <p:nvSpPr>
          <p:cNvPr id="7" name="Why title"/>
          <p:cNvSpPr txBox="1"/>
          <p:nvPr/>
        </p:nvSpPr>
        <p:spPr>
          <a:xfrm>
            <a:off x="8869680" y="333756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Why the gap exists</a:t>
            </a:r>
            <a:endParaRPr lang="en-US" sz="1600" dirty="0"/>
          </a:p>
        </p:txBody>
      </p:sp>
      <p:sp>
        <p:nvSpPr>
          <p:cNvPr id="8" name="Why list"/>
          <p:cNvSpPr txBox="1"/>
          <p:nvPr/>
        </p:nvSpPr>
        <p:spPr>
          <a:xfrm>
            <a:off x="8869680" y="3749040"/>
            <a:ext cx="2560320" cy="21945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Shops need months of shelf life; real food lasts days</a:t>
            </a:r>
            <a:endParaRPr lang="en-US" sz="1300" dirty="0"/>
          </a:p>
          <a:p>
            <a:pPr marL="342900" indent="-342900">
              <a:spcAft>
                <a:spcPts val="400"/>
              </a:spcAft>
              <a:buSzPct val="100000"/>
              <a:buChar char="•"/>
            </a:pPr>
            <a:r>
              <a:rPr lang="en-US" sz="1300" dirty="0">
                <a:solidFill>
                  <a:schemeClr val="tx1"/>
                </a:solidFill>
              </a:rPr>
              <a:t>Powders and sweeteners keep bars soft and cheap</a:t>
            </a:r>
            <a:endParaRPr lang="en-US" sz="1300" dirty="0"/>
          </a:p>
          <a:p>
            <a:pPr marL="342900" indent="-342900">
              <a:spcAft>
                <a:spcPts val="400"/>
              </a:spcAft>
              <a:buSzPct val="100000"/>
              <a:buChar char="•"/>
            </a:pPr>
            <a:r>
              <a:rPr lang="en-US" sz="1300" b="1" dirty="0">
                <a:solidFill>
                  <a:schemeClr val="tx1"/>
                </a:solidFill>
              </a:rPr>
              <a:t>We bake to order and sell direct to squads</a:t>
            </a:r>
            <a:endParaRPr lang="en-US" sz="1300" dirty="0"/>
          </a:p>
          <a:p>
            <a:pPr marL="342900" indent="-342900">
              <a:spcAft>
                <a:spcPts val="400"/>
              </a:spcAft>
              <a:buSzPct val="100000"/>
              <a:buChar char="•"/>
            </a:pPr>
            <a:r>
              <a:rPr lang="en-US" sz="1300" dirty="0">
                <a:solidFill>
                  <a:schemeClr val="tx1"/>
                </a:solidFill>
              </a:rPr>
              <a:t>Proof it can work: RXBAR (egg-white bar, $600m) and Perfect Bar (fridge bar) in the US</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and what's next</a:t>
            </a:r>
            <a:endParaRPr lang="en-US" sz="3200" dirty="0"/>
          </a:p>
        </p:txBody>
      </p:sp>
      <p:sp>
        <p:nvSpPr>
          <p:cNvPr id="3"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Formats in testing</a:t>
            </a:r>
            <a:endParaRPr lang="en-US" sz="1600" dirty="0"/>
          </a:p>
        </p:txBody>
      </p:sp>
      <p:sp>
        <p:nvSpPr>
          <p:cNvPr id="4" name="Flavour 1"/>
          <p:cNvSpPr/>
          <p:nvPr/>
        </p:nvSpPr>
        <p:spPr>
          <a:xfrm>
            <a:off x="548640" y="1737360"/>
            <a:ext cx="2148840" cy="548640"/>
          </a:xfrm>
          <a:prstGeom prst="roundRect">
            <a:avLst>
              <a:gd name="adj" fmla="val 50000"/>
            </a:avLst>
          </a:prstGeom>
          <a:solidFill>
            <a:schemeClr val="accent4"/>
          </a:solidFill>
          <a:ln/>
        </p:spPr>
      </p:sp>
      <p:sp>
        <p:nvSpPr>
          <p:cNvPr id="5"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Soft-baked bar</a:t>
            </a:r>
            <a:endParaRPr lang="en-US" sz="1400" dirty="0"/>
          </a:p>
        </p:txBody>
      </p:sp>
      <p:sp>
        <p:nvSpPr>
          <p:cNvPr id="6" name="Flavour 2"/>
          <p:cNvSpPr/>
          <p:nvPr/>
        </p:nvSpPr>
        <p:spPr>
          <a:xfrm>
            <a:off x="2880360" y="1737360"/>
            <a:ext cx="2148840" cy="548640"/>
          </a:xfrm>
          <a:prstGeom prst="roundRect">
            <a:avLst>
              <a:gd name="adj" fmla="val 50000"/>
            </a:avLst>
          </a:prstGeom>
          <a:solidFill>
            <a:schemeClr val="accent4"/>
          </a:solidFill>
          <a:ln/>
        </p:spPr>
      </p:sp>
      <p:sp>
        <p:nvSpPr>
          <p:cNvPr id="7"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Bites</a:t>
            </a:r>
            <a:endParaRPr lang="en-US" sz="1400" dirty="0"/>
          </a:p>
        </p:txBody>
      </p:sp>
      <p:sp>
        <p:nvSpPr>
          <p:cNvPr id="8" name="Flavour 3"/>
          <p:cNvSpPr/>
          <p:nvPr/>
        </p:nvSpPr>
        <p:spPr>
          <a:xfrm>
            <a:off x="5212080" y="1737360"/>
            <a:ext cx="2148840" cy="548640"/>
          </a:xfrm>
          <a:prstGeom prst="roundRect">
            <a:avLst>
              <a:gd name="adj" fmla="val 50000"/>
            </a:avLst>
          </a:prstGeom>
          <a:solidFill>
            <a:schemeClr val="accent4"/>
          </a:solidFill>
          <a:ln/>
        </p:spPr>
      </p:sp>
      <p:sp>
        <p:nvSpPr>
          <p:cNvPr id="9"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Slice</a:t>
            </a:r>
            <a:endParaRPr lang="en-US" sz="1400" dirty="0"/>
          </a:p>
        </p:txBody>
      </p:sp>
      <p:sp>
        <p:nvSpPr>
          <p:cNvPr id="10" name="Flavour macros"/>
          <p:cNvSpPr txBox="1"/>
          <p:nvPr/>
        </p:nvSpPr>
        <p:spPr>
          <a:xfrm>
            <a:off x="548640" y="2377440"/>
            <a:ext cx="11064240" cy="365760"/>
          </a:xfrm>
          <a:prstGeom prst="rect">
            <a:avLst/>
          </a:prstGeom>
          <a:noFill/>
          <a:ln/>
        </p:spPr>
        <p:txBody>
          <a:bodyPr wrap="square" lIns="0" tIns="0" rIns="0" bIns="0" rtlCol="0" anchor="ctr"/>
          <a:lstStyle/>
          <a:p>
            <a:pPr indent="0" marL="0">
              <a:buNone/>
            </a:pPr>
            <a:r>
              <a:rPr lang="en-US" sz="1400" dirty="0">
                <a:solidFill>
                  <a:schemeClr val="accent3"/>
                </a:solidFill>
              </a:rPr>
              <a:t>~15 g protein per 50 g · egg, quark &amp; oats · no powders or sweeteners · ~4 g sugar (calculated, not lab-tested)</a:t>
            </a:r>
            <a:endParaRPr lang="en-US" sz="1400" dirty="0"/>
          </a:p>
        </p:txBody>
      </p:sp>
      <p:sp>
        <p:nvSpPr>
          <p:cNvPr id="11" name="Step 1 card"/>
          <p:cNvSpPr/>
          <p:nvPr/>
        </p:nvSpPr>
        <p:spPr>
          <a:xfrm>
            <a:off x="548640" y="3017520"/>
            <a:ext cx="2560320" cy="1828800"/>
          </a:xfrm>
          <a:prstGeom prst="roundRect">
            <a:avLst>
              <a:gd name="adj" fmla="val 6000"/>
            </a:avLst>
          </a:prstGeom>
          <a:solidFill>
            <a:schemeClr val="bg2"/>
          </a:solidFill>
          <a:ln/>
        </p:spPr>
      </p:sp>
      <p:sp>
        <p:nvSpPr>
          <p:cNvPr id="12" name="Step 1 circle"/>
          <p:cNvSpPr/>
          <p:nvPr/>
        </p:nvSpPr>
        <p:spPr>
          <a:xfrm>
            <a:off x="777240" y="3200400"/>
            <a:ext cx="548640" cy="548640"/>
          </a:xfrm>
          <a:prstGeom prst="ellipse">
            <a:avLst/>
          </a:prstGeom>
          <a:solidFill>
            <a:schemeClr val="accent1"/>
          </a:solidFill>
          <a:ln/>
        </p:spPr>
      </p:sp>
      <p:pic>
        <p:nvPicPr>
          <p:cNvPr id="13" name="Step 1 icon" descr="Step 1">    </p:cNvPr>
          <p:cNvPicPr>
            <a:picLocks noChangeAspect="1"/>
          </p:cNvPicPr>
          <p:nvPr/>
        </p:nvPicPr>
        <p:blipFill>
          <a:blip r:embed="rId1"/>
          <a:stretch>
            <a:fillRect/>
          </a:stretch>
        </p:blipFill>
        <p:spPr>
          <a:xfrm>
            <a:off x="914400" y="3337560"/>
            <a:ext cx="274320" cy="274320"/>
          </a:xfrm>
          <a:prstGeom prst="rect">
            <a:avLst/>
          </a:prstGeom>
        </p:spPr>
      </p:pic>
      <p:sp>
        <p:nvSpPr>
          <p:cNvPr id="14"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5"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6" name="Arrow 1"/>
          <p:cNvSpPr/>
          <p:nvPr/>
        </p:nvSpPr>
        <p:spPr>
          <a:xfrm>
            <a:off x="3136392" y="3794760"/>
            <a:ext cx="219456" cy="274320"/>
          </a:xfrm>
          <a:prstGeom prst="rightArrow">
            <a:avLst/>
          </a:prstGeom>
          <a:solidFill>
            <a:schemeClr val="accent1"/>
          </a:solidFill>
          <a:ln/>
        </p:spPr>
      </p:sp>
      <p:sp>
        <p:nvSpPr>
          <p:cNvPr id="17" name="Step 2 card"/>
          <p:cNvSpPr/>
          <p:nvPr/>
        </p:nvSpPr>
        <p:spPr>
          <a:xfrm>
            <a:off x="3383280" y="3017520"/>
            <a:ext cx="2560320" cy="1828800"/>
          </a:xfrm>
          <a:prstGeom prst="roundRect">
            <a:avLst>
              <a:gd name="adj" fmla="val 6000"/>
            </a:avLst>
          </a:prstGeom>
          <a:solidFill>
            <a:schemeClr val="bg2"/>
          </a:solidFill>
          <a:ln/>
        </p:spPr>
      </p:sp>
      <p:sp>
        <p:nvSpPr>
          <p:cNvPr id="18" name="Step 2 circle"/>
          <p:cNvSpPr/>
          <p:nvPr/>
        </p:nvSpPr>
        <p:spPr>
          <a:xfrm>
            <a:off x="3611880" y="3200400"/>
            <a:ext cx="548640" cy="548640"/>
          </a:xfrm>
          <a:prstGeom prst="ellipse">
            <a:avLst/>
          </a:prstGeom>
          <a:solidFill>
            <a:schemeClr val="accent1"/>
          </a:solidFill>
          <a:ln/>
        </p:spPr>
      </p:sp>
      <p:pic>
        <p:nvPicPr>
          <p:cNvPr id="19" name="Step 2 icon" descr="Step 2">    </p:cNvPr>
          <p:cNvPicPr>
            <a:picLocks noChangeAspect="1"/>
          </p:cNvPicPr>
          <p:nvPr/>
        </p:nvPicPr>
        <p:blipFill>
          <a:blip r:embed="rId2"/>
          <a:stretch>
            <a:fillRect/>
          </a:stretch>
        </p:blipFill>
        <p:spPr>
          <a:xfrm>
            <a:off x="3749040" y="3337560"/>
            <a:ext cx="274320" cy="274320"/>
          </a:xfrm>
          <a:prstGeom prst="rect">
            <a:avLst/>
          </a:prstGeom>
        </p:spPr>
      </p:pic>
      <p:sp>
        <p:nvSpPr>
          <p:cNvPr id="20"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1"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2" name="Arrow 2"/>
          <p:cNvSpPr/>
          <p:nvPr/>
        </p:nvSpPr>
        <p:spPr>
          <a:xfrm>
            <a:off x="5971032" y="3794760"/>
            <a:ext cx="219456" cy="274320"/>
          </a:xfrm>
          <a:prstGeom prst="rightArrow">
            <a:avLst/>
          </a:prstGeom>
          <a:solidFill>
            <a:schemeClr val="accent1"/>
          </a:solidFill>
          <a:ln/>
        </p:spPr>
      </p:sp>
      <p:sp>
        <p:nvSpPr>
          <p:cNvPr id="23" name="Step 3 card"/>
          <p:cNvSpPr/>
          <p:nvPr/>
        </p:nvSpPr>
        <p:spPr>
          <a:xfrm>
            <a:off x="6217920" y="3017520"/>
            <a:ext cx="2560320" cy="1828800"/>
          </a:xfrm>
          <a:prstGeom prst="roundRect">
            <a:avLst>
              <a:gd name="adj" fmla="val 6000"/>
            </a:avLst>
          </a:prstGeom>
          <a:solidFill>
            <a:schemeClr val="bg2"/>
          </a:solidFill>
          <a:ln/>
        </p:spPr>
      </p:sp>
      <p:sp>
        <p:nvSpPr>
          <p:cNvPr id="24" name="Step 3 circle"/>
          <p:cNvSpPr/>
          <p:nvPr/>
        </p:nvSpPr>
        <p:spPr>
          <a:xfrm>
            <a:off x="6446520" y="3200400"/>
            <a:ext cx="548640" cy="548640"/>
          </a:xfrm>
          <a:prstGeom prst="ellipse">
            <a:avLst/>
          </a:prstGeom>
          <a:solidFill>
            <a:schemeClr val="accent1"/>
          </a:solidFill>
          <a:ln/>
        </p:spPr>
      </p:sp>
      <p:pic>
        <p:nvPicPr>
          <p:cNvPr id="25" name="Step 3 icon" descr="Step 3">    </p:cNvPr>
          <p:cNvPicPr>
            <a:picLocks noChangeAspect="1"/>
          </p:cNvPicPr>
          <p:nvPr/>
        </p:nvPicPr>
        <p:blipFill>
          <a:blip r:embed="rId3"/>
          <a:stretch>
            <a:fillRect/>
          </a:stretch>
        </p:blipFill>
        <p:spPr>
          <a:xfrm>
            <a:off x="6583680" y="3337560"/>
            <a:ext cx="274320" cy="274320"/>
          </a:xfrm>
          <a:prstGeom prst="rect">
            <a:avLst/>
          </a:prstGeom>
        </p:spPr>
      </p:pic>
      <p:sp>
        <p:nvSpPr>
          <p:cNvPr id="26"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7"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8" name="Arrow 3"/>
          <p:cNvSpPr/>
          <p:nvPr/>
        </p:nvSpPr>
        <p:spPr>
          <a:xfrm>
            <a:off x="8805672" y="3794760"/>
            <a:ext cx="219456" cy="274320"/>
          </a:xfrm>
          <a:prstGeom prst="rightArrow">
            <a:avLst/>
          </a:prstGeom>
          <a:solidFill>
            <a:schemeClr val="accent1"/>
          </a:solidFill>
          <a:ln/>
        </p:spPr>
      </p:sp>
      <p:sp>
        <p:nvSpPr>
          <p:cNvPr id="29" name="Step 4 card"/>
          <p:cNvSpPr/>
          <p:nvPr/>
        </p:nvSpPr>
        <p:spPr>
          <a:xfrm>
            <a:off x="9052560" y="3017520"/>
            <a:ext cx="2560320" cy="1828800"/>
          </a:xfrm>
          <a:prstGeom prst="roundRect">
            <a:avLst>
              <a:gd name="adj" fmla="val 6000"/>
            </a:avLst>
          </a:prstGeom>
          <a:solidFill>
            <a:schemeClr val="bg2"/>
          </a:solidFill>
          <a:ln/>
        </p:spPr>
      </p:sp>
      <p:sp>
        <p:nvSpPr>
          <p:cNvPr id="30" name="Step 4 circle"/>
          <p:cNvSpPr/>
          <p:nvPr/>
        </p:nvSpPr>
        <p:spPr>
          <a:xfrm>
            <a:off x="9281160" y="3200400"/>
            <a:ext cx="548640" cy="548640"/>
          </a:xfrm>
          <a:prstGeom prst="ellipse">
            <a:avLst/>
          </a:prstGeom>
          <a:solidFill>
            <a:schemeClr val="accent1"/>
          </a:solidFill>
          <a:ln/>
        </p:spPr>
      </p:sp>
      <p:pic>
        <p:nvPicPr>
          <p:cNvPr id="31" name="Step 4 icon" descr="Step 4">    </p:cNvPr>
          <p:cNvPicPr>
            <a:picLocks noChangeAspect="1"/>
          </p:cNvPicPr>
          <p:nvPr/>
        </p:nvPicPr>
        <p:blipFill>
          <a:blip r:embed="rId4"/>
          <a:stretch>
            <a:fillRect/>
          </a:stretch>
        </p:blipFill>
        <p:spPr>
          <a:xfrm>
            <a:off x="9418320" y="3337560"/>
            <a:ext cx="274320" cy="274320"/>
          </a:xfrm>
          <a:prstGeom prst="rect">
            <a:avLst/>
          </a:prstGeom>
        </p:spPr>
      </p:pic>
      <p:sp>
        <p:nvSpPr>
          <p:cNvPr id="32"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3"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4" name="Close box"/>
          <p:cNvSpPr/>
          <p:nvPr/>
        </p:nvSpPr>
        <p:spPr>
          <a:xfrm>
            <a:off x="548640" y="5074920"/>
            <a:ext cx="11064240" cy="1097280"/>
          </a:xfrm>
          <a:prstGeom prst="roundRect">
            <a:avLst>
              <a:gd name="adj" fmla="val 10000"/>
            </a:avLst>
          </a:prstGeom>
          <a:solidFill>
            <a:schemeClr val="tx1"/>
          </a:solidFill>
          <a:ln/>
        </p:spPr>
      </p:sp>
      <p:sp>
        <p:nvSpPr>
          <p:cNvPr id="35"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Next: </a:t>
            </a:r>
            <a:pPr indent="0" marL="0">
              <a:buNone/>
            </a:pPr>
            <a:r>
              <a:rPr lang="en-US" sz="1500" dirty="0">
                <a:solidFill>
                  <a:schemeClr val="bg1"/>
                </a:solidFill>
              </a:rPr>
              <a:t>blind taste test (≥7/9) → free squad trial.  </a:t>
            </a:r>
            <a:pPr indent="0" marL="0">
              <a:buNone/>
            </a:pPr>
            <a:r>
              <a:rPr lang="en-US" sz="1500" b="1" dirty="0">
                <a:solidFill>
                  <a:schemeClr val="accent1"/>
                </a:solidFill>
              </a:rPr>
              <a:t>Need: </a:t>
            </a:r>
            <a:pPr indent="0" marL="0">
              <a:buNone/>
            </a:pPr>
            <a:r>
              <a:rPr lang="en-US" sz="1500" dirty="0">
                <a:solidFill>
                  <a:schemeClr val="bg1"/>
                </a:solidFill>
              </a:rPr>
              <a:t>kitchen access + coach intros.</a:t>
            </a:r>
            <a:endParaRPr lang="en-US" sz="1500" dirty="0"/>
          </a:p>
          <a:p>
            <a:pPr indent="0" marL="0">
              <a:buNone/>
            </a:pPr>
            <a:r>
              <a:rPr lang="en-US" sz="1500" b="1" dirty="0">
                <a:solidFill>
                  <a:schemeClr val="bg1"/>
                </a:solidFill>
              </a:rPr>
              <a:t>Fresh, baked, real-food protein for people who train hard.</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Pitch">
  <a:themeElements>
    <a:clrScheme name="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protein snack: pitch</dc:title>
  <dc:subject>PptxGenJS Presentation</dc:subject>
  <dc:creator>Ewan</dc:creator>
  <cp:lastModifiedBy>Ewan</cp:lastModifiedBy>
  <cp:revision>1</cp:revision>
  <dcterms:created xsi:type="dcterms:W3CDTF">2026-10-15T14:20:26Z</dcterms:created>
  <dcterms:modified xsi:type="dcterms:W3CDTF">2026-10-15T14:20:26Z</dcterms:modified>
</cp:coreProperties>
</file>
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~50s. SAY FIRST: 'A fresh, baked protein snack made from real food for athletes who train hard and can't always cook. Baked to order and delivered to squads.' I'm Ewan, a Durham Business Management graduate; I train MMA, play football and lift. After two MMA classes back to back I'd eat a full meal and still be hungry. Going from MMA straight to football I had no time to cook. On a same-day weigh-in I had a short window to eat before competing. Every time, the choice was a lab-made protein bar full of powders and sweeteners, or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~55s. 80% of university athletes say their schedule limits their ability to cook (Morassutti 2024). Team-sport athletes hit protein but fall short on carbs (Jenner 2019). Whole-food products were the number one preference among 405 athletes (Carey 2023), and athletes rate everyday food tastier, cheaper and safer; sports foods only win on convenience (Forsyth 2023). Why this needs to happen: the quick options are lab bars full of powders, sweeteners and sugar alcohols, or 'natural' bars full of sugar. Over half of what UK adults eat is ultra-processed and 71% are trying to avoid it (Mintel 2025). After Joe Wicks' ultra-processed food documentary last year, Grenade's sales fell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~55s. I've spoken to 10 athletes and gym-goers, including a pro footballer and a rugby player, plus the Team Durham S&amp;C coach and a nutrition professor. My typical customer is Jack: trains once a day, plays a sport, is trying to eat well and listens to his coach. 8 of 10 train in the gym and are trying to eat better; their deal-breakers are taste and price. My early adopters are the sharpest slice of Jack: coached Durham squads and my MMA club. Their coaches tell them to eat whole food, and the Team Durham coach watched boxes of Grenade bars go uneaten. One coach means about 25 athletes and one delivery, perfect for a fresh product. It's a migraine, not a vitamin: it happens after almost every session. Honestly, nobody has committed yet; the squad trial tests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~55s. Protein bars give you protein, but from powders, sweeteners and sugar alcohols. Natural bars are real food but full of sugar. Quark gives real protein, but in a pot, not grab-and-go. I scored 25 UK protein snacks on four tests: at least 10 g protein, real-food protein, no sweeteners, low sugar. 20 have the protein, 11 are low in sugar, only 4 use real-food protein, and none pass all four. [pause] Why does the gap exist? Shops need bars that last months; real food lasts days, so brands use powders and sweeteners. I design around shelf life: bake to order and sell direct to squads. And it can work: in the US, RXBAR built an egg-white bar from a kitchen and sold for $600m, and Perfect Bar proved people buy protein bars from the fridge. Nobody's doing fresh-baked here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~50s. Same ingredients, three formats in testing: soft-baked bar, bites or a slice; the taste test decides. About 15 g protein per 50 g, calculated, not lab-tested yet. Squads order weekly through their coach; I bake to order, deliver chilled around Durham, eaten within a few days or frozen. Next: on Monday my gym poster and a simple landing page go live; both send people to a two-minute survey and a waitlist, so I'm counting real sign-ups, not compliments. Then a blind taste test against Barebells, aiming for 7 out of 9, then a free squad trial. What I need: kitchen access and coach introductions. SAY LAST: 'A fresh, baked protein snack made from real food for athletes who train hard and can't always cook. Baked to order and delivered to squads.'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Durham Venture School · Ewan Hetherington</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Durham Venture School · Ewan Hetherington</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lIns="0" tIns="0" rIns="0" bIns="0" rtlCol="0" anchor="t"/>
          <a:lstStyle/>
          <a:p>
            <a:pPr algn="l" indent="0" marL="0">
              <a:buNone/>
            </a:pPr>
            <a:r>
              <a:rPr lang="en-US" sz="3600" b="1" dirty="0">
                <a:solidFill>
                  <a:schemeClr val="bg1"/>
                </a:solidFill>
              </a:rPr>
              <a:t>A </a:t>
            </a:r>
            <a:pPr algn="l" indent="0" marL="0">
              <a:buNone/>
            </a:pPr>
            <a:r>
              <a:rPr lang="en-US" sz="3600" b="1" dirty="0">
                <a:solidFill>
                  <a:schemeClr val="accent1"/>
                </a:solidFill>
              </a:rPr>
              <a:t>real-food</a:t>
            </a:r>
            <a:pPr algn="l" indent="0" marL="0">
              <a:buNone/>
            </a:pPr>
            <a:r>
              <a:rPr lang="en-US" sz="3600" b="1" dirty="0">
                <a:solidFill>
                  <a:schemeClr val="bg1"/>
                </a:solidFill>
              </a:rPr>
              <a:t> protein snack for people who train hard</a:t>
            </a:r>
            <a:endParaRPr lang="en-US" sz="3600" dirty="0"/>
          </a:p>
        </p:txBody>
      </p:sp>
      <p:sp>
        <p:nvSpPr>
          <p:cNvPr id="3" name="Subtitle"/>
          <p:cNvSpPr txBox="1"/>
          <p:nvPr/>
        </p:nvSpPr>
        <p:spPr>
          <a:xfrm>
            <a:off x="548640" y="2194560"/>
            <a:ext cx="11064240" cy="548640"/>
          </a:xfrm>
          <a:prstGeom prst="rect">
            <a:avLst/>
          </a:prstGeom>
          <a:noFill/>
          <a:ln/>
        </p:spPr>
        <p:txBody>
          <a:bodyPr wrap="square" lIns="0" tIns="0" rIns="0" bIns="0" rtlCol="0" anchor="ctr"/>
          <a:lstStyle/>
          <a:p>
            <a:pPr indent="0" marL="0">
              <a:buNone/>
            </a:pPr>
            <a:r>
              <a:rPr lang="en-US" sz="2400" dirty="0">
                <a:solidFill>
                  <a:schemeClr val="bg1"/>
                </a:solidFill>
              </a:rPr>
              <a:t>Egg, quark &amp; oats.  Baked to order.  Delivered to squads.</a:t>
            </a:r>
            <a:endParaRPr lang="en-US" sz="2400" dirty="0"/>
          </a:p>
        </p:txBody>
      </p:sp>
      <p:sp>
        <p:nvSpPr>
          <p:cNvPr id="4" name="Story"/>
          <p:cNvSpPr txBox="1"/>
          <p:nvPr/>
        </p:nvSpPr>
        <p:spPr>
          <a:xfrm>
            <a:off x="548640" y="3200400"/>
            <a:ext cx="11064240" cy="457200"/>
          </a:xfrm>
          <a:prstGeom prst="rect">
            <a:avLst/>
          </a:prstGeom>
          <a:noFill/>
          <a:ln/>
        </p:spPr>
        <p:txBody>
          <a:bodyPr wrap="square" lIns="0" tIns="0" rIns="0" bIns="0" rtlCol="0" anchor="ctr"/>
          <a:lstStyle/>
          <a:p>
            <a:pPr indent="0" marL="0">
              <a:buNone/>
            </a:pPr>
            <a:r>
              <a:rPr lang="en-US" sz="2000" dirty="0">
                <a:solidFill>
                  <a:schemeClr val="accent3"/>
                </a:solidFill>
              </a:rPr>
              <a:t>Born from my own training: MMA, football, gym.</a:t>
            </a:r>
            <a:endParaRPr lang="en-US" sz="2000" dirty="0"/>
          </a:p>
        </p:txBody>
      </p:sp>
      <p:sp>
        <p:nvSpPr>
          <p:cNvPr id="5" name="Founder"/>
          <p:cNvSpPr txBox="1"/>
          <p:nvPr/>
        </p:nvSpPr>
        <p:spPr>
          <a:xfrm>
            <a:off x="548640" y="5669280"/>
            <a:ext cx="11064240" cy="365760"/>
          </a:xfrm>
          <a:prstGeom prst="rect">
            <a:avLst/>
          </a:prstGeom>
          <a:noFill/>
          <a:ln/>
        </p:spPr>
        <p:txBody>
          <a:bodyPr wrap="square" lIns="0" tIns="0" rIns="0" bIns="0" rtlCol="0" anchor="ctr"/>
          <a:lstStyle/>
          <a:p>
            <a:pPr indent="0" marL="0">
              <a:buNone/>
            </a:pPr>
            <a:r>
              <a:rPr lang="en-US" sz="1400" i="1" dirty="0">
                <a:solidFill>
                  <a:schemeClr val="accent3"/>
                </a:solidFill>
              </a:rPr>
              <a:t>Ewan Hetherington · Durham Business Management graduate</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problem: told to eat real food, no time to make it</a:t>
            </a:r>
            <a:endParaRPr lang="en-US" sz="3200" dirty="0"/>
          </a:p>
        </p:txBody>
      </p:sp>
      <p:sp>
        <p:nvSpPr>
          <p:cNvPr id="3" name="Stat 1"/>
          <p:cNvSpPr txBox="1"/>
          <p:nvPr/>
        </p:nvSpPr>
        <p:spPr>
          <a:xfrm>
            <a:off x="548640" y="1737360"/>
            <a:ext cx="3474720" cy="1188720"/>
          </a:xfrm>
          <a:prstGeom prst="rect">
            <a:avLst/>
          </a:prstGeom>
          <a:noFill/>
          <a:ln/>
        </p:spPr>
        <p:txBody>
          <a:bodyPr wrap="square" lIns="0" tIns="0" rIns="0" bIns="0" rtlCol="0" anchor="ctr"/>
          <a:lstStyle/>
          <a:p>
            <a:pPr indent="0" marL="0">
              <a:buNone/>
            </a:pPr>
            <a:r>
              <a:rPr lang="en-US" sz="7200" b="1" dirty="0">
                <a:solidFill>
                  <a:schemeClr val="accent1"/>
                </a:solidFill>
                <a:latin typeface="Arial" pitchFamily="34" charset="0"/>
                <a:ea typeface="Arial" pitchFamily="34" charset="-122"/>
                <a:cs typeface="Arial" pitchFamily="34" charset="-120"/>
              </a:rPr>
              <a:t>80%</a:t>
            </a:r>
            <a:endParaRPr lang="en-US" sz="7200" dirty="0"/>
          </a:p>
        </p:txBody>
      </p:sp>
      <p:sp>
        <p:nvSpPr>
          <p:cNvPr id="4" name="Stat 1 text"/>
          <p:cNvSpPr txBox="1"/>
          <p:nvPr/>
        </p:nvSpPr>
        <p:spPr>
          <a:xfrm>
            <a:off x="548640" y="2971800"/>
            <a:ext cx="3291840" cy="914400"/>
          </a:xfrm>
          <a:prstGeom prst="rect">
            <a:avLst/>
          </a:prstGeom>
          <a:noFill/>
          <a:ln/>
        </p:spPr>
        <p:txBody>
          <a:bodyPr wrap="square" lIns="0" tIns="0" rIns="0" bIns="0" rtlCol="0" anchor="t"/>
          <a:lstStyle/>
          <a:p>
            <a:pPr indent="0" marL="0">
              <a:buNone/>
            </a:pPr>
            <a:r>
              <a:rPr lang="en-US" sz="2000" dirty="0">
                <a:solidFill>
                  <a:schemeClr val="tx1"/>
                </a:solidFill>
              </a:rPr>
              <a:t>of student athletes say their schedule limits cooking</a:t>
            </a:r>
            <a:endParaRPr lang="en-US" sz="2000" dirty="0"/>
          </a:p>
        </p:txBody>
      </p:sp>
      <p:sp>
        <p:nvSpPr>
          <p:cNvPr id="5" name="Stat 2"/>
          <p:cNvSpPr txBox="1"/>
          <p:nvPr/>
        </p:nvSpPr>
        <p:spPr>
          <a:xfrm>
            <a:off x="4297680" y="1737360"/>
            <a:ext cx="3474720" cy="1188720"/>
          </a:xfrm>
          <a:prstGeom prst="rect">
            <a:avLst/>
          </a:prstGeom>
          <a:noFill/>
          <a:ln/>
        </p:spPr>
        <p:txBody>
          <a:bodyPr wrap="square" lIns="0" tIns="0" rIns="0" bIns="0" rtlCol="0" anchor="ctr"/>
          <a:lstStyle/>
          <a:p>
            <a:pPr indent="0" marL="0">
              <a:buNone/>
            </a:pPr>
            <a:r>
              <a:rPr lang="en-US" sz="7200" b="1" dirty="0">
                <a:solidFill>
                  <a:schemeClr val="accent1"/>
                </a:solidFill>
                <a:latin typeface="Arial" pitchFamily="34" charset="0"/>
                <a:ea typeface="Arial" pitchFamily="34" charset="-122"/>
                <a:cs typeface="Arial" pitchFamily="34" charset="-120"/>
              </a:rPr>
              <a:t>#1</a:t>
            </a:r>
            <a:endParaRPr lang="en-US" sz="7200" dirty="0"/>
          </a:p>
        </p:txBody>
      </p:sp>
      <p:sp>
        <p:nvSpPr>
          <p:cNvPr id="6" name="Stat 2 text"/>
          <p:cNvSpPr txBox="1"/>
          <p:nvPr/>
        </p:nvSpPr>
        <p:spPr>
          <a:xfrm>
            <a:off x="4297680" y="2971800"/>
            <a:ext cx="3291840" cy="914400"/>
          </a:xfrm>
          <a:prstGeom prst="rect">
            <a:avLst/>
          </a:prstGeom>
          <a:noFill/>
          <a:ln/>
        </p:spPr>
        <p:txBody>
          <a:bodyPr wrap="square" lIns="0" tIns="0" rIns="0" bIns="0" rtlCol="0" anchor="t"/>
          <a:lstStyle/>
          <a:p>
            <a:pPr indent="0" marL="0">
              <a:buNone/>
            </a:pPr>
            <a:r>
              <a:rPr lang="en-US" sz="2000" dirty="0">
                <a:solidFill>
                  <a:schemeClr val="tx1"/>
                </a:solidFill>
              </a:rPr>
              <a:t>whole food is athletes' top choice</a:t>
            </a:r>
            <a:endParaRPr lang="en-US" sz="2000" dirty="0"/>
          </a:p>
        </p:txBody>
      </p:sp>
      <p:sp>
        <p:nvSpPr>
          <p:cNvPr id="7" name="Stat 3"/>
          <p:cNvSpPr txBox="1"/>
          <p:nvPr/>
        </p:nvSpPr>
        <p:spPr>
          <a:xfrm>
            <a:off x="8046720" y="1737360"/>
            <a:ext cx="3474720" cy="1188720"/>
          </a:xfrm>
          <a:prstGeom prst="rect">
            <a:avLst/>
          </a:prstGeom>
          <a:noFill/>
          <a:ln/>
        </p:spPr>
        <p:txBody>
          <a:bodyPr wrap="square" lIns="0" tIns="0" rIns="0" bIns="0" rtlCol="0" anchor="ctr"/>
          <a:lstStyle/>
          <a:p>
            <a:pPr indent="0" marL="0">
              <a:buNone/>
            </a:pPr>
            <a:r>
              <a:rPr lang="en-US" sz="7200" b="1" dirty="0">
                <a:solidFill>
                  <a:schemeClr val="accent1"/>
                </a:solidFill>
                <a:latin typeface="Arial" pitchFamily="34" charset="0"/>
                <a:ea typeface="Arial" pitchFamily="34" charset="-122"/>
                <a:cs typeface="Arial" pitchFamily="34" charset="-120"/>
              </a:rPr>
              <a:t>71%</a:t>
            </a:r>
            <a:endParaRPr lang="en-US" sz="7200" dirty="0"/>
          </a:p>
        </p:txBody>
      </p:sp>
      <p:sp>
        <p:nvSpPr>
          <p:cNvPr id="8" name="Stat 3 text"/>
          <p:cNvSpPr txBox="1"/>
          <p:nvPr/>
        </p:nvSpPr>
        <p:spPr>
          <a:xfrm>
            <a:off x="8046720" y="2971800"/>
            <a:ext cx="3291840" cy="914400"/>
          </a:xfrm>
          <a:prstGeom prst="rect">
            <a:avLst/>
          </a:prstGeom>
          <a:noFill/>
          <a:ln/>
        </p:spPr>
        <p:txBody>
          <a:bodyPr wrap="square" lIns="0" tIns="0" rIns="0" bIns="0" rtlCol="0" anchor="t"/>
          <a:lstStyle/>
          <a:p>
            <a:pPr indent="0" marL="0">
              <a:buNone/>
            </a:pPr>
            <a:r>
              <a:rPr lang="en-US" sz="2000" dirty="0">
                <a:solidFill>
                  <a:schemeClr val="tx1"/>
                </a:solidFill>
              </a:rPr>
              <a:t>of UK adults try to avoid ultra-processed food</a:t>
            </a:r>
            <a:endParaRPr lang="en-US" sz="2000" dirty="0"/>
          </a:p>
        </p:txBody>
      </p:sp>
      <p:sp>
        <p:nvSpPr>
          <p:cNvPr id="9" name="Punchline"/>
          <p:cNvSpPr txBox="1"/>
          <p:nvPr/>
        </p:nvSpPr>
        <p:spPr>
          <a:xfrm>
            <a:off x="548640" y="4846320"/>
            <a:ext cx="11064240" cy="548640"/>
          </a:xfrm>
          <a:prstGeom prst="rect">
            <a:avLst/>
          </a:prstGeom>
          <a:noFill/>
          <a:ln/>
        </p:spPr>
        <p:txBody>
          <a:bodyPr wrap="square" lIns="0" tIns="0" rIns="0" bIns="0" rtlCol="0" anchor="ctr"/>
          <a:lstStyle/>
          <a:p>
            <a:pPr indent="0" marL="0">
              <a:buNone/>
            </a:pPr>
            <a:r>
              <a:rPr lang="en-US" sz="2400" b="1" dirty="0">
                <a:solidFill>
                  <a:schemeClr val="tx1"/>
                </a:solidFill>
              </a:rPr>
              <a:t>Quick options today: lab bars or sugary bars.</a:t>
            </a:r>
            <a:endParaRPr lang="en-US" sz="2400" dirty="0"/>
          </a:p>
        </p:txBody>
      </p:sp>
      <p:sp>
        <p:nvSpPr>
          <p:cNvPr id="10" name="Sources"/>
          <p:cNvSpPr txBox="1"/>
          <p:nvPr/>
        </p:nvSpPr>
        <p:spPr>
          <a:xfrm>
            <a:off x="548640" y="5852160"/>
            <a:ext cx="11064240" cy="274320"/>
          </a:xfrm>
          <a:prstGeom prst="rect">
            <a:avLst/>
          </a:prstGeom>
          <a:noFill/>
          <a:ln/>
        </p:spPr>
        <p:txBody>
          <a:bodyPr wrap="square" lIns="0" tIns="0" rIns="0" bIns="0" rtlCol="0" anchor="ctr"/>
          <a:lstStyle/>
          <a:p>
            <a:pPr indent="0" marL="0">
              <a:buNone/>
            </a:pPr>
            <a:r>
              <a:rPr lang="en-US" sz="1000" i="1" dirty="0">
                <a:solidFill>
                  <a:schemeClr val="accent3"/>
                </a:solidFill>
              </a:rPr>
              <a:t>Morassutti 2024 · Carey 2023 · Mintel 2025</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Who it's for</a:t>
            </a:r>
            <a:endParaRPr lang="en-US" sz="3200" dirty="0"/>
          </a:p>
        </p:txBody>
      </p:sp>
      <p:sp>
        <p:nvSpPr>
          <p:cNvPr id="3" name="Card 1"/>
          <p:cNvSpPr/>
          <p:nvPr/>
        </p:nvSpPr>
        <p:spPr>
          <a:xfrm>
            <a:off x="548640" y="1463040"/>
            <a:ext cx="3474720" cy="3291840"/>
          </a:xfrm>
          <a:prstGeom prst="roundRect">
            <a:avLst>
              <a:gd name="adj" fmla="val 3333"/>
            </a:avLst>
          </a:prstGeom>
          <a:solidFill>
            <a:schemeClr val="bg2"/>
          </a:solidFill>
          <a:ln/>
        </p:spPr>
      </p:sp>
      <p:sp>
        <p:nvSpPr>
          <p:cNvPr id="4" name="Card 1 title"/>
          <p:cNvSpPr txBox="1"/>
          <p:nvPr/>
        </p:nvSpPr>
        <p:spPr>
          <a:xfrm>
            <a:off x="822960" y="1691640"/>
            <a:ext cx="2926080" cy="548640"/>
          </a:xfrm>
          <a:prstGeom prst="rect">
            <a:avLst/>
          </a:prstGeom>
          <a:noFill/>
          <a:ln/>
        </p:spPr>
        <p:txBody>
          <a:bodyPr wrap="square" lIns="0" tIns="0" rIns="0" bIns="0" rtlCol="0" anchor="ctr"/>
          <a:lstStyle/>
          <a:p>
            <a:pPr indent="0" marL="0">
              <a:buNone/>
            </a:pPr>
            <a:r>
              <a:rPr lang="en-US" sz="2400" b="1" dirty="0">
                <a:solidFill>
                  <a:schemeClr val="tx1"/>
                </a:solidFill>
              </a:rPr>
              <a:t>Customer: Jack</a:t>
            </a:r>
            <a:endParaRPr lang="en-US" sz="2400" dirty="0"/>
          </a:p>
        </p:txBody>
      </p:sp>
      <p:sp>
        <p:nvSpPr>
          <p:cNvPr id="5" name="Card 1 text"/>
          <p:cNvSpPr txBox="1"/>
          <p:nvPr/>
        </p:nvSpPr>
        <p:spPr>
          <a:xfrm>
            <a:off x="822960" y="2377440"/>
            <a:ext cx="2926080" cy="2194560"/>
          </a:xfrm>
          <a:prstGeom prst="rect">
            <a:avLst/>
          </a:prstGeom>
          <a:noFill/>
          <a:ln/>
        </p:spPr>
        <p:txBody>
          <a:bodyPr wrap="square" lIns="0" tIns="0" rIns="0" bIns="0" rtlCol="0" anchor="t"/>
          <a:lstStyle/>
          <a:p>
            <a:pPr indent="0" marL="0">
              <a:buNone/>
            </a:pPr>
            <a:r>
              <a:rPr lang="en-US" sz="2200" dirty="0">
                <a:solidFill>
                  <a:schemeClr val="tx1"/>
                </a:solidFill>
              </a:rPr>
              <a:t>Trains daily.</a:t>
            </a:r>
            <a:endParaRPr lang="en-US" sz="2200" dirty="0"/>
          </a:p>
          <a:p>
            <a:pPr indent="0" marL="0">
              <a:buNone/>
            </a:pPr>
            <a:r>
              <a:rPr lang="en-US" sz="2200" dirty="0">
                <a:solidFill>
                  <a:schemeClr val="tx1"/>
                </a:solidFill>
              </a:rPr>
              <a:t>Trying to eat well.</a:t>
            </a:r>
            <a:endParaRPr lang="en-US" sz="2200" dirty="0"/>
          </a:p>
          <a:p>
            <a:pPr indent="0" marL="0">
              <a:buNone/>
            </a:pPr>
            <a:r>
              <a:rPr lang="en-US" sz="2200" dirty="0">
                <a:solidFill>
                  <a:schemeClr val="tx1"/>
                </a:solidFill>
              </a:rPr>
              <a:t>Listens to his coach.</a:t>
            </a:r>
            <a:endParaRPr lang="en-US" sz="2200" dirty="0"/>
          </a:p>
        </p:txBody>
      </p:sp>
      <p:sp>
        <p:nvSpPr>
          <p:cNvPr id="6" name="Card 2"/>
          <p:cNvSpPr/>
          <p:nvPr/>
        </p:nvSpPr>
        <p:spPr>
          <a:xfrm>
            <a:off x="4297680" y="1463040"/>
            <a:ext cx="3474720" cy="3291840"/>
          </a:xfrm>
          <a:prstGeom prst="roundRect">
            <a:avLst>
              <a:gd name="adj" fmla="val 3333"/>
            </a:avLst>
          </a:prstGeom>
          <a:solidFill>
            <a:schemeClr val="accent4"/>
          </a:solidFill>
          <a:ln/>
        </p:spPr>
      </p:sp>
      <p:sp>
        <p:nvSpPr>
          <p:cNvPr id="7" name="Card 2 title"/>
          <p:cNvSpPr txBox="1"/>
          <p:nvPr/>
        </p:nvSpPr>
        <p:spPr>
          <a:xfrm>
            <a:off x="4572000" y="1691640"/>
            <a:ext cx="2926080" cy="548640"/>
          </a:xfrm>
          <a:prstGeom prst="rect">
            <a:avLst/>
          </a:prstGeom>
          <a:noFill/>
          <a:ln/>
        </p:spPr>
        <p:txBody>
          <a:bodyPr wrap="square" lIns="0" tIns="0" rIns="0" bIns="0" rtlCol="0" anchor="ctr"/>
          <a:lstStyle/>
          <a:p>
            <a:pPr indent="0" marL="0">
              <a:buNone/>
            </a:pPr>
            <a:r>
              <a:rPr lang="en-US" sz="2400" b="1" dirty="0">
                <a:solidFill>
                  <a:schemeClr val="accent5"/>
                </a:solidFill>
              </a:rPr>
              <a:t>Early adopters</a:t>
            </a:r>
            <a:endParaRPr lang="en-US" sz="2400" dirty="0"/>
          </a:p>
        </p:txBody>
      </p:sp>
      <p:sp>
        <p:nvSpPr>
          <p:cNvPr id="8" name="Card 2 text"/>
          <p:cNvSpPr txBox="1"/>
          <p:nvPr/>
        </p:nvSpPr>
        <p:spPr>
          <a:xfrm>
            <a:off x="4572000" y="2377440"/>
            <a:ext cx="2926080" cy="2194560"/>
          </a:xfrm>
          <a:prstGeom prst="rect">
            <a:avLst/>
          </a:prstGeom>
          <a:noFill/>
          <a:ln/>
        </p:spPr>
        <p:txBody>
          <a:bodyPr wrap="square" lIns="0" tIns="0" rIns="0" bIns="0" rtlCol="0" anchor="t"/>
          <a:lstStyle/>
          <a:p>
            <a:pPr indent="0" marL="0">
              <a:buNone/>
            </a:pPr>
            <a:r>
              <a:rPr lang="en-US" sz="2200" dirty="0">
                <a:solidFill>
                  <a:schemeClr val="tx1"/>
                </a:solidFill>
              </a:rPr>
              <a:t>Coached Durham squads</a:t>
            </a:r>
            <a:endParaRPr lang="en-US" sz="2200" dirty="0"/>
          </a:p>
          <a:p>
            <a:pPr indent="0" marL="0">
              <a:buNone/>
            </a:pPr>
            <a:r>
              <a:rPr lang="en-US" sz="2200" dirty="0">
                <a:solidFill>
                  <a:schemeClr val="tx1"/>
                </a:solidFill>
              </a:rPr>
              <a:t>+ my MMA club.</a:t>
            </a:r>
            <a:endParaRPr lang="en-US" sz="2200" dirty="0"/>
          </a:p>
        </p:txBody>
      </p:sp>
      <p:sp>
        <p:nvSpPr>
          <p:cNvPr id="9" name="Card 3"/>
          <p:cNvSpPr/>
          <p:nvPr/>
        </p:nvSpPr>
        <p:spPr>
          <a:xfrm>
            <a:off x="8046720" y="1463040"/>
            <a:ext cx="3474720" cy="3291840"/>
          </a:xfrm>
          <a:prstGeom prst="roundRect">
            <a:avLst>
              <a:gd name="adj" fmla="val 3333"/>
            </a:avLst>
          </a:prstGeom>
          <a:solidFill>
            <a:schemeClr val="bg2"/>
          </a:solidFill>
          <a:ln/>
        </p:spPr>
      </p:sp>
      <p:sp>
        <p:nvSpPr>
          <p:cNvPr id="10" name="Card 3 title"/>
          <p:cNvSpPr txBox="1"/>
          <p:nvPr/>
        </p:nvSpPr>
        <p:spPr>
          <a:xfrm>
            <a:off x="8321040" y="1691640"/>
            <a:ext cx="2926080" cy="548640"/>
          </a:xfrm>
          <a:prstGeom prst="rect">
            <a:avLst/>
          </a:prstGeom>
          <a:noFill/>
          <a:ln/>
        </p:spPr>
        <p:txBody>
          <a:bodyPr wrap="square" lIns="0" tIns="0" rIns="0" bIns="0" rtlCol="0" anchor="ctr"/>
          <a:lstStyle/>
          <a:p>
            <a:pPr indent="0" marL="0">
              <a:buNone/>
            </a:pPr>
            <a:r>
              <a:rPr lang="en-US" sz="2400" b="1" dirty="0">
                <a:solidFill>
                  <a:schemeClr val="tx1"/>
                </a:solidFill>
              </a:rPr>
              <a:t>Why them</a:t>
            </a:r>
            <a:endParaRPr lang="en-US" sz="2400" dirty="0"/>
          </a:p>
        </p:txBody>
      </p:sp>
      <p:sp>
        <p:nvSpPr>
          <p:cNvPr id="11" name="Card 3 text"/>
          <p:cNvSpPr txBox="1"/>
          <p:nvPr/>
        </p:nvSpPr>
        <p:spPr>
          <a:xfrm>
            <a:off x="8321040" y="2377440"/>
            <a:ext cx="2926080" cy="2194560"/>
          </a:xfrm>
          <a:prstGeom prst="rect">
            <a:avLst/>
          </a:prstGeom>
          <a:noFill/>
          <a:ln/>
        </p:spPr>
        <p:txBody>
          <a:bodyPr wrap="square" lIns="0" tIns="0" rIns="0" bIns="0" rtlCol="0" anchor="t"/>
          <a:lstStyle/>
          <a:p>
            <a:pPr indent="0" marL="0">
              <a:buNone/>
            </a:pPr>
            <a:r>
              <a:rPr lang="en-US" sz="2200" dirty="0">
                <a:solidFill>
                  <a:schemeClr val="tx1"/>
                </a:solidFill>
              </a:rPr>
              <a:t>1 coach = 25 athletes</a:t>
            </a:r>
            <a:endParaRPr lang="en-US" sz="2200" dirty="0"/>
          </a:p>
          <a:p>
            <a:pPr indent="0" marL="0">
              <a:buNone/>
            </a:pPr>
            <a:r>
              <a:rPr lang="en-US" sz="2200" dirty="0">
                <a:solidFill>
                  <a:schemeClr val="tx1"/>
                </a:solidFill>
              </a:rPr>
              <a:t>= 1 delivery.</a:t>
            </a:r>
            <a:endParaRPr lang="en-US" sz="2200" dirty="0"/>
          </a:p>
        </p:txBody>
      </p:sp>
      <p:sp>
        <p:nvSpPr>
          <p:cNvPr id="12" name="Evidence"/>
          <p:cNvSpPr txBox="1"/>
          <p:nvPr/>
        </p:nvSpPr>
        <p:spPr>
          <a:xfrm>
            <a:off x="548640" y="5120640"/>
            <a:ext cx="11064240" cy="457200"/>
          </a:xfrm>
          <a:prstGeom prst="rect">
            <a:avLst/>
          </a:prstGeom>
          <a:noFill/>
          <a:ln/>
        </p:spPr>
        <p:txBody>
          <a:bodyPr wrap="square" lIns="0" tIns="0" rIns="0" bIns="0" rtlCol="0" anchor="ctr"/>
          <a:lstStyle/>
          <a:p>
            <a:pPr indent="0" marL="0">
              <a:buNone/>
            </a:pPr>
            <a:r>
              <a:rPr lang="en-US" sz="1800" dirty="0">
                <a:solidFill>
                  <a:schemeClr val="accent3"/>
                </a:solidFill>
              </a:rPr>
              <a:t>Based on 10 athlete interviews + an S&amp;C coach + a nutrition professor.</a:t>
            </a:r>
            <a:endParaRPr lang="en-US" sz="18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The gap: nobody does all three</a:t>
            </a:r>
            <a:endParaRPr lang="en-US" sz="3200" dirty="0"/>
          </a:p>
        </p:txBody>
      </p:sp>
      <p:sp>
        <p:nvSpPr>
          <p:cNvPr id="3" name="Row 1 name"/>
          <p:cNvSpPr txBox="1"/>
          <p:nvPr/>
        </p:nvSpPr>
        <p:spPr>
          <a:xfrm>
            <a:off x="548640" y="1417320"/>
            <a:ext cx="3291840" cy="640080"/>
          </a:xfrm>
          <a:prstGeom prst="rect">
            <a:avLst/>
          </a:prstGeom>
          <a:noFill/>
          <a:ln/>
        </p:spPr>
        <p:txBody>
          <a:bodyPr wrap="square" lIns="0" tIns="0" rIns="0" bIns="0" rtlCol="0" anchor="ctr"/>
          <a:lstStyle/>
          <a:p>
            <a:pPr indent="0" marL="0">
              <a:buNone/>
            </a:pPr>
            <a:r>
              <a:rPr lang="en-US" sz="2600" b="1" dirty="0">
                <a:solidFill>
                  <a:schemeClr val="tx1"/>
                </a:solidFill>
              </a:rPr>
              <a:t>Protein bars</a:t>
            </a:r>
            <a:endParaRPr lang="en-US" sz="2600" dirty="0"/>
          </a:p>
        </p:txBody>
      </p:sp>
      <p:sp>
        <p:nvSpPr>
          <p:cNvPr id="4" name="Row 1 good"/>
          <p:cNvSpPr txBox="1"/>
          <p:nvPr/>
        </p:nvSpPr>
        <p:spPr>
          <a:xfrm>
            <a:off x="4023360" y="1417320"/>
            <a:ext cx="3474720" cy="640080"/>
          </a:xfrm>
          <a:prstGeom prst="rect">
            <a:avLst/>
          </a:prstGeom>
          <a:noFill/>
          <a:ln/>
        </p:spPr>
        <p:txBody>
          <a:bodyPr wrap="square" lIns="0" tIns="0" rIns="0" bIns="0" rtlCol="0" anchor="ctr"/>
          <a:lstStyle/>
          <a:p>
            <a:pPr indent="0" marL="0">
              <a:buNone/>
            </a:pPr>
            <a:r>
              <a:rPr lang="en-US" sz="2400" dirty="0">
                <a:solidFill>
                  <a:schemeClr val="accent2"/>
                </a:solidFill>
              </a:rPr>
              <a:t>✓ high protein</a:t>
            </a:r>
            <a:endParaRPr lang="en-US" sz="2400" dirty="0"/>
          </a:p>
        </p:txBody>
      </p:sp>
      <p:sp>
        <p:nvSpPr>
          <p:cNvPr id="5" name="Row 1 bad"/>
          <p:cNvSpPr txBox="1"/>
          <p:nvPr/>
        </p:nvSpPr>
        <p:spPr>
          <a:xfrm>
            <a:off x="7589520" y="1417320"/>
            <a:ext cx="4023360" cy="640080"/>
          </a:xfrm>
          <a:prstGeom prst="rect">
            <a:avLst/>
          </a:prstGeom>
          <a:noFill/>
          <a:ln/>
        </p:spPr>
        <p:txBody>
          <a:bodyPr wrap="square" lIns="0" tIns="0" rIns="0" bIns="0" rtlCol="0" anchor="ctr"/>
          <a:lstStyle/>
          <a:p>
            <a:pPr indent="0" marL="0">
              <a:buNone/>
            </a:pPr>
            <a:r>
              <a:rPr lang="en-US" sz="2400" dirty="0">
                <a:solidFill>
                  <a:schemeClr val="accent1"/>
                </a:solidFill>
              </a:rPr>
              <a:t>✗ powders &amp; sweeteners</a:t>
            </a:r>
            <a:endParaRPr lang="en-US" sz="2400" dirty="0"/>
          </a:p>
        </p:txBody>
      </p:sp>
      <p:sp>
        <p:nvSpPr>
          <p:cNvPr id="6" name="Row 2 name"/>
          <p:cNvSpPr txBox="1"/>
          <p:nvPr/>
        </p:nvSpPr>
        <p:spPr>
          <a:xfrm>
            <a:off x="548640" y="2286000"/>
            <a:ext cx="3291840" cy="640080"/>
          </a:xfrm>
          <a:prstGeom prst="rect">
            <a:avLst/>
          </a:prstGeom>
          <a:noFill/>
          <a:ln/>
        </p:spPr>
        <p:txBody>
          <a:bodyPr wrap="square" lIns="0" tIns="0" rIns="0" bIns="0" rtlCol="0" anchor="ctr"/>
          <a:lstStyle/>
          <a:p>
            <a:pPr indent="0" marL="0">
              <a:buNone/>
            </a:pPr>
            <a:r>
              <a:rPr lang="en-US" sz="2600" b="1" dirty="0">
                <a:solidFill>
                  <a:schemeClr val="tx1"/>
                </a:solidFill>
              </a:rPr>
              <a:t>"Natural" bars</a:t>
            </a:r>
            <a:endParaRPr lang="en-US" sz="2600" dirty="0"/>
          </a:p>
        </p:txBody>
      </p:sp>
      <p:sp>
        <p:nvSpPr>
          <p:cNvPr id="7" name="Row 2 good"/>
          <p:cNvSpPr txBox="1"/>
          <p:nvPr/>
        </p:nvSpPr>
        <p:spPr>
          <a:xfrm>
            <a:off x="4023360" y="2286000"/>
            <a:ext cx="3474720" cy="640080"/>
          </a:xfrm>
          <a:prstGeom prst="rect">
            <a:avLst/>
          </a:prstGeom>
          <a:noFill/>
          <a:ln/>
        </p:spPr>
        <p:txBody>
          <a:bodyPr wrap="square" lIns="0" tIns="0" rIns="0" bIns="0" rtlCol="0" anchor="ctr"/>
          <a:lstStyle/>
          <a:p>
            <a:pPr indent="0" marL="0">
              <a:buNone/>
            </a:pPr>
            <a:r>
              <a:rPr lang="en-US" sz="2400" dirty="0">
                <a:solidFill>
                  <a:schemeClr val="accent2"/>
                </a:solidFill>
              </a:rPr>
              <a:t>✓ real food</a:t>
            </a:r>
            <a:endParaRPr lang="en-US" sz="2400" dirty="0"/>
          </a:p>
        </p:txBody>
      </p:sp>
      <p:sp>
        <p:nvSpPr>
          <p:cNvPr id="8" name="Row 2 bad"/>
          <p:cNvSpPr txBox="1"/>
          <p:nvPr/>
        </p:nvSpPr>
        <p:spPr>
          <a:xfrm>
            <a:off x="7589520" y="2286000"/>
            <a:ext cx="4023360" cy="640080"/>
          </a:xfrm>
          <a:prstGeom prst="rect">
            <a:avLst/>
          </a:prstGeom>
          <a:noFill/>
          <a:ln/>
        </p:spPr>
        <p:txBody>
          <a:bodyPr wrap="square" lIns="0" tIns="0" rIns="0" bIns="0" rtlCol="0" anchor="ctr"/>
          <a:lstStyle/>
          <a:p>
            <a:pPr indent="0" marL="0">
              <a:buNone/>
            </a:pPr>
            <a:r>
              <a:rPr lang="en-US" sz="2400" dirty="0">
                <a:solidFill>
                  <a:schemeClr val="accent1"/>
                </a:solidFill>
              </a:rPr>
              <a:t>✗ high sugar</a:t>
            </a:r>
            <a:endParaRPr lang="en-US" sz="2400" dirty="0"/>
          </a:p>
        </p:txBody>
      </p:sp>
      <p:sp>
        <p:nvSpPr>
          <p:cNvPr id="9" name="Row 3 name"/>
          <p:cNvSpPr txBox="1"/>
          <p:nvPr/>
        </p:nvSpPr>
        <p:spPr>
          <a:xfrm>
            <a:off x="548640" y="3154680"/>
            <a:ext cx="3291840" cy="640080"/>
          </a:xfrm>
          <a:prstGeom prst="rect">
            <a:avLst/>
          </a:prstGeom>
          <a:noFill/>
          <a:ln/>
        </p:spPr>
        <p:txBody>
          <a:bodyPr wrap="square" lIns="0" tIns="0" rIns="0" bIns="0" rtlCol="0" anchor="ctr"/>
          <a:lstStyle/>
          <a:p>
            <a:pPr indent="0" marL="0">
              <a:buNone/>
            </a:pPr>
            <a:r>
              <a:rPr lang="en-US" sz="2600" b="1" dirty="0">
                <a:solidFill>
                  <a:schemeClr val="tx1"/>
                </a:solidFill>
              </a:rPr>
              <a:t>Quark pots</a:t>
            </a:r>
            <a:endParaRPr lang="en-US" sz="2600" dirty="0"/>
          </a:p>
        </p:txBody>
      </p:sp>
      <p:sp>
        <p:nvSpPr>
          <p:cNvPr id="10" name="Row 3 good"/>
          <p:cNvSpPr txBox="1"/>
          <p:nvPr/>
        </p:nvSpPr>
        <p:spPr>
          <a:xfrm>
            <a:off x="4023360" y="3154680"/>
            <a:ext cx="3474720" cy="640080"/>
          </a:xfrm>
          <a:prstGeom prst="rect">
            <a:avLst/>
          </a:prstGeom>
          <a:noFill/>
          <a:ln/>
        </p:spPr>
        <p:txBody>
          <a:bodyPr wrap="square" lIns="0" tIns="0" rIns="0" bIns="0" rtlCol="0" anchor="ctr"/>
          <a:lstStyle/>
          <a:p>
            <a:pPr indent="0" marL="0">
              <a:buNone/>
            </a:pPr>
            <a:r>
              <a:rPr lang="en-US" sz="2400" dirty="0">
                <a:solidFill>
                  <a:schemeClr val="accent2"/>
                </a:solidFill>
              </a:rPr>
              <a:t>✓ real protein</a:t>
            </a:r>
            <a:endParaRPr lang="en-US" sz="2400" dirty="0"/>
          </a:p>
        </p:txBody>
      </p:sp>
      <p:sp>
        <p:nvSpPr>
          <p:cNvPr id="11" name="Row 3 bad"/>
          <p:cNvSpPr txBox="1"/>
          <p:nvPr/>
        </p:nvSpPr>
        <p:spPr>
          <a:xfrm>
            <a:off x="7589520" y="3154680"/>
            <a:ext cx="4023360" cy="640080"/>
          </a:xfrm>
          <a:prstGeom prst="rect">
            <a:avLst/>
          </a:prstGeom>
          <a:noFill/>
          <a:ln/>
        </p:spPr>
        <p:txBody>
          <a:bodyPr wrap="square" lIns="0" tIns="0" rIns="0" bIns="0" rtlCol="0" anchor="ctr"/>
          <a:lstStyle/>
          <a:p>
            <a:pPr indent="0" marL="0">
              <a:buNone/>
            </a:pPr>
            <a:r>
              <a:rPr lang="en-US" sz="2400" dirty="0">
                <a:solidFill>
                  <a:schemeClr val="accent1"/>
                </a:solidFill>
              </a:rPr>
              <a:t>✗ not grab-and-go</a:t>
            </a:r>
            <a:endParaRPr lang="en-US" sz="2400" dirty="0"/>
          </a:p>
        </p:txBody>
      </p:sp>
      <p:sp>
        <p:nvSpPr>
          <p:cNvPr id="12" name="Gap box"/>
          <p:cNvSpPr/>
          <p:nvPr/>
        </p:nvSpPr>
        <p:spPr>
          <a:xfrm>
            <a:off x="548640" y="4206240"/>
            <a:ext cx="11064240" cy="1463040"/>
          </a:xfrm>
          <a:prstGeom prst="roundRect">
            <a:avLst>
              <a:gd name="adj" fmla="val 7500"/>
            </a:avLst>
          </a:prstGeom>
          <a:solidFill>
            <a:schemeClr val="tx1"/>
          </a:solidFill>
          <a:ln/>
        </p:spPr>
      </p:sp>
      <p:sp>
        <p:nvSpPr>
          <p:cNvPr id="13" name="Gap line"/>
          <p:cNvSpPr txBox="1"/>
          <p:nvPr/>
        </p:nvSpPr>
        <p:spPr>
          <a:xfrm>
            <a:off x="822960" y="4343400"/>
            <a:ext cx="10515600" cy="548640"/>
          </a:xfrm>
          <a:prstGeom prst="rect">
            <a:avLst/>
          </a:prstGeom>
          <a:noFill/>
          <a:ln/>
        </p:spPr>
        <p:txBody>
          <a:bodyPr wrap="square" lIns="0" tIns="0" rIns="0" bIns="0" rtlCol="0" anchor="ctr"/>
          <a:lstStyle/>
          <a:p>
            <a:pPr indent="0" marL="0">
              <a:buNone/>
            </a:pPr>
            <a:r>
              <a:rPr lang="en-US" sz="2400" b="1" dirty="0">
                <a:solidFill>
                  <a:schemeClr val="bg1"/>
                </a:solidFill>
              </a:rPr>
              <a:t>25 UK snacks tested. 0 are high protein, real food AND low sugar.</a:t>
            </a:r>
            <a:endParaRPr lang="en-US" sz="2400" dirty="0"/>
          </a:p>
        </p:txBody>
      </p:sp>
      <p:sp>
        <p:nvSpPr>
          <p:cNvPr id="14" name="Why line"/>
          <p:cNvSpPr txBox="1"/>
          <p:nvPr/>
        </p:nvSpPr>
        <p:spPr>
          <a:xfrm>
            <a:off x="822960" y="4937760"/>
            <a:ext cx="10515600" cy="548640"/>
          </a:xfrm>
          <a:prstGeom prst="rect">
            <a:avLst/>
          </a:prstGeom>
          <a:noFill/>
          <a:ln/>
        </p:spPr>
        <p:txBody>
          <a:bodyPr wrap="square" lIns="0" tIns="0" rIns="0" bIns="0" rtlCol="0" anchor="ctr"/>
          <a:lstStyle/>
          <a:p>
            <a:pPr indent="0" marL="0">
              <a:buNone/>
            </a:pPr>
            <a:r>
              <a:rPr lang="en-US" sz="2000" dirty="0">
                <a:solidFill>
                  <a:schemeClr val="accent4"/>
                </a:solidFill>
              </a:rPr>
              <a:t>Why? Shops need months of shelf life. Real food lasts days.</a:t>
            </a:r>
            <a:endParaRPr lang="en-US" sz="2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it works and what's next</a:t>
            </a:r>
            <a:endParaRPr lang="en-US" sz="3200" dirty="0"/>
          </a:p>
        </p:txBody>
      </p:sp>
      <p:sp>
        <p:nvSpPr>
          <p:cNvPr id="3" name="Flow"/>
          <p:cNvSpPr txBox="1"/>
          <p:nvPr/>
        </p:nvSpPr>
        <p:spPr>
          <a:xfrm>
            <a:off x="548640" y="1554480"/>
            <a:ext cx="11064240" cy="640080"/>
          </a:xfrm>
          <a:prstGeom prst="rect">
            <a:avLst/>
          </a:prstGeom>
          <a:noFill/>
          <a:ln/>
        </p:spPr>
        <p:txBody>
          <a:bodyPr wrap="square" lIns="0" tIns="0" rIns="0" bIns="0" rtlCol="0" anchor="ctr"/>
          <a:lstStyle/>
          <a:p>
            <a:pPr indent="0" marL="0">
              <a:buNone/>
            </a:pPr>
            <a:r>
              <a:rPr lang="en-US" sz="2800" b="1" dirty="0">
                <a:solidFill>
                  <a:schemeClr val="tx1"/>
                </a:solidFill>
              </a:rPr>
              <a:t>Bake to order  →  deliver chilled  →  squads</a:t>
            </a:r>
            <a:endParaRPr lang="en-US" sz="2800" dirty="0"/>
          </a:p>
        </p:txBody>
      </p:sp>
      <p:sp>
        <p:nvSpPr>
          <p:cNvPr id="4" name="Spec"/>
          <p:cNvSpPr txBox="1"/>
          <p:nvPr/>
        </p:nvSpPr>
        <p:spPr>
          <a:xfrm>
            <a:off x="548640" y="2286000"/>
            <a:ext cx="11064240" cy="457200"/>
          </a:xfrm>
          <a:prstGeom prst="rect">
            <a:avLst/>
          </a:prstGeom>
          <a:noFill/>
          <a:ln/>
        </p:spPr>
        <p:txBody>
          <a:bodyPr wrap="square" lIns="0" tIns="0" rIns="0" bIns="0" rtlCol="0" anchor="ctr"/>
          <a:lstStyle/>
          <a:p>
            <a:pPr indent="0" marL="0">
              <a:buNone/>
            </a:pPr>
            <a:r>
              <a:rPr lang="en-US" sz="2000" dirty="0">
                <a:solidFill>
                  <a:schemeClr val="accent3"/>
                </a:solidFill>
              </a:rPr>
              <a:t>~15 g protein per 50 g. No powders, no sweeteners.</a:t>
            </a:r>
            <a:endParaRPr lang="en-US" sz="2000" dirty="0"/>
          </a:p>
        </p:txBody>
      </p:sp>
      <p:sp>
        <p:nvSpPr>
          <p:cNvPr id="5" name="Next label"/>
          <p:cNvSpPr txBox="1"/>
          <p:nvPr/>
        </p:nvSpPr>
        <p:spPr>
          <a:xfrm>
            <a:off x="548640" y="3200400"/>
            <a:ext cx="1645920" cy="640080"/>
          </a:xfrm>
          <a:prstGeom prst="rect">
            <a:avLst/>
          </a:prstGeom>
          <a:noFill/>
          <a:ln/>
        </p:spPr>
        <p:txBody>
          <a:bodyPr wrap="square" lIns="0" tIns="0" rIns="0" bIns="0" rtlCol="0" anchor="ctr"/>
          <a:lstStyle/>
          <a:p>
            <a:pPr indent="0" marL="0">
              <a:buNone/>
            </a:pPr>
            <a:r>
              <a:rPr lang="en-US" sz="2600" b="1" dirty="0">
                <a:solidFill>
                  <a:schemeClr val="accent1"/>
                </a:solidFill>
              </a:rPr>
              <a:t>Next</a:t>
            </a:r>
            <a:endParaRPr lang="en-US" sz="2600" dirty="0"/>
          </a:p>
        </p:txBody>
      </p:sp>
      <p:sp>
        <p:nvSpPr>
          <p:cNvPr id="6" name="Next text"/>
          <p:cNvSpPr txBox="1"/>
          <p:nvPr/>
        </p:nvSpPr>
        <p:spPr>
          <a:xfrm>
            <a:off x="2286000" y="3200400"/>
            <a:ext cx="9326880" cy="640080"/>
          </a:xfrm>
          <a:prstGeom prst="rect">
            <a:avLst/>
          </a:prstGeom>
          <a:noFill/>
          <a:ln/>
        </p:spPr>
        <p:txBody>
          <a:bodyPr wrap="square" lIns="0" tIns="0" rIns="0" bIns="0" rtlCol="0" anchor="ctr"/>
          <a:lstStyle/>
          <a:p>
            <a:pPr indent="0" marL="0">
              <a:buNone/>
            </a:pPr>
            <a:r>
              <a:rPr lang="en-US" sz="2400" dirty="0">
                <a:solidFill>
                  <a:schemeClr val="tx1"/>
                </a:solidFill>
              </a:rPr>
              <a:t>Poster + landing page (Monday)  →  taste test  →  squad trial</a:t>
            </a:r>
            <a:endParaRPr lang="en-US" sz="2400" dirty="0"/>
          </a:p>
        </p:txBody>
      </p:sp>
      <p:sp>
        <p:nvSpPr>
          <p:cNvPr id="7" name="Need label"/>
          <p:cNvSpPr txBox="1"/>
          <p:nvPr/>
        </p:nvSpPr>
        <p:spPr>
          <a:xfrm>
            <a:off x="548640" y="4114800"/>
            <a:ext cx="1645920" cy="640080"/>
          </a:xfrm>
          <a:prstGeom prst="rect">
            <a:avLst/>
          </a:prstGeom>
          <a:noFill/>
          <a:ln/>
        </p:spPr>
        <p:txBody>
          <a:bodyPr wrap="square" lIns="0" tIns="0" rIns="0" bIns="0" rtlCol="0" anchor="ctr"/>
          <a:lstStyle/>
          <a:p>
            <a:pPr indent="0" marL="0">
              <a:buNone/>
            </a:pPr>
            <a:r>
              <a:rPr lang="en-US" sz="2600" b="1" dirty="0">
                <a:solidFill>
                  <a:schemeClr val="accent1"/>
                </a:solidFill>
              </a:rPr>
              <a:t>Need</a:t>
            </a:r>
            <a:endParaRPr lang="en-US" sz="2600" dirty="0"/>
          </a:p>
        </p:txBody>
      </p:sp>
      <p:sp>
        <p:nvSpPr>
          <p:cNvPr id="8" name="Need text"/>
          <p:cNvSpPr txBox="1"/>
          <p:nvPr/>
        </p:nvSpPr>
        <p:spPr>
          <a:xfrm>
            <a:off x="2286000" y="4114800"/>
            <a:ext cx="9326880" cy="640080"/>
          </a:xfrm>
          <a:prstGeom prst="rect">
            <a:avLst/>
          </a:prstGeom>
          <a:noFill/>
          <a:ln/>
        </p:spPr>
        <p:txBody>
          <a:bodyPr wrap="square" lIns="0" tIns="0" rIns="0" bIns="0" rtlCol="0" anchor="ctr"/>
          <a:lstStyle/>
          <a:p>
            <a:pPr indent="0" marL="0">
              <a:buNone/>
            </a:pPr>
            <a:r>
              <a:rPr lang="en-US" sz="2400" dirty="0">
                <a:solidFill>
                  <a:schemeClr val="tx1"/>
                </a:solidFill>
              </a:rPr>
              <a:t>Kitchen access + coach introductions</a:t>
            </a:r>
            <a:endParaRPr lang="en-US" sz="2400" dirty="0"/>
          </a:p>
        </p:txBody>
      </p:sp>
      <p:sp>
        <p:nvSpPr>
          <p:cNvPr id="9" name="Close"/>
          <p:cNvSpPr txBox="1"/>
          <p:nvPr/>
        </p:nvSpPr>
        <p:spPr>
          <a:xfrm>
            <a:off x="548640" y="5212080"/>
            <a:ext cx="11064240" cy="548640"/>
          </a:xfrm>
          <a:prstGeom prst="rect">
            <a:avLst/>
          </a:prstGeom>
          <a:noFill/>
          <a:ln/>
        </p:spPr>
        <p:txBody>
          <a:bodyPr wrap="square" lIns="0" tIns="0" rIns="0" bIns="0" rtlCol="0" anchor="ctr"/>
          <a:lstStyle/>
          <a:p>
            <a:pPr indent="0" marL="0">
              <a:buNone/>
            </a:pPr>
            <a:r>
              <a:rPr lang="en-US" sz="2400" b="1" i="1" dirty="0">
                <a:solidFill>
                  <a:schemeClr val="tx1"/>
                </a:solidFill>
              </a:rPr>
              <a:t>Real food for people who train hard.</a:t>
            </a:r>
            <a:endParaRPr lang="en-US" sz="2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Pitch">
  <a:themeElements>
    <a:clrScheme name="Pitch">
      <a:dk1>
        <a:srgbClr val="1C1B19"/>
      </a:dk1>
      <a:lt1>
        <a:srgbClr val="FFFFFF"/>
      </a:lt1>
      <a:dk2>
        <a:srgbClr val="3A3835"/>
      </a:dk2>
      <a:lt2>
        <a:srgbClr val="F3F4F6"/>
      </a:lt2>
      <a:accent1>
        <a:srgbClr val="C2410C"/>
      </a:accent1>
      <a:accent2>
        <a:srgbClr val="15803D"/>
      </a:accent2>
      <a:accent3>
        <a:srgbClr val="6B7280"/>
      </a:accent3>
      <a:accent4>
        <a:srgbClr val="FDE7DC"/>
      </a:accent4>
      <a:accent5>
        <a:srgbClr val="7C2D12"/>
      </a:accent5>
      <a:accent6>
        <a:srgbClr val="E5E7EB"/>
      </a:accent6>
      <a:hlink>
        <a:srgbClr val="C2410C"/>
      </a:hlink>
      <a:folHlink>
        <a:srgbClr val="7C2D12"/>
      </a:folHlink>
    </a:clrScheme>
    <a:fontScheme name="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Real-food protein snack: pitch</dc:title>
  <dc:subject>PptxGenJS Presentation</dc:subject>
  <dc:creator>Ewan</dc:creator>
  <cp:lastModifiedBy>Ewan</cp:lastModifiedBy>
  <cp:revision>1</cp:revision>
  <dcterms:created xsi:type="dcterms:W3CDTF">2026-10-15T17:36:30Z</dcterms:created>
  <dcterms:modified xsi:type="dcterms:W3CDTF">2026-10-15T17:36:30Z</dcterms:modified>
</cp:coreProperties>
</file>
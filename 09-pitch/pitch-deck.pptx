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f90da0be-236d-53dc-d980-59eec338996d}">
          <p14:sldIdLst>
            <p14:sldId id="256"/>
          </p14:sldIdLst>
        </p14:section>
        <p14:section name="Problem" id="{446a5db6-64de-2dc1-06aa-20e8e3956d2b}">
          <p14:sldIdLst>
            <p14:sldId id="257"/>
          </p14:sldIdLst>
        </p14:section>
        <p14:section name="Customers" id="{cc83562e-069b-db60-1499-dd8cf268dc52}">
          <p14:sldIdLst>
            <p14:sldId id="258"/>
          </p14:sldIdLst>
        </p14:section>
        <p14:section name="Market" id="{6591acc7-19da-b5e4-8b5b-b761d94ce765}">
          <p14:sldIdLst>
            <p14:sldId id="259"/>
          </p14:sldIdLst>
        </p14:section>
        <p14:section name="Model" id="{08a9511d-95eb-7171-02dc-40940da1e6c8}">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SAY FIRST: 'Graft is a fresh, baked protein snack made from real food (egg, quark and oats) for athletes who train hard and can't always cook. Baked to order and delivered to squads.' I'm Ewan: Durham Business Management graduate; I train MMA, play football and lift.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about 15 g protein per 50 g from egg, quark and oats, no powders or sweeteners. The format (soft-baked bar, bites or slice) is decided by taste test. Graft is British slang for hard work: it is for people who put the work in. Real food for grafters.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 scored 25 UK protein snacks on four tests: at least 10 g protein, protein from real food rather than powders, no sweeteners, and low sugar. 20 have the protein, 11 are low in sugar, only 4 use real-food protein, and none pass all four. The high-protein, low-sugar bars all use powders, mostly with sweeteners. The real-food bars carry 13 to 20 g of sugar. Why? Shops need months of shelf life, and real food lasts days. Graft designs around that: bake to order, sell direct to squads. Graft's numbers are calculated, not yet lab-tested. OLD NOTES (competitor detail): These are the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I'm testing three formats with the same ingredients: a soft-baked bar, bites and a slice; the taste test decides. About 15 g protein per 50 g, calculated.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a blind taste test against Barebells, aiming for 7 out of 9, then a free squad trial. What I need: kitchen access and coach introductions. SAY LAST: 'Graft is a fresh, baked protein snack made from real food (egg, quark and oats) for athletes who train hard and can't always cook. Baked to order and delivered to squads. Real food for grafters.'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Graft: </a:t>
            </a:r>
            <a:pPr algn="l" indent="0" marL="0">
              <a:buNone/>
            </a:pPr>
            <a:r>
              <a:rPr lang="en-US" sz="3600" b="1" dirty="0">
                <a:solidFill>
                  <a:schemeClr val="accent1"/>
                </a:solidFill>
              </a:rPr>
              <a:t>real food</a:t>
            </a:r>
            <a:pPr algn="l" indent="0" marL="0">
              <a:buNone/>
            </a:pPr>
            <a:r>
              <a:rPr lang="en-US" sz="3600" b="1" dirty="0">
                <a:solidFill>
                  <a:schemeClr val="bg1"/>
                </a:solidFill>
              </a:rPr>
              <a:t> for people who train hard</a:t>
            </a:r>
            <a:endParaRPr lang="en-US" sz="3600" dirty="0"/>
          </a:p>
        </p:txBody>
      </p:sp>
      <p:sp>
        <p:nvSpPr>
          <p:cNvPr id="3" name="Subtitle"/>
          <p:cNvSpPr txBox="1"/>
          <p:nvPr/>
        </p:nvSpPr>
        <p:spPr>
          <a:xfrm>
            <a:off x="548640" y="1417320"/>
            <a:ext cx="11064240" cy="822960"/>
          </a:xfrm>
          <a:prstGeom prst="rect">
            <a:avLst/>
          </a:prstGeom>
          <a:noFill/>
          <a:ln/>
        </p:spPr>
        <p:txBody>
          <a:bodyPr wrap="square" lIns="0" tIns="0" rIns="0" bIns="0" rtlCol="0" anchor="ctr"/>
          <a:lstStyle/>
          <a:p>
            <a:pPr indent="0" marL="0">
              <a:buNone/>
            </a:pPr>
            <a:r>
              <a:rPr lang="en-US" sz="1800" dirty="0">
                <a:solidFill>
                  <a:schemeClr val="bg1"/>
                </a:solidFill>
              </a:rPr>
              <a:t>Graft is a fresh, baked protein snack made from real food (egg, quark and oats) for athletes who train hard and can't always cook. Baked to order and delivered to squads.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pic>
        <p:nvPicPr>
          <p:cNvPr id="20" name="Graft logo" descr="Graft logo">    </p:cNvPr>
          <p:cNvPicPr>
            <a:picLocks noChangeAspect="1"/>
          </p:cNvPicPr>
          <p:nvPr/>
        </p:nvPicPr>
        <p:blipFill>
          <a:blip r:embed="rId4"/>
          <a:stretch>
            <a:fillRect/>
          </a:stretch>
        </p:blipFill>
        <p:spPr>
          <a:xfrm>
            <a:off x="548640" y="5669280"/>
            <a:ext cx="1600200" cy="448056"/>
          </a:xfrm>
          <a:prstGeom prst="rect">
            <a:avLst/>
          </a:prstGeom>
        </p:spPr>
      </p:pic>
      <p:sp>
        <p:nvSpPr>
          <p:cNvPr id="21" name="Branding note"/>
          <p:cNvSpPr txBox="1"/>
          <p:nvPr/>
        </p:nvSpPr>
        <p:spPr>
          <a:xfrm>
            <a:off x="2377440" y="5715000"/>
            <a:ext cx="9235440" cy="365760"/>
          </a:xfrm>
          <a:prstGeom prst="rect">
            <a:avLst/>
          </a:prstGeom>
          <a:noFill/>
          <a:ln/>
        </p:spPr>
        <p:txBody>
          <a:bodyPr wrap="square" lIns="0" tIns="0" rIns="0" bIns="0" rtlCol="0" anchor="ctr"/>
          <a:lstStyle/>
          <a:p>
            <a:pPr indent="0" marL="0">
              <a:buNone/>
            </a:pPr>
            <a:r>
              <a:rPr lang="en-US" sz="1400" i="1" dirty="0">
                <a:solidFill>
                  <a:schemeClr val="accent3"/>
                </a:solidFill>
              </a:rPr>
              <a:t>Ewan Hetherington · Durham Business Management graduate · MMA, football, gym · Real food for grafters.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problem: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Who it's for: Jack, and the squads who'll try it first</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760720"/>
            <a:ext cx="6766560" cy="548640"/>
          </a:xfrm>
          <a:prstGeom prst="rect">
            <a:avLst/>
          </a:prstGeom>
          <a:noFill/>
          <a:ln/>
        </p:spPr>
        <p:txBody>
          <a:bodyPr wrap="square" lIns="0" tIns="0" rIns="0" bIns="0" rtlCol="0" anchor="t"/>
          <a:lstStyle/>
          <a:p>
            <a:pPr indent="0" marL="0">
              <a:buNone/>
            </a:pPr>
            <a:r>
              <a:rPr lang="en-US" sz="1400" b="1" dirty="0">
                <a:solidFill>
                  <a:schemeClr val="accent1"/>
                </a:solidFill>
              </a:rPr>
              <a:t>Early adopters: coached Durham squads + my MMA club. One coach = ~25 athletes = one drop. (0/10 committed yet; the squad trial tests this.)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three</a:t>
            </a:r>
            <a:endParaRPr lang="en-US" sz="3200" dirty="0"/>
          </a:p>
        </p:txBody>
      </p:sp>
      <p:pic>
        <p:nvPicPr>
          <p:cNvPr id="3" name="Gap chart" descr="Scatter of 25 UK protein snacks: protein vs sugar per 50 g. Every high-protein, low-sugar bar uses powders; real-food bars are high in sugar; Graft is the only real-food point in the gap.">    </p:cNvPr>
          <p:cNvPicPr>
            <a:picLocks noChangeAspect="1"/>
          </p:cNvPicPr>
          <p:nvPr/>
        </p:nvPicPr>
        <p:blipFill>
          <a:blip r:embed="rId1"/>
          <a:stretch>
            <a:fillRect/>
          </a:stretch>
        </p:blipFill>
        <p:spPr>
          <a:xfrm>
            <a:off x="548640" y="1234440"/>
            <a:ext cx="7863840" cy="4892040"/>
          </a:xfrm>
          <a:prstGeom prst="rect">
            <a:avLst/>
          </a:prstGeom>
        </p:spPr>
      </p:pic>
      <p:sp>
        <p:nvSpPr>
          <p:cNvPr id="4" name="Gap card"/>
          <p:cNvSpPr/>
          <p:nvPr/>
        </p:nvSpPr>
        <p:spPr>
          <a:xfrm>
            <a:off x="8641080" y="1234440"/>
            <a:ext cx="2971800" cy="4892040"/>
          </a:xfrm>
          <a:prstGeom prst="roundRect">
            <a:avLst>
              <a:gd name="adj" fmla="val 3692"/>
            </a:avLst>
          </a:prstGeom>
          <a:solidFill>
            <a:schemeClr val="bg2"/>
          </a:solidFill>
          <a:ln/>
        </p:spPr>
      </p:sp>
      <p:sp>
        <p:nvSpPr>
          <p:cNvPr id="5" name="Tests title"/>
          <p:cNvSpPr txBox="1"/>
          <p:nvPr/>
        </p:nvSpPr>
        <p:spPr>
          <a:xfrm>
            <a:off x="8869680" y="141732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25 snacks, 4 tests</a:t>
            </a:r>
            <a:endParaRPr lang="en-US" sz="1600" dirty="0"/>
          </a:p>
        </p:txBody>
      </p:sp>
      <p:sp>
        <p:nvSpPr>
          <p:cNvPr id="6" name="Tests list"/>
          <p:cNvSpPr txBox="1"/>
          <p:nvPr/>
        </p:nvSpPr>
        <p:spPr>
          <a:xfrm>
            <a:off x="8869680" y="1828800"/>
            <a:ext cx="2560320" cy="13716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≥10 g protein: 20</a:t>
            </a:r>
            <a:endParaRPr lang="en-US" sz="1300" dirty="0"/>
          </a:p>
          <a:p>
            <a:pPr marL="342900" indent="-342900">
              <a:spcAft>
                <a:spcPts val="300"/>
              </a:spcAft>
              <a:buSzPct val="100000"/>
              <a:buChar char="•"/>
            </a:pPr>
            <a:r>
              <a:rPr lang="en-US" sz="1300" dirty="0">
                <a:solidFill>
                  <a:schemeClr val="tx1"/>
                </a:solidFill>
              </a:rPr>
              <a:t>Low sugar: 11</a:t>
            </a:r>
            <a:endParaRPr lang="en-US" sz="1300" dirty="0"/>
          </a:p>
          <a:p>
            <a:pPr marL="342900" indent="-342900">
              <a:spcAft>
                <a:spcPts val="300"/>
              </a:spcAft>
              <a:buSzPct val="100000"/>
              <a:buChar char="•"/>
            </a:pPr>
            <a:r>
              <a:rPr lang="en-US" sz="1300" dirty="0">
                <a:solidFill>
                  <a:schemeClr val="tx1"/>
                </a:solidFill>
              </a:rPr>
              <a:t>Real-food protein: 4</a:t>
            </a:r>
            <a:endParaRPr lang="en-US" sz="1300" dirty="0"/>
          </a:p>
          <a:p>
            <a:pPr marL="342900" indent="-342900">
              <a:spcAft>
                <a:spcPts val="300"/>
              </a:spcAft>
              <a:buSzPct val="100000"/>
              <a:buChar char="•"/>
            </a:pPr>
            <a:r>
              <a:rPr lang="en-US" sz="1300" b="1" dirty="0">
                <a:solidFill>
                  <a:schemeClr val="accent1"/>
                </a:solidFill>
              </a:rPr>
              <a:t>All four: 0</a:t>
            </a:r>
            <a:endParaRPr lang="en-US" sz="1300" dirty="0"/>
          </a:p>
        </p:txBody>
      </p:sp>
      <p:sp>
        <p:nvSpPr>
          <p:cNvPr id="7" name="Why title"/>
          <p:cNvSpPr txBox="1"/>
          <p:nvPr/>
        </p:nvSpPr>
        <p:spPr>
          <a:xfrm>
            <a:off x="8869680" y="333756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Why the gap exists</a:t>
            </a:r>
            <a:endParaRPr lang="en-US" sz="1600" dirty="0"/>
          </a:p>
        </p:txBody>
      </p:sp>
      <p:sp>
        <p:nvSpPr>
          <p:cNvPr id="8" name="Why list"/>
          <p:cNvSpPr txBox="1"/>
          <p:nvPr/>
        </p:nvSpPr>
        <p:spPr>
          <a:xfrm>
            <a:off x="8869680" y="3749040"/>
            <a:ext cx="2560320" cy="21945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Shops need months of shelf life; real food lasts days</a:t>
            </a:r>
            <a:endParaRPr lang="en-US" sz="1300" dirty="0"/>
          </a:p>
          <a:p>
            <a:pPr marL="342900" indent="-342900">
              <a:spcAft>
                <a:spcPts val="400"/>
              </a:spcAft>
              <a:buSzPct val="100000"/>
              <a:buChar char="•"/>
            </a:pPr>
            <a:r>
              <a:rPr lang="en-US" sz="1300" dirty="0">
                <a:solidFill>
                  <a:schemeClr val="tx1"/>
                </a:solidFill>
              </a:rPr>
              <a:t>Powders and sweeteners keep bars soft and cheap</a:t>
            </a:r>
            <a:endParaRPr lang="en-US" sz="1300" dirty="0"/>
          </a:p>
          <a:p>
            <a:pPr marL="342900" indent="-342900">
              <a:spcAft>
                <a:spcPts val="400"/>
              </a:spcAft>
              <a:buSzPct val="100000"/>
              <a:buChar char="•"/>
            </a:pPr>
            <a:r>
              <a:rPr lang="en-US" sz="1300" b="1" dirty="0">
                <a:solidFill>
                  <a:schemeClr val="tx1"/>
                </a:solidFill>
              </a:rPr>
              <a:t>Graft bakes to order and sells direct to squads</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Graft: how it works and what's next</a:t>
            </a:r>
            <a:endParaRPr lang="en-US" sz="3200" dirty="0"/>
          </a:p>
        </p:txBody>
      </p:sp>
      <p:pic>
        <p:nvPicPr>
          <p:cNvPr id="3" name="Graft logo" descr="Graft logo">    </p:cNvPr>
          <p:cNvPicPr>
            <a:picLocks noChangeAspect="1"/>
          </p:cNvPicPr>
          <p:nvPr/>
        </p:nvPicPr>
        <p:blipFill>
          <a:blip r:embed="rId1"/>
          <a:stretch>
            <a:fillRect/>
          </a:stretch>
        </p:blipFill>
        <p:spPr>
          <a:xfrm>
            <a:off x="10195560" y="457200"/>
            <a:ext cx="1417320" cy="393192"/>
          </a:xfrm>
          <a:prstGeom prst="rect">
            <a:avLst/>
          </a:prstGeom>
        </p:spPr>
      </p:pic>
      <p:sp>
        <p:nvSpPr>
          <p:cNvPr id="4"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Formats in testing</a:t>
            </a:r>
            <a:endParaRPr lang="en-US" sz="1600" dirty="0"/>
          </a:p>
        </p:txBody>
      </p:sp>
      <p:sp>
        <p:nvSpPr>
          <p:cNvPr id="5" name="Flavour 1"/>
          <p:cNvSpPr/>
          <p:nvPr/>
        </p:nvSpPr>
        <p:spPr>
          <a:xfrm>
            <a:off x="548640" y="1737360"/>
            <a:ext cx="2148840" cy="548640"/>
          </a:xfrm>
          <a:prstGeom prst="roundRect">
            <a:avLst>
              <a:gd name="adj" fmla="val 50000"/>
            </a:avLst>
          </a:prstGeom>
          <a:solidFill>
            <a:schemeClr val="accent4"/>
          </a:solidFill>
          <a:ln/>
        </p:spPr>
      </p:sp>
      <p:sp>
        <p:nvSpPr>
          <p:cNvPr id="6"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Soft-baked bar</a:t>
            </a:r>
            <a:endParaRPr lang="en-US" sz="1400" dirty="0"/>
          </a:p>
        </p:txBody>
      </p:sp>
      <p:sp>
        <p:nvSpPr>
          <p:cNvPr id="7" name="Flavour 2"/>
          <p:cNvSpPr/>
          <p:nvPr/>
        </p:nvSpPr>
        <p:spPr>
          <a:xfrm>
            <a:off x="2880360" y="1737360"/>
            <a:ext cx="2148840" cy="548640"/>
          </a:xfrm>
          <a:prstGeom prst="roundRect">
            <a:avLst>
              <a:gd name="adj" fmla="val 50000"/>
            </a:avLst>
          </a:prstGeom>
          <a:solidFill>
            <a:schemeClr val="accent4"/>
          </a:solidFill>
          <a:ln/>
        </p:spPr>
      </p:sp>
      <p:sp>
        <p:nvSpPr>
          <p:cNvPr id="8"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Bites</a:t>
            </a:r>
            <a:endParaRPr lang="en-US" sz="1400" dirty="0"/>
          </a:p>
        </p:txBody>
      </p:sp>
      <p:sp>
        <p:nvSpPr>
          <p:cNvPr id="9" name="Flavour 3"/>
          <p:cNvSpPr/>
          <p:nvPr/>
        </p:nvSpPr>
        <p:spPr>
          <a:xfrm>
            <a:off x="5212080" y="1737360"/>
            <a:ext cx="2148840" cy="548640"/>
          </a:xfrm>
          <a:prstGeom prst="roundRect">
            <a:avLst>
              <a:gd name="adj" fmla="val 50000"/>
            </a:avLst>
          </a:prstGeom>
          <a:solidFill>
            <a:schemeClr val="accent4"/>
          </a:solidFill>
          <a:ln/>
        </p:spPr>
      </p:sp>
      <p:sp>
        <p:nvSpPr>
          <p:cNvPr id="10"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Slice</a:t>
            </a:r>
            <a:endParaRPr lang="en-US" sz="1400" dirty="0"/>
          </a:p>
        </p:txBody>
      </p:sp>
      <p:sp>
        <p:nvSpPr>
          <p:cNvPr id="11"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~15 g protein per 50 g · egg, quark &amp; oats · no powders or sweeteners · ~4 g sugar (calculated, not lab-tested)</a:t>
            </a:r>
            <a:endParaRPr lang="en-US" sz="1400" dirty="0"/>
          </a:p>
        </p:txBody>
      </p:sp>
      <p:sp>
        <p:nvSpPr>
          <p:cNvPr id="12" name="Step 1 card"/>
          <p:cNvSpPr/>
          <p:nvPr/>
        </p:nvSpPr>
        <p:spPr>
          <a:xfrm>
            <a:off x="548640" y="3017520"/>
            <a:ext cx="2560320" cy="1828800"/>
          </a:xfrm>
          <a:prstGeom prst="roundRect">
            <a:avLst>
              <a:gd name="adj" fmla="val 6000"/>
            </a:avLst>
          </a:prstGeom>
          <a:solidFill>
            <a:schemeClr val="bg2"/>
          </a:solidFill>
          <a:ln/>
        </p:spPr>
      </p:sp>
      <p:sp>
        <p:nvSpPr>
          <p:cNvPr id="13" name="Step 1 circle"/>
          <p:cNvSpPr/>
          <p:nvPr/>
        </p:nvSpPr>
        <p:spPr>
          <a:xfrm>
            <a:off x="777240" y="3200400"/>
            <a:ext cx="548640" cy="548640"/>
          </a:xfrm>
          <a:prstGeom prst="ellipse">
            <a:avLst/>
          </a:prstGeom>
          <a:solidFill>
            <a:schemeClr val="accent1"/>
          </a:solidFill>
          <a:ln/>
        </p:spPr>
      </p:sp>
      <p:pic>
        <p:nvPicPr>
          <p:cNvPr id="14" name="Step 1 icon" descr="Step 1">    </p:cNvPr>
          <p:cNvPicPr>
            <a:picLocks noChangeAspect="1"/>
          </p:cNvPicPr>
          <p:nvPr/>
        </p:nvPicPr>
        <p:blipFill>
          <a:blip r:embed="rId2"/>
          <a:stretch>
            <a:fillRect/>
          </a:stretch>
        </p:blipFill>
        <p:spPr>
          <a:xfrm>
            <a:off x="914400" y="3337560"/>
            <a:ext cx="274320" cy="274320"/>
          </a:xfrm>
          <a:prstGeom prst="rect">
            <a:avLst/>
          </a:prstGeom>
        </p:spPr>
      </p:pic>
      <p:sp>
        <p:nvSpPr>
          <p:cNvPr id="15"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6"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7" name="Arrow 1"/>
          <p:cNvSpPr/>
          <p:nvPr/>
        </p:nvSpPr>
        <p:spPr>
          <a:xfrm>
            <a:off x="3136392" y="3794760"/>
            <a:ext cx="219456" cy="274320"/>
          </a:xfrm>
          <a:prstGeom prst="rightArrow">
            <a:avLst/>
          </a:prstGeom>
          <a:solidFill>
            <a:schemeClr val="accent1"/>
          </a:solidFill>
          <a:ln/>
        </p:spPr>
      </p:sp>
      <p:sp>
        <p:nvSpPr>
          <p:cNvPr id="18" name="Step 2 card"/>
          <p:cNvSpPr/>
          <p:nvPr/>
        </p:nvSpPr>
        <p:spPr>
          <a:xfrm>
            <a:off x="3383280" y="3017520"/>
            <a:ext cx="2560320" cy="1828800"/>
          </a:xfrm>
          <a:prstGeom prst="roundRect">
            <a:avLst>
              <a:gd name="adj" fmla="val 6000"/>
            </a:avLst>
          </a:prstGeom>
          <a:solidFill>
            <a:schemeClr val="bg2"/>
          </a:solidFill>
          <a:ln/>
        </p:spPr>
      </p:sp>
      <p:sp>
        <p:nvSpPr>
          <p:cNvPr id="19" name="Step 2 circle"/>
          <p:cNvSpPr/>
          <p:nvPr/>
        </p:nvSpPr>
        <p:spPr>
          <a:xfrm>
            <a:off x="3611880" y="3200400"/>
            <a:ext cx="548640" cy="548640"/>
          </a:xfrm>
          <a:prstGeom prst="ellipse">
            <a:avLst/>
          </a:prstGeom>
          <a:solidFill>
            <a:schemeClr val="accent1"/>
          </a:solidFill>
          <a:ln/>
        </p:spPr>
      </p:sp>
      <p:pic>
        <p:nvPicPr>
          <p:cNvPr id="20" name="Step 2 icon" descr="Step 2">    </p:cNvPr>
          <p:cNvPicPr>
            <a:picLocks noChangeAspect="1"/>
          </p:cNvPicPr>
          <p:nvPr/>
        </p:nvPicPr>
        <p:blipFill>
          <a:blip r:embed="rId3"/>
          <a:stretch>
            <a:fillRect/>
          </a:stretch>
        </p:blipFill>
        <p:spPr>
          <a:xfrm>
            <a:off x="3749040" y="3337560"/>
            <a:ext cx="274320" cy="274320"/>
          </a:xfrm>
          <a:prstGeom prst="rect">
            <a:avLst/>
          </a:prstGeom>
        </p:spPr>
      </p:pic>
      <p:sp>
        <p:nvSpPr>
          <p:cNvPr id="21"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2"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3" name="Arrow 2"/>
          <p:cNvSpPr/>
          <p:nvPr/>
        </p:nvSpPr>
        <p:spPr>
          <a:xfrm>
            <a:off x="5971032" y="3794760"/>
            <a:ext cx="219456" cy="274320"/>
          </a:xfrm>
          <a:prstGeom prst="rightArrow">
            <a:avLst/>
          </a:prstGeom>
          <a:solidFill>
            <a:schemeClr val="accent1"/>
          </a:solidFill>
          <a:ln/>
        </p:spPr>
      </p:sp>
      <p:sp>
        <p:nvSpPr>
          <p:cNvPr id="24" name="Step 3 card"/>
          <p:cNvSpPr/>
          <p:nvPr/>
        </p:nvSpPr>
        <p:spPr>
          <a:xfrm>
            <a:off x="6217920" y="3017520"/>
            <a:ext cx="2560320" cy="1828800"/>
          </a:xfrm>
          <a:prstGeom prst="roundRect">
            <a:avLst>
              <a:gd name="adj" fmla="val 6000"/>
            </a:avLst>
          </a:prstGeom>
          <a:solidFill>
            <a:schemeClr val="bg2"/>
          </a:solidFill>
          <a:ln/>
        </p:spPr>
      </p:sp>
      <p:sp>
        <p:nvSpPr>
          <p:cNvPr id="25" name="Step 3 circle"/>
          <p:cNvSpPr/>
          <p:nvPr/>
        </p:nvSpPr>
        <p:spPr>
          <a:xfrm>
            <a:off x="6446520" y="3200400"/>
            <a:ext cx="548640" cy="548640"/>
          </a:xfrm>
          <a:prstGeom prst="ellipse">
            <a:avLst/>
          </a:prstGeom>
          <a:solidFill>
            <a:schemeClr val="accent1"/>
          </a:solidFill>
          <a:ln/>
        </p:spPr>
      </p:sp>
      <p:pic>
        <p:nvPicPr>
          <p:cNvPr id="26" name="Step 3 icon" descr="Step 3">    </p:cNvPr>
          <p:cNvPicPr>
            <a:picLocks noChangeAspect="1"/>
          </p:cNvPicPr>
          <p:nvPr/>
        </p:nvPicPr>
        <p:blipFill>
          <a:blip r:embed="rId4"/>
          <a:stretch>
            <a:fillRect/>
          </a:stretch>
        </p:blipFill>
        <p:spPr>
          <a:xfrm>
            <a:off x="6583680" y="3337560"/>
            <a:ext cx="274320" cy="274320"/>
          </a:xfrm>
          <a:prstGeom prst="rect">
            <a:avLst/>
          </a:prstGeom>
        </p:spPr>
      </p:pic>
      <p:sp>
        <p:nvSpPr>
          <p:cNvPr id="27"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8"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9" name="Arrow 3"/>
          <p:cNvSpPr/>
          <p:nvPr/>
        </p:nvSpPr>
        <p:spPr>
          <a:xfrm>
            <a:off x="8805672" y="3794760"/>
            <a:ext cx="219456" cy="274320"/>
          </a:xfrm>
          <a:prstGeom prst="rightArrow">
            <a:avLst/>
          </a:prstGeom>
          <a:solidFill>
            <a:schemeClr val="accent1"/>
          </a:solidFill>
          <a:ln/>
        </p:spPr>
      </p:sp>
      <p:sp>
        <p:nvSpPr>
          <p:cNvPr id="30" name="Step 4 card"/>
          <p:cNvSpPr/>
          <p:nvPr/>
        </p:nvSpPr>
        <p:spPr>
          <a:xfrm>
            <a:off x="9052560" y="3017520"/>
            <a:ext cx="2560320" cy="1828800"/>
          </a:xfrm>
          <a:prstGeom prst="roundRect">
            <a:avLst>
              <a:gd name="adj" fmla="val 6000"/>
            </a:avLst>
          </a:prstGeom>
          <a:solidFill>
            <a:schemeClr val="bg2"/>
          </a:solidFill>
          <a:ln/>
        </p:spPr>
      </p:sp>
      <p:sp>
        <p:nvSpPr>
          <p:cNvPr id="31" name="Step 4 circle"/>
          <p:cNvSpPr/>
          <p:nvPr/>
        </p:nvSpPr>
        <p:spPr>
          <a:xfrm>
            <a:off x="9281160" y="3200400"/>
            <a:ext cx="548640" cy="548640"/>
          </a:xfrm>
          <a:prstGeom prst="ellipse">
            <a:avLst/>
          </a:prstGeom>
          <a:solidFill>
            <a:schemeClr val="accent1"/>
          </a:solidFill>
          <a:ln/>
        </p:spPr>
      </p:sp>
      <p:pic>
        <p:nvPicPr>
          <p:cNvPr id="32" name="Step 4 icon" descr="Step 4">    </p:cNvPr>
          <p:cNvPicPr>
            <a:picLocks noChangeAspect="1"/>
          </p:cNvPicPr>
          <p:nvPr/>
        </p:nvPicPr>
        <p:blipFill>
          <a:blip r:embed="rId5"/>
          <a:stretch>
            <a:fillRect/>
          </a:stretch>
        </p:blipFill>
        <p:spPr>
          <a:xfrm>
            <a:off x="9418320" y="3337560"/>
            <a:ext cx="274320" cy="274320"/>
          </a:xfrm>
          <a:prstGeom prst="rect">
            <a:avLst/>
          </a:prstGeom>
        </p:spPr>
      </p:pic>
      <p:sp>
        <p:nvSpPr>
          <p:cNvPr id="33"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4"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5" name="Close box"/>
          <p:cNvSpPr/>
          <p:nvPr/>
        </p:nvSpPr>
        <p:spPr>
          <a:xfrm>
            <a:off x="548640" y="5074920"/>
            <a:ext cx="11064240" cy="1097280"/>
          </a:xfrm>
          <a:prstGeom prst="roundRect">
            <a:avLst>
              <a:gd name="adj" fmla="val 10000"/>
            </a:avLst>
          </a:prstGeom>
          <a:solidFill>
            <a:schemeClr val="tx1"/>
          </a:solidFill>
          <a:ln/>
        </p:spPr>
      </p:sp>
      <p:sp>
        <p:nvSpPr>
          <p:cNvPr id="36"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Next: </a:t>
            </a:r>
            <a:pPr indent="0" marL="0">
              <a:buNone/>
            </a:pPr>
            <a:r>
              <a:rPr lang="en-US" sz="1500" dirty="0">
                <a:solidFill>
                  <a:schemeClr val="bg1"/>
                </a:solidFill>
              </a:rPr>
              <a:t>blind taste test (≥7/9) → free squad trial.  </a:t>
            </a:r>
            <a:pPr indent="0" marL="0">
              <a:buNone/>
            </a:pPr>
            <a:r>
              <a:rPr lang="en-US" sz="1500" b="1" dirty="0">
                <a:solidFill>
                  <a:schemeClr val="accent1"/>
                </a:solidFill>
              </a:rPr>
              <a:t>Need: </a:t>
            </a:r>
            <a:pPr indent="0" marL="0">
              <a:buNone/>
            </a:pPr>
            <a:r>
              <a:rPr lang="en-US" sz="1500" dirty="0">
                <a:solidFill>
                  <a:schemeClr val="bg1"/>
                </a:solidFill>
              </a:rPr>
              <a:t>kitchen access + coach intros.</a:t>
            </a:r>
            <a:endParaRPr lang="en-US" sz="1500" dirty="0"/>
          </a:p>
          <a:p>
            <a:pPr indent="0" marL="0">
              <a:buNone/>
            </a:pPr>
            <a:r>
              <a:rPr lang="en-US" sz="1500" b="1" dirty="0">
                <a:solidFill>
                  <a:schemeClr val="bg1"/>
                </a:solidFill>
              </a:rPr>
              <a:t>Graft: fresh, baked, real-food protein for people who train hard. Real food for grafters.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Graft Pitch">
  <a:themeElements>
    <a:clrScheme name="Graft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Graft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Graft: pitch</dc:title>
  <dc:subject>PptxGenJS Presentation</dc:subject>
  <dc:creator>Ewan</dc:creator>
  <cp:lastModifiedBy>Ewan</cp:lastModifiedBy>
  <cp:revision>1</cp:revision>
  <dcterms:created xsi:type="dcterms:W3CDTF">2026-10-14T15:01:35Z</dcterms:created>
  <dcterms:modified xsi:type="dcterms:W3CDTF">2026-10-14T15:01:35Z</dcterms:modified>
</cp:coreProperties>
</file>
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403483b8-0b5b-a0b4-d045-991deb5ba4ee}">
          <p14:sldIdLst>
            <p14:sldId id="256"/>
          </p14:sldIdLst>
        </p14:section>
        <p14:section name="Problem" id="{7540f01b-dbee-a4ee-09e5-46212d3d3a1d}">
          <p14:sldIdLst>
            <p14:sldId id="257"/>
          </p14:sldIdLst>
        </p14:section>
        <p14:section name="Customers" id="{6b78cc4e-f8e3-67b3-bfaf-170cd36795b2}">
          <p14:sldIdLst>
            <p14:sldId id="258"/>
          </p14:sldIdLst>
        </p14:section>
        <p14:section name="Market" id="{d37a04da-deb5-58cf-f98a-9bfb3ebf583a}">
          <p14:sldIdLst>
            <p14:sldId id="259"/>
          </p14:sldIdLst>
        </p14:section>
        <p14:section name="Model" id="{ecadc0e4-3231-b04a-889e-0a0ef4266cd7}">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I've pivoted. The idea is now a recovery bar made from real food, for athletes who train hard.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I made Graft: a 50 g bar with ~15 g protein from egg, quark and oats, and athletes eat two after training, about 29 g protein and 28 g carbs. Graft is British slang for hard work: it is for people who put the work in. Real food for grafters.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after training they need protein and carbs. Chicken-and-rice meal prep works when they manage it, but it means cooking ahead and carrying a tub. The quick options fall short: fruit has no protein, lab bars are full of powders and sweeteners, 'natural' bars are mostly sugar. So they compromise or go without, after almost every session, which for someone training 5-6 days a week is 5-6 times a week. My persona is Jack: trains once a day, plays a sport, is trying to eat well and trusts his coach. My early adopters are the sharpest slice of Jack: coached athletes, starting with Team Durham squads and my MMA club. Why them: they train hardest, their coach tells them to eat whole food, and one coach means about 25 athletes and one delivery, which suits a fresh bar. Honestly: nobody has committed yet; that's what the squad trial is for.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 scored 25 UK protein snacks on four tests: at least 10 g protein, protein from real food rather than powders, no sweeteners, and low sugar. 20 have the protein, 11 are low in sugar, only 4 use real-food protein, and none pass all four. The high-protein, low-sugar bars all use powders, mostly with sweeteners. The real-food bars carry 13 to 20 g of sugar. Why? Shops need months of shelf life, and real food lasts days. Graft designs around that: bake to order, sell direct to squads. Graft's numbers are calculated, not yet lab-tested. OLD NOTES: These are the recovery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its protein from real food with low sugar. Graft does: two 50 g bars give about 29 g protein and 28 g carbs from egg, quark and oats, with a little honey or banana and no sweeteners.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Three flavours in testing: Chocolate Peanut Butter, Vanilla and Banana Bread. Each 50 g bar is about 15 g protein and 14 g carbs; athletes eat two after training.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steps: blind taste tests against Barebells, a squad trial with Team Durham, registering as a food business, and more interviews.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The pivot: a </a:t>
            </a:r>
            <a:pPr algn="l" indent="0" marL="0">
              <a:buNone/>
            </a:pPr>
            <a:r>
              <a:rPr lang="en-US" sz="3600" b="1" dirty="0">
                <a:solidFill>
                  <a:schemeClr val="accent1"/>
                </a:solidFill>
              </a:rPr>
              <a:t>real-food</a:t>
            </a:r>
            <a:pPr algn="l" indent="0" marL="0">
              <a:buNone/>
            </a:pPr>
            <a:r>
              <a:rPr lang="en-US" sz="3600" b="1" dirty="0">
                <a:solidFill>
                  <a:schemeClr val="bg1"/>
                </a:solidFill>
              </a:rPr>
              <a:t> recovery bar for athletes who train hard</a:t>
            </a:r>
            <a:endParaRPr lang="en-US" sz="3600" dirty="0"/>
          </a:p>
        </p:txBody>
      </p:sp>
      <p:sp>
        <p:nvSpPr>
          <p:cNvPr id="3" name="Subtitle"/>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800" dirty="0">
                <a:solidFill>
                  <a:schemeClr val="bg1"/>
                </a:solidFill>
              </a:rPr>
              <a:t>Two 50 g bars ≈ 29 g protein + 28 g carbs  ·  egg, quark &amp; oats  ·  no whey, sweeteners or sugar alcohols</a:t>
            </a:r>
            <a:endParaRPr lang="en-US" sz="18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pic>
        <p:nvPicPr>
          <p:cNvPr id="20" name="Graft logo" descr="Graft logo">    </p:cNvPr>
          <p:cNvPicPr>
            <a:picLocks noChangeAspect="1"/>
          </p:cNvPicPr>
          <p:nvPr/>
        </p:nvPicPr>
        <p:blipFill>
          <a:blip r:embed="rId4"/>
          <a:stretch>
            <a:fillRect/>
          </a:stretch>
        </p:blipFill>
        <p:spPr>
          <a:xfrm>
            <a:off x="548640" y="5669280"/>
            <a:ext cx="1600200" cy="448056"/>
          </a:xfrm>
          <a:prstGeom prst="rect">
            <a:avLst/>
          </a:prstGeom>
        </p:spPr>
      </p:pic>
      <p:sp>
        <p:nvSpPr>
          <p:cNvPr id="21" name="Branding note"/>
          <p:cNvSpPr txBox="1"/>
          <p:nvPr/>
        </p:nvSpPr>
        <p:spPr>
          <a:xfrm>
            <a:off x="2377440" y="5715000"/>
            <a:ext cx="9235440" cy="365760"/>
          </a:xfrm>
          <a:prstGeom prst="rect">
            <a:avLst/>
          </a:prstGeom>
          <a:noFill/>
          <a:ln/>
        </p:spPr>
        <p:txBody>
          <a:bodyPr wrap="square" lIns="0" tIns="0" rIns="0" bIns="0" rtlCol="0" anchor="ctr"/>
          <a:lstStyle/>
          <a:p>
            <a:pPr indent="0" marL="0">
              <a:buNone/>
            </a:pPr>
            <a:r>
              <a:rPr lang="en-US" sz="1400" i="1" dirty="0">
                <a:solidFill>
                  <a:schemeClr val="accent3"/>
                </a:solidFill>
              </a:rPr>
              <a:t>Real food for grafters.  (Graft: British slang for hard work.)</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it's needed: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The convenient options don't fit. </a:t>
            </a:r>
            <a:pPr indent="0" marL="0">
              <a:buNone/>
            </a:pPr>
            <a:r>
              <a:rPr lang="en-US" sz="1500" dirty="0">
                <a:solidFill>
                  <a:schemeClr val="tx1"/>
                </a:solidFill>
              </a:rPr>
              <a:t>Low-sugar bars rely on protein powders, sweeteners and sugar alcohols; "real-food" bars carry 10–28 g sugar and little protein. Only ~4% of UK adults get enough fibre.</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athletes told me, and who it's for</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Lined up: [add who's booked]</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once a day: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After training they need protein and carbs. Meal prep isn't always possible, and quick options fall short: fruit lacks protein, lab bars are artificial, "natural" bars are sugary. It happens after almost every session.</a:t>
            </a:r>
            <a:endParaRPr lang="en-US" sz="1400" dirty="0"/>
          </a:p>
        </p:txBody>
      </p:sp>
      <p:sp>
        <p:nvSpPr>
          <p:cNvPr id="29" name="Still to prove"/>
          <p:cNvSpPr txBox="1"/>
          <p:nvPr/>
        </p:nvSpPr>
        <p:spPr>
          <a:xfrm>
            <a:off x="4846320" y="5806440"/>
            <a:ext cx="6766560" cy="502920"/>
          </a:xfrm>
          <a:prstGeom prst="rect">
            <a:avLst/>
          </a:prstGeom>
          <a:noFill/>
          <a:ln/>
        </p:spPr>
        <p:txBody>
          <a:bodyPr wrap="square" lIns="0" tIns="0" rIns="0" bIns="0" rtlCol="0" anchor="t"/>
          <a:lstStyle/>
          <a:p>
            <a:pPr indent="0" marL="0">
              <a:buNone/>
            </a:pPr>
            <a:r>
              <a:rPr lang="en-US" sz="1300" i="1" dirty="0">
                <a:solidFill>
                  <a:schemeClr val="accent3"/>
                </a:solidFill>
              </a:rPr>
              <a:t>Early adopters: coached athletes (Team Durham squads, my MMA club). One coach = ~25 athletes = one drop. Still to prove: 0/10 committed yet.</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gap: nobody does all three</a:t>
            </a:r>
            <a:endParaRPr lang="en-US" sz="3200" dirty="0"/>
          </a:p>
        </p:txBody>
      </p:sp>
      <p:pic>
        <p:nvPicPr>
          <p:cNvPr id="3" name="Gap chart" descr="Scatter of 25 UK protein snacks: protein vs sugar per 50 g. Every high-protein, low-sugar bar uses powders; real-food bars are high in sugar; Graft is the only real-food point in the gap.">    </p:cNvPr>
          <p:cNvPicPr>
            <a:picLocks noChangeAspect="1"/>
          </p:cNvPicPr>
          <p:nvPr/>
        </p:nvPicPr>
        <p:blipFill>
          <a:blip r:embed="rId1"/>
          <a:stretch>
            <a:fillRect/>
          </a:stretch>
        </p:blipFill>
        <p:spPr>
          <a:xfrm>
            <a:off x="548640" y="1234440"/>
            <a:ext cx="7863840" cy="4892040"/>
          </a:xfrm>
          <a:prstGeom prst="rect">
            <a:avLst/>
          </a:prstGeom>
        </p:spPr>
      </p:pic>
      <p:sp>
        <p:nvSpPr>
          <p:cNvPr id="4" name="Gap card"/>
          <p:cNvSpPr/>
          <p:nvPr/>
        </p:nvSpPr>
        <p:spPr>
          <a:xfrm>
            <a:off x="8641080" y="1234440"/>
            <a:ext cx="2971800" cy="4892040"/>
          </a:xfrm>
          <a:prstGeom prst="roundRect">
            <a:avLst>
              <a:gd name="adj" fmla="val 3692"/>
            </a:avLst>
          </a:prstGeom>
          <a:solidFill>
            <a:schemeClr val="bg2"/>
          </a:solidFill>
          <a:ln/>
        </p:spPr>
      </p:sp>
      <p:sp>
        <p:nvSpPr>
          <p:cNvPr id="5" name="Tests title"/>
          <p:cNvSpPr txBox="1"/>
          <p:nvPr/>
        </p:nvSpPr>
        <p:spPr>
          <a:xfrm>
            <a:off x="8869680" y="141732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25 snacks, 4 tests</a:t>
            </a:r>
            <a:endParaRPr lang="en-US" sz="1600" dirty="0"/>
          </a:p>
        </p:txBody>
      </p:sp>
      <p:sp>
        <p:nvSpPr>
          <p:cNvPr id="6" name="Tests list"/>
          <p:cNvSpPr txBox="1"/>
          <p:nvPr/>
        </p:nvSpPr>
        <p:spPr>
          <a:xfrm>
            <a:off x="8869680" y="1828800"/>
            <a:ext cx="2560320" cy="13716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≥10 g protein: 20</a:t>
            </a:r>
            <a:endParaRPr lang="en-US" sz="1300" dirty="0"/>
          </a:p>
          <a:p>
            <a:pPr marL="342900" indent="-342900">
              <a:spcAft>
                <a:spcPts val="300"/>
              </a:spcAft>
              <a:buSzPct val="100000"/>
              <a:buChar char="•"/>
            </a:pPr>
            <a:r>
              <a:rPr lang="en-US" sz="1300" dirty="0">
                <a:solidFill>
                  <a:schemeClr val="tx1"/>
                </a:solidFill>
              </a:rPr>
              <a:t>Low sugar: 11</a:t>
            </a:r>
            <a:endParaRPr lang="en-US" sz="1300" dirty="0"/>
          </a:p>
          <a:p>
            <a:pPr marL="342900" indent="-342900">
              <a:spcAft>
                <a:spcPts val="300"/>
              </a:spcAft>
              <a:buSzPct val="100000"/>
              <a:buChar char="•"/>
            </a:pPr>
            <a:r>
              <a:rPr lang="en-US" sz="1300" dirty="0">
                <a:solidFill>
                  <a:schemeClr val="tx1"/>
                </a:solidFill>
              </a:rPr>
              <a:t>Real-food protein: 4</a:t>
            </a:r>
            <a:endParaRPr lang="en-US" sz="1300" dirty="0"/>
          </a:p>
          <a:p>
            <a:pPr marL="342900" indent="-342900">
              <a:spcAft>
                <a:spcPts val="300"/>
              </a:spcAft>
              <a:buSzPct val="100000"/>
              <a:buChar char="•"/>
            </a:pPr>
            <a:r>
              <a:rPr lang="en-US" sz="1300" b="1" dirty="0">
                <a:solidFill>
                  <a:schemeClr val="accent1"/>
                </a:solidFill>
              </a:rPr>
              <a:t>All four: 0</a:t>
            </a:r>
            <a:endParaRPr lang="en-US" sz="1300" dirty="0"/>
          </a:p>
        </p:txBody>
      </p:sp>
      <p:sp>
        <p:nvSpPr>
          <p:cNvPr id="7" name="Why title"/>
          <p:cNvSpPr txBox="1"/>
          <p:nvPr/>
        </p:nvSpPr>
        <p:spPr>
          <a:xfrm>
            <a:off x="8869680" y="333756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Why the gap exists</a:t>
            </a:r>
            <a:endParaRPr lang="en-US" sz="1600" dirty="0"/>
          </a:p>
        </p:txBody>
      </p:sp>
      <p:sp>
        <p:nvSpPr>
          <p:cNvPr id="8" name="Why list"/>
          <p:cNvSpPr txBox="1"/>
          <p:nvPr/>
        </p:nvSpPr>
        <p:spPr>
          <a:xfrm>
            <a:off x="8869680" y="3749040"/>
            <a:ext cx="2560320" cy="21945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Shops need months of shelf life; real food lasts days</a:t>
            </a:r>
            <a:endParaRPr lang="en-US" sz="1300" dirty="0"/>
          </a:p>
          <a:p>
            <a:pPr marL="342900" indent="-342900">
              <a:spcAft>
                <a:spcPts val="400"/>
              </a:spcAft>
              <a:buSzPct val="100000"/>
              <a:buChar char="•"/>
            </a:pPr>
            <a:r>
              <a:rPr lang="en-US" sz="1300" dirty="0">
                <a:solidFill>
                  <a:schemeClr val="tx1"/>
                </a:solidFill>
              </a:rPr>
              <a:t>Powders and sweeteners keep bars soft and cheap</a:t>
            </a:r>
            <a:endParaRPr lang="en-US" sz="1300" dirty="0"/>
          </a:p>
          <a:p>
            <a:pPr marL="342900" indent="-342900">
              <a:spcAft>
                <a:spcPts val="400"/>
              </a:spcAft>
              <a:buSzPct val="100000"/>
              <a:buChar char="•"/>
            </a:pPr>
            <a:r>
              <a:rPr lang="en-US" sz="1300" b="1" dirty="0">
                <a:solidFill>
                  <a:schemeClr val="tx1"/>
                </a:solidFill>
              </a:rPr>
              <a:t>Graft bakes to order and sells direct to squads</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baked fresh, like Simmer Eats</a:t>
            </a:r>
            <a:endParaRPr lang="en-US" sz="3200" dirty="0"/>
          </a:p>
        </p:txBody>
      </p:sp>
      <p:pic>
        <p:nvPicPr>
          <p:cNvPr id="3" name="Graft logo" descr="Graft logo">    </p:cNvPr>
          <p:cNvPicPr>
            <a:picLocks noChangeAspect="1"/>
          </p:cNvPicPr>
          <p:nvPr/>
        </p:nvPicPr>
        <p:blipFill>
          <a:blip r:embed="rId1"/>
          <a:stretch>
            <a:fillRect/>
          </a:stretch>
        </p:blipFill>
        <p:spPr>
          <a:xfrm>
            <a:off x="10195560" y="457200"/>
            <a:ext cx="1417320" cy="393192"/>
          </a:xfrm>
          <a:prstGeom prst="rect">
            <a:avLst/>
          </a:prstGeom>
        </p:spPr>
      </p:pic>
      <p:sp>
        <p:nvSpPr>
          <p:cNvPr id="4"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Three flavours in testing</a:t>
            </a:r>
            <a:endParaRPr lang="en-US" sz="1600" dirty="0"/>
          </a:p>
        </p:txBody>
      </p:sp>
      <p:sp>
        <p:nvSpPr>
          <p:cNvPr id="5" name="Flavour 1"/>
          <p:cNvSpPr/>
          <p:nvPr/>
        </p:nvSpPr>
        <p:spPr>
          <a:xfrm>
            <a:off x="548640" y="1737360"/>
            <a:ext cx="2148840" cy="548640"/>
          </a:xfrm>
          <a:prstGeom prst="roundRect">
            <a:avLst>
              <a:gd name="adj" fmla="val 50000"/>
            </a:avLst>
          </a:prstGeom>
          <a:solidFill>
            <a:schemeClr val="accent4"/>
          </a:solidFill>
          <a:ln/>
        </p:spPr>
      </p:sp>
      <p:sp>
        <p:nvSpPr>
          <p:cNvPr id="6"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Chocolate Peanut Butter</a:t>
            </a:r>
            <a:endParaRPr lang="en-US" sz="1400" dirty="0"/>
          </a:p>
        </p:txBody>
      </p:sp>
      <p:sp>
        <p:nvSpPr>
          <p:cNvPr id="7" name="Flavour 2"/>
          <p:cNvSpPr/>
          <p:nvPr/>
        </p:nvSpPr>
        <p:spPr>
          <a:xfrm>
            <a:off x="2880360" y="1737360"/>
            <a:ext cx="2148840" cy="548640"/>
          </a:xfrm>
          <a:prstGeom prst="roundRect">
            <a:avLst>
              <a:gd name="adj" fmla="val 50000"/>
            </a:avLst>
          </a:prstGeom>
          <a:solidFill>
            <a:schemeClr val="accent4"/>
          </a:solidFill>
          <a:ln/>
        </p:spPr>
      </p:sp>
      <p:sp>
        <p:nvSpPr>
          <p:cNvPr id="8"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Vanilla</a:t>
            </a:r>
            <a:endParaRPr lang="en-US" sz="1400" dirty="0"/>
          </a:p>
        </p:txBody>
      </p:sp>
      <p:sp>
        <p:nvSpPr>
          <p:cNvPr id="9" name="Flavour 3"/>
          <p:cNvSpPr/>
          <p:nvPr/>
        </p:nvSpPr>
        <p:spPr>
          <a:xfrm>
            <a:off x="5212080" y="1737360"/>
            <a:ext cx="2148840" cy="548640"/>
          </a:xfrm>
          <a:prstGeom prst="roundRect">
            <a:avLst>
              <a:gd name="adj" fmla="val 50000"/>
            </a:avLst>
          </a:prstGeom>
          <a:solidFill>
            <a:schemeClr val="accent4"/>
          </a:solidFill>
          <a:ln/>
        </p:spPr>
      </p:sp>
      <p:sp>
        <p:nvSpPr>
          <p:cNvPr id="10"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Banana Bread</a:t>
            </a:r>
            <a:endParaRPr lang="en-US" sz="1400" dirty="0"/>
          </a:p>
        </p:txBody>
      </p:sp>
      <p:sp>
        <p:nvSpPr>
          <p:cNvPr id="11" name="Flavour macros"/>
          <p:cNvSpPr txBox="1"/>
          <p:nvPr/>
        </p:nvSpPr>
        <p:spPr>
          <a:xfrm>
            <a:off x="548640" y="2377440"/>
            <a:ext cx="11064240" cy="365760"/>
          </a:xfrm>
          <a:prstGeom prst="rect">
            <a:avLst/>
          </a:prstGeom>
          <a:noFill/>
          <a:ln/>
        </p:spPr>
        <p:txBody>
          <a:bodyPr wrap="square" lIns="0" tIns="0" rIns="0" bIns="0" rtlCol="0" anchor="ctr"/>
          <a:lstStyle/>
          <a:p>
            <a:pPr indent="0" marL="0">
              <a:buNone/>
            </a:pPr>
            <a:r>
              <a:rPr lang="en-US" sz="1400" dirty="0">
                <a:solidFill>
                  <a:schemeClr val="accent3"/>
                </a:solidFill>
              </a:rPr>
              <a:t>Each 50 g bar: ~15 g protein · ~14 g carbs · ~4 g sugar · ~135 kcal (calculated) · eat two after training</a:t>
            </a:r>
            <a:endParaRPr lang="en-US" sz="1400" dirty="0"/>
          </a:p>
        </p:txBody>
      </p:sp>
      <p:sp>
        <p:nvSpPr>
          <p:cNvPr id="12" name="Step 1 card"/>
          <p:cNvSpPr/>
          <p:nvPr/>
        </p:nvSpPr>
        <p:spPr>
          <a:xfrm>
            <a:off x="548640" y="3017520"/>
            <a:ext cx="2560320" cy="1828800"/>
          </a:xfrm>
          <a:prstGeom prst="roundRect">
            <a:avLst>
              <a:gd name="adj" fmla="val 6000"/>
            </a:avLst>
          </a:prstGeom>
          <a:solidFill>
            <a:schemeClr val="bg2"/>
          </a:solidFill>
          <a:ln/>
        </p:spPr>
      </p:sp>
      <p:sp>
        <p:nvSpPr>
          <p:cNvPr id="13" name="Step 1 circle"/>
          <p:cNvSpPr/>
          <p:nvPr/>
        </p:nvSpPr>
        <p:spPr>
          <a:xfrm>
            <a:off x="777240" y="3200400"/>
            <a:ext cx="548640" cy="548640"/>
          </a:xfrm>
          <a:prstGeom prst="ellipse">
            <a:avLst/>
          </a:prstGeom>
          <a:solidFill>
            <a:schemeClr val="accent1"/>
          </a:solidFill>
          <a:ln/>
        </p:spPr>
      </p:sp>
      <p:pic>
        <p:nvPicPr>
          <p:cNvPr id="14" name="Step 1 icon" descr="Step 1">    </p:cNvPr>
          <p:cNvPicPr>
            <a:picLocks noChangeAspect="1"/>
          </p:cNvPicPr>
          <p:nvPr/>
        </p:nvPicPr>
        <p:blipFill>
          <a:blip r:embed="rId2"/>
          <a:stretch>
            <a:fillRect/>
          </a:stretch>
        </p:blipFill>
        <p:spPr>
          <a:xfrm>
            <a:off x="914400" y="3337560"/>
            <a:ext cx="274320" cy="274320"/>
          </a:xfrm>
          <a:prstGeom prst="rect">
            <a:avLst/>
          </a:prstGeom>
        </p:spPr>
      </p:pic>
      <p:sp>
        <p:nvSpPr>
          <p:cNvPr id="15"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6"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7" name="Arrow 1"/>
          <p:cNvSpPr/>
          <p:nvPr/>
        </p:nvSpPr>
        <p:spPr>
          <a:xfrm>
            <a:off x="3136392" y="3794760"/>
            <a:ext cx="219456" cy="274320"/>
          </a:xfrm>
          <a:prstGeom prst="rightArrow">
            <a:avLst/>
          </a:prstGeom>
          <a:solidFill>
            <a:schemeClr val="accent1"/>
          </a:solidFill>
          <a:ln/>
        </p:spPr>
      </p:sp>
      <p:sp>
        <p:nvSpPr>
          <p:cNvPr id="18" name="Step 2 card"/>
          <p:cNvSpPr/>
          <p:nvPr/>
        </p:nvSpPr>
        <p:spPr>
          <a:xfrm>
            <a:off x="3383280" y="3017520"/>
            <a:ext cx="2560320" cy="1828800"/>
          </a:xfrm>
          <a:prstGeom prst="roundRect">
            <a:avLst>
              <a:gd name="adj" fmla="val 6000"/>
            </a:avLst>
          </a:prstGeom>
          <a:solidFill>
            <a:schemeClr val="bg2"/>
          </a:solidFill>
          <a:ln/>
        </p:spPr>
      </p:sp>
      <p:sp>
        <p:nvSpPr>
          <p:cNvPr id="19" name="Step 2 circle"/>
          <p:cNvSpPr/>
          <p:nvPr/>
        </p:nvSpPr>
        <p:spPr>
          <a:xfrm>
            <a:off x="3611880" y="3200400"/>
            <a:ext cx="548640" cy="548640"/>
          </a:xfrm>
          <a:prstGeom prst="ellipse">
            <a:avLst/>
          </a:prstGeom>
          <a:solidFill>
            <a:schemeClr val="accent1"/>
          </a:solidFill>
          <a:ln/>
        </p:spPr>
      </p:sp>
      <p:pic>
        <p:nvPicPr>
          <p:cNvPr id="20" name="Step 2 icon" descr="Step 2">    </p:cNvPr>
          <p:cNvPicPr>
            <a:picLocks noChangeAspect="1"/>
          </p:cNvPicPr>
          <p:nvPr/>
        </p:nvPicPr>
        <p:blipFill>
          <a:blip r:embed="rId3"/>
          <a:stretch>
            <a:fillRect/>
          </a:stretch>
        </p:blipFill>
        <p:spPr>
          <a:xfrm>
            <a:off x="3749040" y="3337560"/>
            <a:ext cx="274320" cy="274320"/>
          </a:xfrm>
          <a:prstGeom prst="rect">
            <a:avLst/>
          </a:prstGeom>
        </p:spPr>
      </p:pic>
      <p:sp>
        <p:nvSpPr>
          <p:cNvPr id="21"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2"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3" name="Arrow 2"/>
          <p:cNvSpPr/>
          <p:nvPr/>
        </p:nvSpPr>
        <p:spPr>
          <a:xfrm>
            <a:off x="5971032" y="3794760"/>
            <a:ext cx="219456" cy="274320"/>
          </a:xfrm>
          <a:prstGeom prst="rightArrow">
            <a:avLst/>
          </a:prstGeom>
          <a:solidFill>
            <a:schemeClr val="accent1"/>
          </a:solidFill>
          <a:ln/>
        </p:spPr>
      </p:sp>
      <p:sp>
        <p:nvSpPr>
          <p:cNvPr id="24" name="Step 3 card"/>
          <p:cNvSpPr/>
          <p:nvPr/>
        </p:nvSpPr>
        <p:spPr>
          <a:xfrm>
            <a:off x="6217920" y="3017520"/>
            <a:ext cx="2560320" cy="1828800"/>
          </a:xfrm>
          <a:prstGeom prst="roundRect">
            <a:avLst>
              <a:gd name="adj" fmla="val 6000"/>
            </a:avLst>
          </a:prstGeom>
          <a:solidFill>
            <a:schemeClr val="bg2"/>
          </a:solidFill>
          <a:ln/>
        </p:spPr>
      </p:sp>
      <p:sp>
        <p:nvSpPr>
          <p:cNvPr id="25" name="Step 3 circle"/>
          <p:cNvSpPr/>
          <p:nvPr/>
        </p:nvSpPr>
        <p:spPr>
          <a:xfrm>
            <a:off x="6446520" y="3200400"/>
            <a:ext cx="548640" cy="548640"/>
          </a:xfrm>
          <a:prstGeom prst="ellipse">
            <a:avLst/>
          </a:prstGeom>
          <a:solidFill>
            <a:schemeClr val="accent1"/>
          </a:solidFill>
          <a:ln/>
        </p:spPr>
      </p:sp>
      <p:pic>
        <p:nvPicPr>
          <p:cNvPr id="26" name="Step 3 icon" descr="Step 3">    </p:cNvPr>
          <p:cNvPicPr>
            <a:picLocks noChangeAspect="1"/>
          </p:cNvPicPr>
          <p:nvPr/>
        </p:nvPicPr>
        <p:blipFill>
          <a:blip r:embed="rId4"/>
          <a:stretch>
            <a:fillRect/>
          </a:stretch>
        </p:blipFill>
        <p:spPr>
          <a:xfrm>
            <a:off x="6583680" y="3337560"/>
            <a:ext cx="274320" cy="274320"/>
          </a:xfrm>
          <a:prstGeom prst="rect">
            <a:avLst/>
          </a:prstGeom>
        </p:spPr>
      </p:pic>
      <p:sp>
        <p:nvSpPr>
          <p:cNvPr id="27"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8"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9" name="Arrow 3"/>
          <p:cNvSpPr/>
          <p:nvPr/>
        </p:nvSpPr>
        <p:spPr>
          <a:xfrm>
            <a:off x="8805672" y="3794760"/>
            <a:ext cx="219456" cy="274320"/>
          </a:xfrm>
          <a:prstGeom prst="rightArrow">
            <a:avLst/>
          </a:prstGeom>
          <a:solidFill>
            <a:schemeClr val="accent1"/>
          </a:solidFill>
          <a:ln/>
        </p:spPr>
      </p:sp>
      <p:sp>
        <p:nvSpPr>
          <p:cNvPr id="30" name="Step 4 card"/>
          <p:cNvSpPr/>
          <p:nvPr/>
        </p:nvSpPr>
        <p:spPr>
          <a:xfrm>
            <a:off x="9052560" y="3017520"/>
            <a:ext cx="2560320" cy="1828800"/>
          </a:xfrm>
          <a:prstGeom prst="roundRect">
            <a:avLst>
              <a:gd name="adj" fmla="val 6000"/>
            </a:avLst>
          </a:prstGeom>
          <a:solidFill>
            <a:schemeClr val="bg2"/>
          </a:solidFill>
          <a:ln/>
        </p:spPr>
      </p:sp>
      <p:sp>
        <p:nvSpPr>
          <p:cNvPr id="31" name="Step 4 circle"/>
          <p:cNvSpPr/>
          <p:nvPr/>
        </p:nvSpPr>
        <p:spPr>
          <a:xfrm>
            <a:off x="9281160" y="3200400"/>
            <a:ext cx="548640" cy="548640"/>
          </a:xfrm>
          <a:prstGeom prst="ellipse">
            <a:avLst/>
          </a:prstGeom>
          <a:solidFill>
            <a:schemeClr val="accent1"/>
          </a:solidFill>
          <a:ln/>
        </p:spPr>
      </p:sp>
      <p:pic>
        <p:nvPicPr>
          <p:cNvPr id="32" name="Step 4 icon" descr="Step 4">    </p:cNvPr>
          <p:cNvPicPr>
            <a:picLocks noChangeAspect="1"/>
          </p:cNvPicPr>
          <p:nvPr/>
        </p:nvPicPr>
        <p:blipFill>
          <a:blip r:embed="rId5"/>
          <a:stretch>
            <a:fillRect/>
          </a:stretch>
        </p:blipFill>
        <p:spPr>
          <a:xfrm>
            <a:off x="9418320" y="3337560"/>
            <a:ext cx="274320" cy="274320"/>
          </a:xfrm>
          <a:prstGeom prst="rect">
            <a:avLst/>
          </a:prstGeom>
        </p:spPr>
      </p:pic>
      <p:sp>
        <p:nvSpPr>
          <p:cNvPr id="33"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4"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5" name="Close box"/>
          <p:cNvSpPr/>
          <p:nvPr/>
        </p:nvSpPr>
        <p:spPr>
          <a:xfrm>
            <a:off x="548640" y="5074920"/>
            <a:ext cx="11064240" cy="1097280"/>
          </a:xfrm>
          <a:prstGeom prst="roundRect">
            <a:avLst>
              <a:gd name="adj" fmla="val 10000"/>
            </a:avLst>
          </a:prstGeom>
          <a:solidFill>
            <a:schemeClr val="tx1"/>
          </a:solidFill>
          <a:ln/>
        </p:spPr>
      </p:sp>
      <p:sp>
        <p:nvSpPr>
          <p:cNvPr id="36"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"Baked this week, not 12 months ago." </a:t>
            </a:r>
            <a:pPr indent="0" marL="0">
              <a:buNone/>
            </a:pPr>
            <a:r>
              <a:rPr lang="en-US" sz="1500" dirty="0">
                <a:solidFill>
                  <a:schemeClr val="bg1"/>
                </a:solidFill>
              </a:rPr>
              <a:t>The short shelf life is the proof it's real food, the same model as Simmer Eats' fresh meals. Next: taste tests vs Barebells, a squad trial with Team Durham, and more interviews.</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Recovery Bar Pitch">
  <a:themeElements>
    <a:clrScheme name="Recovery Bar 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Recovery Bar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recovery bar: pitch</dc:title>
  <dc:subject>PptxGenJS Presentation</dc:subject>
  <dc:creator>Ewan</dc:creator>
  <cp:lastModifiedBy>Ewan</cp:lastModifiedBy>
  <cp:revision>1</cp:revision>
  <dcterms:created xsi:type="dcterms:W3CDTF">2026-10-13T15:15:50Z</dcterms:created>
  <dcterms:modified xsi:type="dcterms:W3CDTF">2026-10-13T15:15:50Z</dcterms:modified>
</cp:coreProperties>
</file>
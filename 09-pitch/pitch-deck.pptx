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~50s. SAY FIRST: 'A fresh, baked protein snack made from real food for athletes who train hard and can't always cook. Baked to order.' I'm Ewan, a Durham Business Management graduate; I train MMA, play football and lift. After two MMA classes back to back I'd eat a full meal and still be hungry. Going from MMA straight to football I had no time to cook. On a same-day weigh-in I had a short window to eat before competing. Every time, the choice was a lab-made protein bar full of powders and sweeteners, 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~55s. 80% of university athletes say their schedule limits their ability to cook (Morassutti 2024). Team-sport athletes hit protein but fall short on carbs (Jenner 2019). Whole-food products were the number one preference among 405 athletes (Carey 2023), and athletes rate everyday food tastier, cheaper and safer; sports foods only win on convenience (Forsyth 2023). Why this needs to happen: the quick options are lab bars full of powders, sweeteners and sugar alcohols, or 'natural' bars full of sugar. Over half of what UK adults eat is ultra-processed and 71% are trying to avoid it (Mintel 2025). After Joe Wicks' ultra-processed food documentary last year, Grenade's sales fell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~55s. I've spoken to 10 athletes and gym-goers, including a pro footballer and a rugby player, plus the Team Durham S&amp;C coach and a nutrition professor. My typical customer is Jack: trains once a day, plays a sport, is trying to eat well and listens to his coach. 8 of 10 train in the gym and are trying to eat better; their deal-breakers are taste and price. Athletes who fit this profile told me they were interested, and I then interviewed them: they want real food and high protein, and they worry about taste and price. The S&amp;C coach told me boxes of Grenade bars given to students went uneaten. I'll test first with coached and combat-sport athletes, because one coach can reach a whole squad. No agreements yet; that's the next step. It's a migraine, not a vitamin: it happens after almost every session. Honestly, nobody has committed yet; the squad trial tests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~55s. Here's the competition and where the gap comes from. Protein bars like Barebells, Grenade and Fulfil have the protein and low sugar, but it comes from milk protein powders, with sweeteners and sugar alcohols like maltitol. 'Natural' bars like Nākd and Veloforte are real food with no sweeteners, but they carry 13 to 20 g of sugar per 50 g, and Nākd's protein is only 7 g. Bio&amp;Me targets clean eating but has only 9 g of soya protein. Protein quark pots are real protein and fairly low in sugar, though some use sweeteners, but they're a pot with a spoon, not a grab-and-go snack after training. I checked 25 UK snacks on four tests and none passed all four. [pause] Why does the gap exist? Shops need bars that last months; real food lasts days, so brands use powders and sweeteners. I design around shelf life: bake to order and sell direct. And it can work: in the US, RXBAR built a real-food bar from a kitchen and sold for $600m, and Perfect Bar proved people buy protein bars from the fridge. Our snack's ticks are the aim; the recipe is still in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~50s. Same ingredients, three formats in testing: soft-baked bar, bites or a slice; the taste test decides. The recipe is still being finalised, so I'm not quoting exact numbers yet. People and squads order weekly; I bake to order, deliver chilled around Durham, eaten within a few days or frozen. Next: on Monday my gym poster and a simple landing page go live; both send people to a two-minute survey and a waitlist, so I'm counting real sign-ups, not compliments. Then a blind taste test against Barebells, aiming for 7 out of 9, then a free squad trial. What I need: kitchen access and coach introductions. SAY LAST: 'A fresh, baked protein snack made from real food for athletes who train hard and can't always cook. Baked to order.'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Durham Venture School · Ewan Hetherington</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Durham Venture School · Ewan Hetherington</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lIns="0" tIns="0" rIns="0" bIns="0" rtlCol="0" anchor="t"/>
          <a:lstStyle/>
          <a:p>
            <a:pPr algn="l" indent="0" marL="0">
              <a:buNone/>
            </a:pPr>
            <a:r>
              <a:rPr lang="en-US" sz="3600" b="1" dirty="0">
                <a:solidFill>
                  <a:schemeClr val="bg1"/>
                </a:solidFill>
              </a:rPr>
              <a:t>A </a:t>
            </a:r>
            <a:pPr algn="l" indent="0" marL="0">
              <a:buNone/>
            </a:pPr>
            <a:r>
              <a:rPr lang="en-US" sz="3600" b="1" dirty="0">
                <a:solidFill>
                  <a:schemeClr val="accent1"/>
                </a:solidFill>
              </a:rPr>
              <a:t>real-food</a:t>
            </a:r>
            <a:pPr algn="l" indent="0" marL="0">
              <a:buNone/>
            </a:pPr>
            <a:r>
              <a:rPr lang="en-US" sz="3600" b="1" dirty="0">
                <a:solidFill>
                  <a:schemeClr val="bg1"/>
                </a:solidFill>
              </a:rPr>
              <a:t> protein snack for people who train hard</a:t>
            </a:r>
            <a:endParaRPr lang="en-US" sz="3600" dirty="0"/>
          </a:p>
        </p:txBody>
      </p:sp>
      <p:sp>
        <p:nvSpPr>
          <p:cNvPr id="3" name="Subtitle"/>
          <p:cNvSpPr txBox="1"/>
          <p:nvPr/>
        </p:nvSpPr>
        <p:spPr>
          <a:xfrm>
            <a:off x="548640" y="2194560"/>
            <a:ext cx="11064240" cy="548640"/>
          </a:xfrm>
          <a:prstGeom prst="rect">
            <a:avLst/>
          </a:prstGeom>
          <a:noFill/>
          <a:ln/>
        </p:spPr>
        <p:txBody>
          <a:bodyPr wrap="square" lIns="0" tIns="0" rIns="0" bIns="0" rtlCol="0" anchor="ctr"/>
          <a:lstStyle/>
          <a:p>
            <a:pPr indent="0" marL="0">
              <a:buNone/>
            </a:pPr>
            <a:r>
              <a:rPr lang="en-US" sz="2400" dirty="0">
                <a:solidFill>
                  <a:schemeClr val="bg1"/>
                </a:solidFill>
              </a:rPr>
              <a:t>Fresh.  Baked to order.  No powders or sweeteners.</a:t>
            </a:r>
            <a:endParaRPr lang="en-US" sz="2400" dirty="0"/>
          </a:p>
        </p:txBody>
      </p:sp>
      <p:sp>
        <p:nvSpPr>
          <p:cNvPr id="4" name="Story"/>
          <p:cNvSpPr txBox="1"/>
          <p:nvPr/>
        </p:nvSpPr>
        <p:spPr>
          <a:xfrm>
            <a:off x="548640" y="3200400"/>
            <a:ext cx="11064240" cy="457200"/>
          </a:xfrm>
          <a:prstGeom prst="rect">
            <a:avLst/>
          </a:prstGeom>
          <a:noFill/>
          <a:ln/>
        </p:spPr>
        <p:txBody>
          <a:bodyPr wrap="square" lIns="0" tIns="0" rIns="0" bIns="0" rtlCol="0" anchor="ctr"/>
          <a:lstStyle/>
          <a:p>
            <a:pPr indent="0" marL="0">
              <a:buNone/>
            </a:pPr>
            <a:r>
              <a:rPr lang="en-US" sz="2000" dirty="0">
                <a:solidFill>
                  <a:schemeClr val="accent3"/>
                </a:solidFill>
              </a:rPr>
              <a:t>Born from my own training: MMA, football, gym.</a:t>
            </a:r>
            <a:endParaRPr lang="en-US" sz="2000" dirty="0"/>
          </a:p>
        </p:txBody>
      </p:sp>
      <p:sp>
        <p:nvSpPr>
          <p:cNvPr id="5" name="Founder"/>
          <p:cNvSpPr txBox="1"/>
          <p:nvPr/>
        </p:nvSpPr>
        <p:spPr>
          <a:xfrm>
            <a:off x="548640" y="5669280"/>
            <a:ext cx="11064240" cy="365760"/>
          </a:xfrm>
          <a:prstGeom prst="rect">
            <a:avLst/>
          </a:prstGeom>
          <a:noFill/>
          <a:ln/>
        </p:spPr>
        <p:txBody>
          <a:bodyPr wrap="square" lIns="0" tIns="0" rIns="0" bIns="0" rtlCol="0" anchor="ctr"/>
          <a:lstStyle/>
          <a:p>
            <a:pPr indent="0" marL="0">
              <a:buNone/>
            </a:pPr>
            <a:r>
              <a:rPr lang="en-US" sz="1400" i="1" dirty="0">
                <a:solidFill>
                  <a:schemeClr val="accent3"/>
                </a:solidFill>
              </a:rPr>
              <a:t>Ewan Hetherington · Durham Business Management graduate</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problem: told to eat real food, no time to make it</a:t>
            </a:r>
            <a:endParaRPr lang="en-US" sz="3200" dirty="0"/>
          </a:p>
        </p:txBody>
      </p:sp>
      <p:sp>
        <p:nvSpPr>
          <p:cNvPr id="3" name="Stat 1"/>
          <p:cNvSpPr txBox="1"/>
          <p:nvPr/>
        </p:nvSpPr>
        <p:spPr>
          <a:xfrm>
            <a:off x="548640" y="1737360"/>
            <a:ext cx="3474720" cy="1188720"/>
          </a:xfrm>
          <a:prstGeom prst="rect">
            <a:avLst/>
          </a:prstGeom>
          <a:noFill/>
          <a:ln/>
        </p:spPr>
        <p:txBody>
          <a:bodyPr wrap="square" lIns="0" tIns="0" rIns="0" bIns="0" rtlCol="0" anchor="ctr"/>
          <a:lstStyle/>
          <a:p>
            <a:pPr indent="0" marL="0">
              <a:buNone/>
            </a:pPr>
            <a:r>
              <a:rPr lang="en-US" sz="7200" b="1" dirty="0">
                <a:solidFill>
                  <a:schemeClr val="accent1"/>
                </a:solidFill>
                <a:latin typeface="Arial" pitchFamily="34" charset="0"/>
                <a:ea typeface="Arial" pitchFamily="34" charset="-122"/>
                <a:cs typeface="Arial" pitchFamily="34" charset="-120"/>
              </a:rPr>
              <a:t>80%</a:t>
            </a:r>
            <a:endParaRPr lang="en-US" sz="7200" dirty="0"/>
          </a:p>
        </p:txBody>
      </p:sp>
      <p:sp>
        <p:nvSpPr>
          <p:cNvPr id="4" name="Stat 1 text"/>
          <p:cNvSpPr txBox="1"/>
          <p:nvPr/>
        </p:nvSpPr>
        <p:spPr>
          <a:xfrm>
            <a:off x="548640" y="2971800"/>
            <a:ext cx="3291840" cy="914400"/>
          </a:xfrm>
          <a:prstGeom prst="rect">
            <a:avLst/>
          </a:prstGeom>
          <a:noFill/>
          <a:ln/>
        </p:spPr>
        <p:txBody>
          <a:bodyPr wrap="square" lIns="0" tIns="0" rIns="0" bIns="0" rtlCol="0" anchor="t"/>
          <a:lstStyle/>
          <a:p>
            <a:pPr indent="0" marL="0">
              <a:buNone/>
            </a:pPr>
            <a:r>
              <a:rPr lang="en-US" sz="2000" dirty="0">
                <a:solidFill>
                  <a:schemeClr val="tx1"/>
                </a:solidFill>
              </a:rPr>
              <a:t>of student athletes say their schedule limits cooking</a:t>
            </a:r>
            <a:endParaRPr lang="en-US" sz="2000" dirty="0"/>
          </a:p>
        </p:txBody>
      </p:sp>
      <p:sp>
        <p:nvSpPr>
          <p:cNvPr id="5" name="Stat 2"/>
          <p:cNvSpPr txBox="1"/>
          <p:nvPr/>
        </p:nvSpPr>
        <p:spPr>
          <a:xfrm>
            <a:off x="4297680" y="1737360"/>
            <a:ext cx="3474720" cy="1188720"/>
          </a:xfrm>
          <a:prstGeom prst="rect">
            <a:avLst/>
          </a:prstGeom>
          <a:noFill/>
          <a:ln/>
        </p:spPr>
        <p:txBody>
          <a:bodyPr wrap="square" lIns="0" tIns="0" rIns="0" bIns="0" rtlCol="0" anchor="ctr"/>
          <a:lstStyle/>
          <a:p>
            <a:pPr indent="0" marL="0">
              <a:buNone/>
            </a:pPr>
            <a:r>
              <a:rPr lang="en-US" sz="7200" b="1" dirty="0">
                <a:solidFill>
                  <a:schemeClr val="accent1"/>
                </a:solidFill>
                <a:latin typeface="Arial" pitchFamily="34" charset="0"/>
                <a:ea typeface="Arial" pitchFamily="34" charset="-122"/>
                <a:cs typeface="Arial" pitchFamily="34" charset="-120"/>
              </a:rPr>
              <a:t>#1</a:t>
            </a:r>
            <a:endParaRPr lang="en-US" sz="7200" dirty="0"/>
          </a:p>
        </p:txBody>
      </p:sp>
      <p:sp>
        <p:nvSpPr>
          <p:cNvPr id="6" name="Stat 2 text"/>
          <p:cNvSpPr txBox="1"/>
          <p:nvPr/>
        </p:nvSpPr>
        <p:spPr>
          <a:xfrm>
            <a:off x="4297680" y="2971800"/>
            <a:ext cx="3291840" cy="914400"/>
          </a:xfrm>
          <a:prstGeom prst="rect">
            <a:avLst/>
          </a:prstGeom>
          <a:noFill/>
          <a:ln/>
        </p:spPr>
        <p:txBody>
          <a:bodyPr wrap="square" lIns="0" tIns="0" rIns="0" bIns="0" rtlCol="0" anchor="t"/>
          <a:lstStyle/>
          <a:p>
            <a:pPr indent="0" marL="0">
              <a:buNone/>
            </a:pPr>
            <a:r>
              <a:rPr lang="en-US" sz="2000" dirty="0">
                <a:solidFill>
                  <a:schemeClr val="tx1"/>
                </a:solidFill>
              </a:rPr>
              <a:t>whole food is athletes' top choice</a:t>
            </a:r>
            <a:endParaRPr lang="en-US" sz="2000" dirty="0"/>
          </a:p>
        </p:txBody>
      </p:sp>
      <p:sp>
        <p:nvSpPr>
          <p:cNvPr id="7" name="Stat 3"/>
          <p:cNvSpPr txBox="1"/>
          <p:nvPr/>
        </p:nvSpPr>
        <p:spPr>
          <a:xfrm>
            <a:off x="8046720" y="1737360"/>
            <a:ext cx="3474720" cy="1188720"/>
          </a:xfrm>
          <a:prstGeom prst="rect">
            <a:avLst/>
          </a:prstGeom>
          <a:noFill/>
          <a:ln/>
        </p:spPr>
        <p:txBody>
          <a:bodyPr wrap="square" lIns="0" tIns="0" rIns="0" bIns="0" rtlCol="0" anchor="ctr"/>
          <a:lstStyle/>
          <a:p>
            <a:pPr indent="0" marL="0">
              <a:buNone/>
            </a:pPr>
            <a:r>
              <a:rPr lang="en-US" sz="7200" b="1" dirty="0">
                <a:solidFill>
                  <a:schemeClr val="accent1"/>
                </a:solidFill>
                <a:latin typeface="Arial" pitchFamily="34" charset="0"/>
                <a:ea typeface="Arial" pitchFamily="34" charset="-122"/>
                <a:cs typeface="Arial" pitchFamily="34" charset="-120"/>
              </a:rPr>
              <a:t>71%</a:t>
            </a:r>
            <a:endParaRPr lang="en-US" sz="7200" dirty="0"/>
          </a:p>
        </p:txBody>
      </p:sp>
      <p:sp>
        <p:nvSpPr>
          <p:cNvPr id="8" name="Stat 3 text"/>
          <p:cNvSpPr txBox="1"/>
          <p:nvPr/>
        </p:nvSpPr>
        <p:spPr>
          <a:xfrm>
            <a:off x="8046720" y="2971800"/>
            <a:ext cx="3291840" cy="914400"/>
          </a:xfrm>
          <a:prstGeom prst="rect">
            <a:avLst/>
          </a:prstGeom>
          <a:noFill/>
          <a:ln/>
        </p:spPr>
        <p:txBody>
          <a:bodyPr wrap="square" lIns="0" tIns="0" rIns="0" bIns="0" rtlCol="0" anchor="t"/>
          <a:lstStyle/>
          <a:p>
            <a:pPr indent="0" marL="0">
              <a:buNone/>
            </a:pPr>
            <a:r>
              <a:rPr lang="en-US" sz="2000" dirty="0">
                <a:solidFill>
                  <a:schemeClr val="tx1"/>
                </a:solidFill>
              </a:rPr>
              <a:t>of UK adults try to avoid ultra-processed food</a:t>
            </a:r>
            <a:endParaRPr lang="en-US" sz="2000" dirty="0"/>
          </a:p>
        </p:txBody>
      </p:sp>
      <p:sp>
        <p:nvSpPr>
          <p:cNvPr id="9" name="Punchline"/>
          <p:cNvSpPr txBox="1"/>
          <p:nvPr/>
        </p:nvSpPr>
        <p:spPr>
          <a:xfrm>
            <a:off x="548640" y="4846320"/>
            <a:ext cx="11064240" cy="548640"/>
          </a:xfrm>
          <a:prstGeom prst="rect">
            <a:avLst/>
          </a:prstGeom>
          <a:noFill/>
          <a:ln/>
        </p:spPr>
        <p:txBody>
          <a:bodyPr wrap="square" lIns="0" tIns="0" rIns="0" bIns="0" rtlCol="0" anchor="ctr"/>
          <a:lstStyle/>
          <a:p>
            <a:pPr indent="0" marL="0">
              <a:buNone/>
            </a:pPr>
            <a:r>
              <a:rPr lang="en-US" sz="2400" b="1" dirty="0">
                <a:solidFill>
                  <a:schemeClr val="tx1"/>
                </a:solidFill>
              </a:rPr>
              <a:t>Quick options today: lab bars or sugary bars.</a:t>
            </a:r>
            <a:endParaRPr lang="en-US" sz="2400" dirty="0"/>
          </a:p>
        </p:txBody>
      </p:sp>
      <p:sp>
        <p:nvSpPr>
          <p:cNvPr id="10" name="Sources"/>
          <p:cNvSpPr txBox="1"/>
          <p:nvPr/>
        </p:nvSpPr>
        <p:spPr>
          <a:xfrm>
            <a:off x="548640" y="5852160"/>
            <a:ext cx="11064240" cy="274320"/>
          </a:xfrm>
          <a:prstGeom prst="rect">
            <a:avLst/>
          </a:prstGeom>
          <a:noFill/>
          <a:ln/>
        </p:spPr>
        <p:txBody>
          <a:bodyPr wrap="square" lIns="0" tIns="0" rIns="0" bIns="0" rtlCol="0" anchor="ctr"/>
          <a:lstStyle/>
          <a:p>
            <a:pPr indent="0" marL="0">
              <a:buNone/>
            </a:pPr>
            <a:r>
              <a:rPr lang="en-US" sz="1000" i="1" dirty="0">
                <a:solidFill>
                  <a:schemeClr val="accent3"/>
                </a:solidFill>
              </a:rPr>
              <a:t>Morassutti 2024 · Carey 2023 · Mintel 2025</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Who it's for</a:t>
            </a:r>
            <a:endParaRPr lang="en-US" sz="3200" dirty="0"/>
          </a:p>
        </p:txBody>
      </p:sp>
      <p:sp>
        <p:nvSpPr>
          <p:cNvPr id="3" name="Card 1"/>
          <p:cNvSpPr/>
          <p:nvPr/>
        </p:nvSpPr>
        <p:spPr>
          <a:xfrm>
            <a:off x="548640" y="1463040"/>
            <a:ext cx="3474720" cy="3291840"/>
          </a:xfrm>
          <a:prstGeom prst="roundRect">
            <a:avLst>
              <a:gd name="adj" fmla="val 3333"/>
            </a:avLst>
          </a:prstGeom>
          <a:solidFill>
            <a:schemeClr val="bg2"/>
          </a:solidFill>
          <a:ln/>
        </p:spPr>
      </p:sp>
      <p:sp>
        <p:nvSpPr>
          <p:cNvPr id="4" name="Card 1 title"/>
          <p:cNvSpPr txBox="1"/>
          <p:nvPr/>
        </p:nvSpPr>
        <p:spPr>
          <a:xfrm>
            <a:off x="822960" y="1691640"/>
            <a:ext cx="2926080" cy="548640"/>
          </a:xfrm>
          <a:prstGeom prst="rect">
            <a:avLst/>
          </a:prstGeom>
          <a:noFill/>
          <a:ln/>
        </p:spPr>
        <p:txBody>
          <a:bodyPr wrap="square" lIns="0" tIns="0" rIns="0" bIns="0" rtlCol="0" anchor="ctr"/>
          <a:lstStyle/>
          <a:p>
            <a:pPr indent="0" marL="0">
              <a:buNone/>
            </a:pPr>
            <a:r>
              <a:rPr lang="en-US" sz="2400" b="1" dirty="0">
                <a:solidFill>
                  <a:schemeClr val="tx1"/>
                </a:solidFill>
              </a:rPr>
              <a:t>Customer: Jack</a:t>
            </a:r>
            <a:endParaRPr lang="en-US" sz="2400" dirty="0"/>
          </a:p>
        </p:txBody>
      </p:sp>
      <p:sp>
        <p:nvSpPr>
          <p:cNvPr id="5" name="Card 1 text"/>
          <p:cNvSpPr txBox="1"/>
          <p:nvPr/>
        </p:nvSpPr>
        <p:spPr>
          <a:xfrm>
            <a:off x="822960" y="2377440"/>
            <a:ext cx="2926080" cy="2194560"/>
          </a:xfrm>
          <a:prstGeom prst="rect">
            <a:avLst/>
          </a:prstGeom>
          <a:noFill/>
          <a:ln/>
        </p:spPr>
        <p:txBody>
          <a:bodyPr wrap="square" lIns="0" tIns="0" rIns="0" bIns="0" rtlCol="0" anchor="t"/>
          <a:lstStyle/>
          <a:p>
            <a:pPr indent="0" marL="0">
              <a:buNone/>
            </a:pPr>
            <a:r>
              <a:rPr lang="en-US" sz="2200" dirty="0">
                <a:solidFill>
                  <a:schemeClr val="tx1"/>
                </a:solidFill>
              </a:rPr>
              <a:t>Trains daily.</a:t>
            </a:r>
            <a:endParaRPr lang="en-US" sz="2200" dirty="0"/>
          </a:p>
          <a:p>
            <a:pPr indent="0" marL="0">
              <a:buNone/>
            </a:pPr>
            <a:r>
              <a:rPr lang="en-US" sz="2200" dirty="0">
                <a:solidFill>
                  <a:schemeClr val="tx1"/>
                </a:solidFill>
              </a:rPr>
              <a:t>Trying to eat well.</a:t>
            </a:r>
            <a:endParaRPr lang="en-US" sz="2200" dirty="0"/>
          </a:p>
          <a:p>
            <a:pPr indent="0" marL="0">
              <a:buNone/>
            </a:pPr>
            <a:r>
              <a:rPr lang="en-US" sz="2200" dirty="0">
                <a:solidFill>
                  <a:schemeClr val="tx1"/>
                </a:solidFill>
              </a:rPr>
              <a:t>Listens to his coach.</a:t>
            </a:r>
            <a:endParaRPr lang="en-US" sz="2200" dirty="0"/>
          </a:p>
        </p:txBody>
      </p:sp>
      <p:sp>
        <p:nvSpPr>
          <p:cNvPr id="6" name="Card 2"/>
          <p:cNvSpPr/>
          <p:nvPr/>
        </p:nvSpPr>
        <p:spPr>
          <a:xfrm>
            <a:off x="4297680" y="1463040"/>
            <a:ext cx="3474720" cy="3291840"/>
          </a:xfrm>
          <a:prstGeom prst="roundRect">
            <a:avLst>
              <a:gd name="adj" fmla="val 3333"/>
            </a:avLst>
          </a:prstGeom>
          <a:solidFill>
            <a:schemeClr val="accent4"/>
          </a:solidFill>
          <a:ln/>
        </p:spPr>
      </p:sp>
      <p:sp>
        <p:nvSpPr>
          <p:cNvPr id="7" name="Card 2 title"/>
          <p:cNvSpPr txBox="1"/>
          <p:nvPr/>
        </p:nvSpPr>
        <p:spPr>
          <a:xfrm>
            <a:off x="4572000" y="1691640"/>
            <a:ext cx="2926080" cy="548640"/>
          </a:xfrm>
          <a:prstGeom prst="rect">
            <a:avLst/>
          </a:prstGeom>
          <a:noFill/>
          <a:ln/>
        </p:spPr>
        <p:txBody>
          <a:bodyPr wrap="square" lIns="0" tIns="0" rIns="0" bIns="0" rtlCol="0" anchor="ctr"/>
          <a:lstStyle/>
          <a:p>
            <a:pPr indent="0" marL="0">
              <a:buNone/>
            </a:pPr>
            <a:r>
              <a:rPr lang="en-US" sz="2400" b="1" dirty="0">
                <a:solidFill>
                  <a:schemeClr val="accent5"/>
                </a:solidFill>
              </a:rPr>
              <a:t>Early interest</a:t>
            </a:r>
            <a:endParaRPr lang="en-US" sz="2400" dirty="0"/>
          </a:p>
        </p:txBody>
      </p:sp>
      <p:sp>
        <p:nvSpPr>
          <p:cNvPr id="8" name="Card 2 text"/>
          <p:cNvSpPr txBox="1"/>
          <p:nvPr/>
        </p:nvSpPr>
        <p:spPr>
          <a:xfrm>
            <a:off x="4572000" y="2377440"/>
            <a:ext cx="2926080" cy="2194560"/>
          </a:xfrm>
          <a:prstGeom prst="rect">
            <a:avLst/>
          </a:prstGeom>
          <a:noFill/>
          <a:ln/>
        </p:spPr>
        <p:txBody>
          <a:bodyPr wrap="square" lIns="0" tIns="0" rIns="0" bIns="0" rtlCol="0" anchor="t"/>
          <a:lstStyle/>
          <a:p>
            <a:pPr indent="0" marL="0">
              <a:buNone/>
            </a:pPr>
            <a:r>
              <a:rPr lang="en-US" sz="2200" dirty="0">
                <a:solidFill>
                  <a:schemeClr val="tx1"/>
                </a:solidFill>
              </a:rPr>
              <a:t>Athletes who fit this profile</a:t>
            </a:r>
            <a:endParaRPr lang="en-US" sz="2200" dirty="0"/>
          </a:p>
          <a:p>
            <a:pPr indent="0" marL="0">
              <a:buNone/>
            </a:pPr>
            <a:r>
              <a:rPr lang="en-US" sz="2200" dirty="0">
                <a:solidFill>
                  <a:schemeClr val="tx1"/>
                </a:solidFill>
              </a:rPr>
              <a:t>said they were interested.</a:t>
            </a:r>
            <a:endParaRPr lang="en-US" sz="2200" dirty="0"/>
          </a:p>
        </p:txBody>
      </p:sp>
      <p:sp>
        <p:nvSpPr>
          <p:cNvPr id="9" name="Card 3"/>
          <p:cNvSpPr/>
          <p:nvPr/>
        </p:nvSpPr>
        <p:spPr>
          <a:xfrm>
            <a:off x="8046720" y="1463040"/>
            <a:ext cx="3474720" cy="3291840"/>
          </a:xfrm>
          <a:prstGeom prst="roundRect">
            <a:avLst>
              <a:gd name="adj" fmla="val 3333"/>
            </a:avLst>
          </a:prstGeom>
          <a:solidFill>
            <a:schemeClr val="bg2"/>
          </a:solidFill>
          <a:ln/>
        </p:spPr>
      </p:sp>
      <p:sp>
        <p:nvSpPr>
          <p:cNvPr id="10" name="Card 3 title"/>
          <p:cNvSpPr txBox="1"/>
          <p:nvPr/>
        </p:nvSpPr>
        <p:spPr>
          <a:xfrm>
            <a:off x="8321040" y="1691640"/>
            <a:ext cx="2926080" cy="548640"/>
          </a:xfrm>
          <a:prstGeom prst="rect">
            <a:avLst/>
          </a:prstGeom>
          <a:noFill/>
          <a:ln/>
        </p:spPr>
        <p:txBody>
          <a:bodyPr wrap="square" lIns="0" tIns="0" rIns="0" bIns="0" rtlCol="0" anchor="ctr"/>
          <a:lstStyle/>
          <a:p>
            <a:pPr indent="0" marL="0">
              <a:buNone/>
            </a:pPr>
            <a:r>
              <a:rPr lang="en-US" sz="2400" b="1" dirty="0">
                <a:solidFill>
                  <a:schemeClr val="tx1"/>
                </a:solidFill>
              </a:rPr>
              <a:t>Then interviewed</a:t>
            </a:r>
            <a:endParaRPr lang="en-US" sz="2400" dirty="0"/>
          </a:p>
        </p:txBody>
      </p:sp>
      <p:sp>
        <p:nvSpPr>
          <p:cNvPr id="11" name="Card 3 text"/>
          <p:cNvSpPr txBox="1"/>
          <p:nvPr/>
        </p:nvSpPr>
        <p:spPr>
          <a:xfrm>
            <a:off x="8321040" y="2377440"/>
            <a:ext cx="2926080" cy="2194560"/>
          </a:xfrm>
          <a:prstGeom prst="rect">
            <a:avLst/>
          </a:prstGeom>
          <a:noFill/>
          <a:ln/>
        </p:spPr>
        <p:txBody>
          <a:bodyPr wrap="square" lIns="0" tIns="0" rIns="0" bIns="0" rtlCol="0" anchor="t"/>
          <a:lstStyle/>
          <a:p>
            <a:pPr indent="0" marL="0">
              <a:buNone/>
            </a:pPr>
            <a:r>
              <a:rPr lang="en-US" sz="2200" dirty="0">
                <a:solidFill>
                  <a:schemeClr val="tx1"/>
                </a:solidFill>
              </a:rPr>
              <a:t>They shared their views:</a:t>
            </a:r>
            <a:endParaRPr lang="en-US" sz="2200" dirty="0"/>
          </a:p>
          <a:p>
            <a:pPr indent="0" marL="0">
              <a:buNone/>
            </a:pPr>
            <a:r>
              <a:rPr lang="en-US" sz="2200" dirty="0">
                <a:solidFill>
                  <a:schemeClr val="tx1"/>
                </a:solidFill>
              </a:rPr>
              <a:t>want real food, high protein;</a:t>
            </a:r>
            <a:endParaRPr lang="en-US" sz="2200" dirty="0"/>
          </a:p>
          <a:p>
            <a:pPr indent="0" marL="0">
              <a:buNone/>
            </a:pPr>
            <a:r>
              <a:rPr lang="en-US" sz="2200" dirty="0">
                <a:solidFill>
                  <a:schemeClr val="tx1"/>
                </a:solidFill>
              </a:rPr>
              <a:t>worried about taste &amp; price.</a:t>
            </a:r>
            <a:endParaRPr lang="en-US" sz="2200" dirty="0"/>
          </a:p>
        </p:txBody>
      </p:sp>
      <p:sp>
        <p:nvSpPr>
          <p:cNvPr id="12" name="Evidence"/>
          <p:cNvSpPr txBox="1"/>
          <p:nvPr/>
        </p:nvSpPr>
        <p:spPr>
          <a:xfrm>
            <a:off x="548640" y="5120640"/>
            <a:ext cx="11064240" cy="457200"/>
          </a:xfrm>
          <a:prstGeom prst="rect">
            <a:avLst/>
          </a:prstGeom>
          <a:noFill/>
          <a:ln/>
        </p:spPr>
        <p:txBody>
          <a:bodyPr wrap="square" lIns="0" tIns="0" rIns="0" bIns="0" rtlCol="0" anchor="ctr"/>
          <a:lstStyle/>
          <a:p>
            <a:pPr indent="0" marL="0">
              <a:buNone/>
            </a:pPr>
            <a:r>
              <a:rPr lang="en-US" sz="1800" dirty="0">
                <a:solidFill>
                  <a:schemeClr val="accent3"/>
                </a:solidFill>
              </a:rPr>
              <a:t>10 athlete interviews + an S&amp;C coach + a nutrition professor. First test group: coached and combat-sport athletes.</a:t>
            </a:r>
            <a:endParaRPr lang="en-US" sz="18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gap: nobody does all of it</a:t>
            </a:r>
            <a:endParaRPr lang="en-US" sz="3200" dirty="0"/>
          </a:p>
        </p:txBody>
      </p:sp>
      <p:graphicFrame>
        <p:nvGraphicFramePr>
          <p:cNvPr id="5" name="Competitor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91840"/>
                <a:gridCol w="1554480"/>
                <a:gridCol w="1554480"/>
                <a:gridCol w="1554480"/>
                <a:gridCol w="1554480"/>
                <a:gridCol w="1554480"/>
              </a:tblGrid>
              <a:tr h="566928">
                <a:tc>
                  <a:txBody>
                    <a:bodyPr/>
                    <a:lstStyle/>
                    <a:p>
                      <a:pPr algn="l" indent="0" marL="0">
                        <a:buNone/>
                      </a:pPr>
                      <a:endParaRPr lang="en-US" sz="16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High protein</a:t>
                      </a:r>
                      <a:endParaRPr lang="en-US" sz="16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Real-food protein</a:t>
                      </a:r>
                      <a:endParaRPr lang="en-US" sz="16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No sweeteners</a:t>
                      </a:r>
                      <a:endParaRPr lang="en-US" sz="16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Low sugar</a:t>
                      </a:r>
                      <a:endParaRPr lang="en-US" sz="16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Grab-and-go</a:t>
                      </a:r>
                      <a:endParaRPr lang="en-US" sz="16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r>
              <a:tr h="566928">
                <a:tc>
                  <a:txBody>
                    <a:bodyPr/>
                    <a:lstStyle/>
                    <a:p>
                      <a:pPr algn="l" indent="0" marL="0">
                        <a:buNone/>
                      </a:pPr>
                      <a:r>
                        <a:rPr lang="en-US" sz="1600" b="1" dirty="0">
                          <a:solidFill>
                            <a:schemeClr val="tx1"/>
                          </a:solidFill>
                        </a:rPr>
                        <a:t>Barebells · Grenade · Fulfil</a:t>
                      </a:r>
                      <a:endParaRPr lang="en-US" sz="16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1"/>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1"/>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566928">
                <a:tc>
                  <a:txBody>
                    <a:bodyPr/>
                    <a:lstStyle/>
                    <a:p>
                      <a:pPr algn="l" indent="0" marL="0">
                        <a:buNone/>
                      </a:pPr>
                      <a:r>
                        <a:rPr lang="en-US" sz="1600" b="1" dirty="0">
                          <a:solidFill>
                            <a:schemeClr val="tx1"/>
                          </a:solidFill>
                        </a:rPr>
                        <a:t>Nākd · Veloforte</a:t>
                      </a:r>
                      <a:endParaRPr lang="en-US" sz="16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Some</a:t>
                      </a:r>
                      <a:endParaRPr lang="en-US" sz="16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1"/>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566928">
                <a:tc>
                  <a:txBody>
                    <a:bodyPr/>
                    <a:lstStyle/>
                    <a:p>
                      <a:pPr algn="l" indent="0" marL="0">
                        <a:buNone/>
                      </a:pPr>
                      <a:r>
                        <a:rPr lang="en-US" sz="1600" b="1" dirty="0">
                          <a:solidFill>
                            <a:schemeClr val="tx1"/>
                          </a:solidFill>
                        </a:rPr>
                        <a:t>Bio&amp;Me</a:t>
                      </a:r>
                      <a:endParaRPr lang="en-US" sz="16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1"/>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1"/>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1"/>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566928">
                <a:tc>
                  <a:txBody>
                    <a:bodyPr/>
                    <a:lstStyle/>
                    <a:p>
                      <a:pPr algn="l" indent="0" marL="0">
                        <a:buNone/>
                      </a:pPr>
                      <a:r>
                        <a:rPr lang="en-US" sz="1600" b="1" dirty="0">
                          <a:solidFill>
                            <a:schemeClr val="tx1"/>
                          </a:solidFill>
                        </a:rPr>
                        <a:t>Protein quark pots</a:t>
                      </a:r>
                      <a:endParaRPr lang="en-US" sz="16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rPr>
                        <a:t>Some</a:t>
                      </a:r>
                      <a:endParaRPr lang="en-US" sz="16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algn="ctr" indent="0" marL="0">
                        <a:buNone/>
                      </a:pPr>
                      <a:r>
                        <a:rPr lang="en-US" sz="2400" dirty="0">
                          <a:solidFill>
                            <a:schemeClr val="accent1"/>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566928">
                <a:tc>
                  <a:txBody>
                    <a:bodyPr/>
                    <a:lstStyle/>
                    <a:p>
                      <a:pPr algn="l" indent="0" marL="0">
                        <a:buNone/>
                      </a:pPr>
                      <a:r>
                        <a:rPr lang="en-US" sz="1600" b="1" dirty="0">
                          <a:solidFill>
                            <a:schemeClr val="tx1"/>
                          </a:solidFill>
                        </a:rPr>
                        <a:t>Our snack (aim)</a:t>
                      </a:r>
                      <a:endParaRPr lang="en-US" sz="16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4"/>
                    </a:solidFill>
                  </a:tcPr>
                </a:tc>
                <a:tc>
                  <a:txBody>
                    <a:bodyPr/>
                    <a:lstStyle/>
                    <a:p>
                      <a:pPr algn="ctr" indent="0" marL="0">
                        <a:buNone/>
                      </a:pPr>
                      <a:r>
                        <a:rPr lang="en-US" sz="2400" b="1"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4"/>
                    </a:solidFill>
                  </a:tcPr>
                </a:tc>
                <a:tc>
                  <a:txBody>
                    <a:bodyPr/>
                    <a:lstStyle/>
                    <a:p>
                      <a:pPr algn="ctr" indent="0" marL="0">
                        <a:buNone/>
                      </a:pPr>
                      <a:r>
                        <a:rPr lang="en-US" sz="2400" b="1"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4"/>
                    </a:solidFill>
                  </a:tcPr>
                </a:tc>
                <a:tc>
                  <a:txBody>
                    <a:bodyPr/>
                    <a:lstStyle/>
                    <a:p>
                      <a:pPr algn="ctr" indent="0" marL="0">
                        <a:buNone/>
                      </a:pPr>
                      <a:r>
                        <a:rPr lang="en-US" sz="2400" b="1"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4"/>
                    </a:solidFill>
                  </a:tcPr>
                </a:tc>
                <a:tc>
                  <a:txBody>
                    <a:bodyPr/>
                    <a:lstStyle/>
                    <a:p>
                      <a:pPr algn="ctr" indent="0" marL="0">
                        <a:buNone/>
                      </a:pPr>
                      <a:r>
                        <a:rPr lang="en-US" sz="2400" b="1"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4"/>
                    </a:solidFill>
                  </a:tcPr>
                </a:tc>
                <a:tc>
                  <a:txBody>
                    <a:bodyPr/>
                    <a:lstStyle/>
                    <a:p>
                      <a:pPr algn="ctr" indent="0" marL="0">
                        <a:buNone/>
                      </a:pPr>
                      <a:r>
                        <a:rPr lang="en-US" sz="2400" b="1" dirty="0">
                          <a:solidFill>
                            <a:schemeClr val="accent2"/>
                          </a:solidFill>
                        </a:rPr>
                        <a:t>✓</a:t>
                      </a:r>
                      <a:endParaRPr lang="en-US" sz="2400" dirty="0"/>
                    </a:p>
                  </a:txBody>
                  <a:tcPr marL="73152" marR="73152" marT="73152" marB="73152"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4"/>
                    </a:solidFill>
                  </a:tcPr>
                </a:tc>
              </a:tr>
            </a:tbl>
          </a:graphicData>
        </a:graphic>
      </p:graphicFrame>
      <p:sp>
        <p:nvSpPr>
          <p:cNvPr id="4" name="Gap line"/>
          <p:cNvSpPr txBox="1"/>
          <p:nvPr/>
        </p:nvSpPr>
        <p:spPr>
          <a:xfrm>
            <a:off x="548640" y="4983480"/>
            <a:ext cx="11064240" cy="731520"/>
          </a:xfrm>
          <a:prstGeom prst="rect">
            <a:avLst/>
          </a:prstGeom>
          <a:noFill/>
          <a:ln/>
        </p:spPr>
        <p:txBody>
          <a:bodyPr wrap="square" lIns="0" tIns="0" rIns="0" bIns="0" rtlCol="0" anchor="ctr"/>
          <a:lstStyle/>
          <a:p>
            <a:pPr indent="0" marL="0">
              <a:buNone/>
            </a:pPr>
            <a:r>
              <a:rPr lang="en-US" sz="1800" b="1" dirty="0">
                <a:solidFill>
                  <a:schemeClr val="tx1"/>
                </a:solidFill>
              </a:rPr>
              <a:t>25 UK snacks checked: none pass all four tests.  Why? Shops need months of shelf life; real food lasts days.</a:t>
            </a:r>
            <a:endParaRPr lang="en-US" sz="1800" dirty="0"/>
          </a:p>
        </p:txBody>
      </p:sp>
      <p:sp>
        <p:nvSpPr>
          <p:cNvPr id="5" name="Sources"/>
          <p:cNvSpPr txBox="1"/>
          <p:nvPr/>
        </p:nvSpPr>
        <p:spPr>
          <a:xfrm>
            <a:off x="548640" y="5806440"/>
            <a:ext cx="11064240" cy="274320"/>
          </a:xfrm>
          <a:prstGeom prst="rect">
            <a:avLst/>
          </a:prstGeom>
          <a:noFill/>
          <a:ln/>
        </p:spPr>
        <p:txBody>
          <a:bodyPr wrap="square" lIns="0" tIns="0" rIns="0" bIns="0" rtlCol="0" anchor="ctr"/>
          <a:lstStyle/>
          <a:p>
            <a:pPr indent="0" marL="0">
              <a:buNone/>
            </a:pPr>
            <a:r>
              <a:rPr lang="en-US" sz="1000" i="1" dirty="0">
                <a:solidFill>
                  <a:schemeClr val="accent3"/>
                </a:solidFill>
              </a:rPr>
              <a:t>Brand and retailer pages, Oct 2026. Protein ≥10 g; low sugar ≤5 g per 50 g.</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How it works and what's next</a:t>
            </a:r>
            <a:endParaRPr lang="en-US" sz="3200" dirty="0"/>
          </a:p>
        </p:txBody>
      </p:sp>
      <p:sp>
        <p:nvSpPr>
          <p:cNvPr id="3" name="Flow"/>
          <p:cNvSpPr txBox="1"/>
          <p:nvPr/>
        </p:nvSpPr>
        <p:spPr>
          <a:xfrm>
            <a:off x="548640" y="1554480"/>
            <a:ext cx="11064240" cy="640080"/>
          </a:xfrm>
          <a:prstGeom prst="rect">
            <a:avLst/>
          </a:prstGeom>
          <a:noFill/>
          <a:ln/>
        </p:spPr>
        <p:txBody>
          <a:bodyPr wrap="square" lIns="0" tIns="0" rIns="0" bIns="0" rtlCol="0" anchor="ctr"/>
          <a:lstStyle/>
          <a:p>
            <a:pPr indent="0" marL="0">
              <a:buNone/>
            </a:pPr>
            <a:r>
              <a:rPr lang="en-US" sz="2800" b="1" dirty="0">
                <a:solidFill>
                  <a:schemeClr val="tx1"/>
                </a:solidFill>
              </a:rPr>
              <a:t>Order weekly  →  bake to order  →  deliver chilled</a:t>
            </a:r>
            <a:endParaRPr lang="en-US" sz="2800" dirty="0"/>
          </a:p>
        </p:txBody>
      </p:sp>
      <p:sp>
        <p:nvSpPr>
          <p:cNvPr id="4" name="Spec"/>
          <p:cNvSpPr txBox="1"/>
          <p:nvPr/>
        </p:nvSpPr>
        <p:spPr>
          <a:xfrm>
            <a:off x="548640" y="2286000"/>
            <a:ext cx="11064240" cy="457200"/>
          </a:xfrm>
          <a:prstGeom prst="rect">
            <a:avLst/>
          </a:prstGeom>
          <a:noFill/>
          <a:ln/>
        </p:spPr>
        <p:txBody>
          <a:bodyPr wrap="square" lIns="0" tIns="0" rIns="0" bIns="0" rtlCol="0" anchor="ctr"/>
          <a:lstStyle/>
          <a:p>
            <a:pPr indent="0" marL="0">
              <a:buNone/>
            </a:pPr>
            <a:r>
              <a:rPr lang="en-US" sz="2000" dirty="0">
                <a:solidFill>
                  <a:schemeClr val="accent3"/>
                </a:solidFill>
              </a:rPr>
              <a:t>Recipe still in testing. Aim: high protein, low sugar, no powders or sweeteners.</a:t>
            </a:r>
            <a:endParaRPr lang="en-US" sz="2000" dirty="0"/>
          </a:p>
        </p:txBody>
      </p:sp>
      <p:sp>
        <p:nvSpPr>
          <p:cNvPr id="5" name="Next label"/>
          <p:cNvSpPr txBox="1"/>
          <p:nvPr/>
        </p:nvSpPr>
        <p:spPr>
          <a:xfrm>
            <a:off x="548640" y="3200400"/>
            <a:ext cx="1645920" cy="640080"/>
          </a:xfrm>
          <a:prstGeom prst="rect">
            <a:avLst/>
          </a:prstGeom>
          <a:noFill/>
          <a:ln/>
        </p:spPr>
        <p:txBody>
          <a:bodyPr wrap="square" lIns="0" tIns="0" rIns="0" bIns="0" rtlCol="0" anchor="ctr"/>
          <a:lstStyle/>
          <a:p>
            <a:pPr indent="0" marL="0">
              <a:buNone/>
            </a:pPr>
            <a:r>
              <a:rPr lang="en-US" sz="2600" b="1" dirty="0">
                <a:solidFill>
                  <a:schemeClr val="accent1"/>
                </a:solidFill>
              </a:rPr>
              <a:t>Next</a:t>
            </a:r>
            <a:endParaRPr lang="en-US" sz="2600" dirty="0"/>
          </a:p>
        </p:txBody>
      </p:sp>
      <p:sp>
        <p:nvSpPr>
          <p:cNvPr id="6" name="Next text"/>
          <p:cNvSpPr txBox="1"/>
          <p:nvPr/>
        </p:nvSpPr>
        <p:spPr>
          <a:xfrm>
            <a:off x="2286000" y="3200400"/>
            <a:ext cx="9326880" cy="640080"/>
          </a:xfrm>
          <a:prstGeom prst="rect">
            <a:avLst/>
          </a:prstGeom>
          <a:noFill/>
          <a:ln/>
        </p:spPr>
        <p:txBody>
          <a:bodyPr wrap="square" lIns="0" tIns="0" rIns="0" bIns="0" rtlCol="0" anchor="ctr"/>
          <a:lstStyle/>
          <a:p>
            <a:pPr indent="0" marL="0">
              <a:buNone/>
            </a:pPr>
            <a:r>
              <a:rPr lang="en-US" sz="2400" dirty="0">
                <a:solidFill>
                  <a:schemeClr val="tx1"/>
                </a:solidFill>
              </a:rPr>
              <a:t>Poster + landing page (Monday)  →  taste test  →  squad trial</a:t>
            </a:r>
            <a:endParaRPr lang="en-US" sz="2400" dirty="0"/>
          </a:p>
        </p:txBody>
      </p:sp>
      <p:sp>
        <p:nvSpPr>
          <p:cNvPr id="7" name="Need label"/>
          <p:cNvSpPr txBox="1"/>
          <p:nvPr/>
        </p:nvSpPr>
        <p:spPr>
          <a:xfrm>
            <a:off x="548640" y="4114800"/>
            <a:ext cx="1645920" cy="640080"/>
          </a:xfrm>
          <a:prstGeom prst="rect">
            <a:avLst/>
          </a:prstGeom>
          <a:noFill/>
          <a:ln/>
        </p:spPr>
        <p:txBody>
          <a:bodyPr wrap="square" lIns="0" tIns="0" rIns="0" bIns="0" rtlCol="0" anchor="ctr"/>
          <a:lstStyle/>
          <a:p>
            <a:pPr indent="0" marL="0">
              <a:buNone/>
            </a:pPr>
            <a:r>
              <a:rPr lang="en-US" sz="2600" b="1" dirty="0">
                <a:solidFill>
                  <a:schemeClr val="accent1"/>
                </a:solidFill>
              </a:rPr>
              <a:t>Need</a:t>
            </a:r>
            <a:endParaRPr lang="en-US" sz="2600" dirty="0"/>
          </a:p>
        </p:txBody>
      </p:sp>
      <p:sp>
        <p:nvSpPr>
          <p:cNvPr id="8" name="Need text"/>
          <p:cNvSpPr txBox="1"/>
          <p:nvPr/>
        </p:nvSpPr>
        <p:spPr>
          <a:xfrm>
            <a:off x="2286000" y="4114800"/>
            <a:ext cx="9326880" cy="640080"/>
          </a:xfrm>
          <a:prstGeom prst="rect">
            <a:avLst/>
          </a:prstGeom>
          <a:noFill/>
          <a:ln/>
        </p:spPr>
        <p:txBody>
          <a:bodyPr wrap="square" lIns="0" tIns="0" rIns="0" bIns="0" rtlCol="0" anchor="ctr"/>
          <a:lstStyle/>
          <a:p>
            <a:pPr indent="0" marL="0">
              <a:buNone/>
            </a:pPr>
            <a:r>
              <a:rPr lang="en-US" sz="2400" dirty="0">
                <a:solidFill>
                  <a:schemeClr val="tx1"/>
                </a:solidFill>
              </a:rPr>
              <a:t>Kitchen access + coach introductions</a:t>
            </a:r>
            <a:endParaRPr lang="en-US" sz="2400" dirty="0"/>
          </a:p>
        </p:txBody>
      </p:sp>
      <p:sp>
        <p:nvSpPr>
          <p:cNvPr id="9" name="Close"/>
          <p:cNvSpPr txBox="1"/>
          <p:nvPr/>
        </p:nvSpPr>
        <p:spPr>
          <a:xfrm>
            <a:off x="548640" y="5212080"/>
            <a:ext cx="11064240" cy="548640"/>
          </a:xfrm>
          <a:prstGeom prst="rect">
            <a:avLst/>
          </a:prstGeom>
          <a:noFill/>
          <a:ln/>
        </p:spPr>
        <p:txBody>
          <a:bodyPr wrap="square" lIns="0" tIns="0" rIns="0" bIns="0" rtlCol="0" anchor="ctr"/>
          <a:lstStyle/>
          <a:p>
            <a:pPr indent="0" marL="0">
              <a:buNone/>
            </a:pPr>
            <a:r>
              <a:rPr lang="en-US" sz="2400" b="1" i="1" dirty="0">
                <a:solidFill>
                  <a:schemeClr val="tx1"/>
                </a:solidFill>
              </a:rPr>
              <a:t>Real food for people who train hard.</a:t>
            </a:r>
            <a:endParaRPr lang="en-US" sz="2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Pitch">
  <a:themeElements>
    <a:clrScheme name="Pitch">
      <a:dk1>
        <a:srgbClr val="1C1B19"/>
      </a:dk1>
      <a:lt1>
        <a:srgbClr val="FFFFFF"/>
      </a:lt1>
      <a:dk2>
        <a:srgbClr val="3A3835"/>
      </a:dk2>
      <a:lt2>
        <a:srgbClr val="F3F4F6"/>
      </a:lt2>
      <a:accent1>
        <a:srgbClr val="C2410C"/>
      </a:accent1>
      <a:accent2>
        <a:srgbClr val="15803D"/>
      </a:accent2>
      <a:accent3>
        <a:srgbClr val="6B7280"/>
      </a:accent3>
      <a:accent4>
        <a:srgbClr val="FDE7DC"/>
      </a:accent4>
      <a:accent5>
        <a:srgbClr val="7C2D12"/>
      </a:accent5>
      <a:accent6>
        <a:srgbClr val="E5E7EB"/>
      </a:accent6>
      <a:hlink>
        <a:srgbClr val="C2410C"/>
      </a:hlink>
      <a:folHlink>
        <a:srgbClr val="7C2D12"/>
      </a:folHlink>
    </a:clrScheme>
    <a:fontScheme name="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Real-food protein snack: pitch</dc:title>
  <dc:subject>PptxGenJS Presentation</dc:subject>
  <dc:creator>Ewan</dc:creator>
  <cp:lastModifiedBy>Ewan</cp:lastModifiedBy>
  <cp:revision>1</cp:revision>
  <dcterms:created xsi:type="dcterms:W3CDTF">2026-10-15T17:40:17Z</dcterms:created>
  <dcterms:modified xsi:type="dcterms:W3CDTF">2026-10-15T17:40:17Z</dcterms:modified>
</cp:coreProperties>
</file>